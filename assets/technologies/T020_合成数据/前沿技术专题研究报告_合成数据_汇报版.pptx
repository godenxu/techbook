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core.xml" ContentType="application/vnd.openxmlformats-package.core-properties+xml"/>
  <Override PartName="/ppt/slides/slide2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presentation.xml" ContentType="application/vnd.openxmlformats-officedocument.presentationml.presentation.main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Layouts/slideLayout4.xml" ContentType="application/vnd.openxmlformats-officedocument.presentationml.slideLayout+xml"/>
  <Override PartName="/ppt/slides/slide19.xml" ContentType="application/vnd.openxmlformats-officedocument.presentationml.slide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25.xml" ContentType="application/vnd.openxmlformats-officedocument.presentationml.slide+xml"/>
  <Override PartName="/ppt/slides/slide5.xml" ContentType="application/vnd.openxmlformats-officedocument.presentationml.slide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28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4.xml" ContentType="application/vnd.openxmlformats-officedocument.presentationml.slide+xml"/>
  <Override PartName="/ppt/slides/slide7.xml" ContentType="application/vnd.openxmlformats-officedocument.presentationml.slide+xml"/>
  <Override PartName="/ppt/slides/slide27.xml" ContentType="application/vnd.openxmlformats-officedocument.presentationml.slide+xml"/>
  <Override PartName="/ppt/viewProps.xml" ContentType="application/vnd.openxmlformats-officedocument.presentationml.viewProp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8.xml" ContentType="application/vnd.openxmlformats-officedocument.presentationml.slide+xml"/>
  <Override PartName="/ppt/slides/slide35.xml" ContentType="application/vnd.openxmlformats-officedocument.presentationml.slide+xml"/>
  <Override PartName="/ppt/tableStyles.xml" ContentType="application/vnd.openxmlformats-officedocument.presentationml.tableStyles+xml"/>
  <Override PartName="/ppt/slides/slide20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slides/slide6.xml" ContentType="application/vnd.openxmlformats-officedocument.presentationml.slide+xml"/>
  <Override PartName="/ppt/slides/slide26.xml" ContentType="application/vnd.openxmlformats-officedocument.presentationml.slide+xml"/>
  <Override PartName="/ppt/slides/slide9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7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p15="http://schemas.microsoft.com/office/powerpoint/2012/main" xmlns:r="http://schemas.openxmlformats.org/officeDocument/2006/relationships" xmlns:a="http://schemas.openxmlformats.org/drawingml/2006/main" xmlns:mc="http://schemas.openxmlformats.org/markup-compatibility/2006" firstSlideNum="1" mc:Ignorable="p15">
  <p:sldMasterIdLst>
    <p:sldMasterId id="2147483648" r:id="rId0"/>
  </p:sldMasterIdLst>
  <p:notesMasterIdLst>
    <p:notesMasterId r:id="rId38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</p:sldIdLst>
  <p:sldSz cx="12192000" cy="6858000"/>
  <p:notesSz cx="6797675" cy="9874250"/>
  <p:defaultTextStyle>
    <a:defPPr>
      <a:defRPr lang="zh-TW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p="http://schemas.openxmlformats.org/presentationml/2006/main" xmlns:a="http://schemas.openxmlformats.org/drawingml/2006/main">
  <p:showPr showNarration="1">
    <p:present/>
    <p:sldAll/>
    <p:penClr>
      <a:prstClr val="red"/>
    </p:penClr>
    <p:extLst>
      <p:ext uri="{EC167BDD-8182-4AB7-AECC-EB403E3ABB37}"/>
      <p:ext uri="{2FDB2607-1784-4EEB-B798-7EB5836EED8A}"/>
    </p:extLst>
  </p:showPr>
  <p:clrMru>
    <a:srgbClr val="05377D"/>
    <a:srgbClr val="E60000"/>
    <a:srgbClr val="414141"/>
    <a:srgbClr val="0A1950"/>
    <a:srgbClr val="0F6EF0"/>
    <a:srgbClr val="F05A22"/>
    <a:srgbClr val="6E6464"/>
    <a:srgbClr val="BEB4B4"/>
    <a:srgbClr val="AA051E"/>
    <a:srgbClr val="C8DCFA"/>
  </p:clrMru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843"/>
    <p:restoredTop sz="90822" autoAdjust="0"/>
  </p:normalViewPr>
  <p:slideViewPr>
    <p:cSldViewPr snapToGrid="0" snapToObjects="1">
      <p:cViewPr varScale="1">
        <p:scale>
          <a:sx n="159" d="100"/>
          <a:sy n="159" d="100"/>
        </p:scale>
        <p:origin x="2340" y="13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-2472" y="-112"/>
      </p:cViewPr>
      <p:guideLst>
        <p:guide orient="horz" pos="3110"/>
        <p:guide pos="2141"/>
      </p:guideLst>
    </p:cSldViewPr>
  </p:notesViewPr>
  <p:gridSpacing cx="72008" cy="72008"/>
</p:viewPr>
</file>

<file path=ppt/_rels/presentation.xml.rels><?xml version="1.0" encoding="UTF-8" standalone="yes"?><Relationships xmlns="http://schemas.openxmlformats.org/package/2006/relationships"><Relationship Id="rId10" Type="http://schemas.openxmlformats.org/officeDocument/2006/relationships/slide" Target="slides/slide10.xml" /><Relationship Id="rId0" Type="http://schemas.openxmlformats.org/officeDocument/2006/relationships/slideMaster" Target="slideMasters/slideMaster1.xml" /><Relationship Id="rId22" Type="http://schemas.openxmlformats.org/officeDocument/2006/relationships/slide" Target="slides/slide22.xml" /><Relationship Id="rId1" Type="http://schemas.openxmlformats.org/officeDocument/2006/relationships/slide" Target="slides/slide1.xml" /><Relationship Id="rId5" Type="http://schemas.openxmlformats.org/officeDocument/2006/relationships/slide" Target="slides/slide5.xml" /><Relationship Id="rId12" Type="http://schemas.openxmlformats.org/officeDocument/2006/relationships/slide" Target="slides/slide12.xml" /><Relationship Id="rId28" Type="http://schemas.openxmlformats.org/officeDocument/2006/relationships/slide" Target="slides/slide28.xml" /><Relationship Id="rId11" Type="http://schemas.openxmlformats.org/officeDocument/2006/relationships/slide" Target="slides/slide11.xml" /><Relationship Id="rId13" Type="http://schemas.openxmlformats.org/officeDocument/2006/relationships/slide" Target="slides/slide13.xml" /><Relationship Id="rId14" Type="http://schemas.openxmlformats.org/officeDocument/2006/relationships/slide" Target="slides/slide14.xml" /><Relationship Id="rId41" Type="http://schemas.openxmlformats.org/officeDocument/2006/relationships/viewProps" Target="viewProps.xml" /><Relationship Id="rId15" Type="http://schemas.openxmlformats.org/officeDocument/2006/relationships/slide" Target="slides/slide15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40" Type="http://schemas.openxmlformats.org/officeDocument/2006/relationships/tableStyles" Target="tableStyles.xml" /><Relationship Id="rId20" Type="http://schemas.openxmlformats.org/officeDocument/2006/relationships/slide" Target="slides/slide20.xml" /><Relationship Id="rId3" Type="http://schemas.openxmlformats.org/officeDocument/2006/relationships/slide" Target="slides/slide3.xml" /><Relationship Id="rId21" Type="http://schemas.openxmlformats.org/officeDocument/2006/relationships/slide" Target="slides/slide21.xml" /><Relationship Id="rId23" Type="http://schemas.openxmlformats.org/officeDocument/2006/relationships/slide" Target="slides/slide23.xml" /><Relationship Id="rId24" Type="http://schemas.openxmlformats.org/officeDocument/2006/relationships/slide" Target="slides/slide24.xml" /><Relationship Id="rId8" Type="http://schemas.openxmlformats.org/officeDocument/2006/relationships/slide" Target="slides/slide8.xml" /><Relationship Id="rId25" Type="http://schemas.openxmlformats.org/officeDocument/2006/relationships/slide" Target="slides/slide25.xml" /><Relationship Id="rId26" Type="http://schemas.openxmlformats.org/officeDocument/2006/relationships/slide" Target="slides/slide26.xml" /><Relationship Id="rId27" Type="http://schemas.openxmlformats.org/officeDocument/2006/relationships/slide" Target="slides/slide27.xml" /><Relationship Id="rId29" Type="http://schemas.openxmlformats.org/officeDocument/2006/relationships/slide" Target="slides/slide29.xml" /><Relationship Id="rId30" Type="http://schemas.openxmlformats.org/officeDocument/2006/relationships/slide" Target="slides/slide30.xml" /><Relationship Id="rId31" Type="http://schemas.openxmlformats.org/officeDocument/2006/relationships/slide" Target="slides/slide31.xml" /><Relationship Id="rId32" Type="http://schemas.openxmlformats.org/officeDocument/2006/relationships/slide" Target="slides/slide32.xml" /><Relationship Id="rId33" Type="http://schemas.openxmlformats.org/officeDocument/2006/relationships/slide" Target="slides/slide33.xml" /><Relationship Id="rId34" Type="http://schemas.openxmlformats.org/officeDocument/2006/relationships/slide" Target="slides/slide34.xml" /><Relationship Id="rId35" Type="http://schemas.openxmlformats.org/officeDocument/2006/relationships/slide" Target="slides/slide35.xml" /><Relationship Id="rId6" Type="http://schemas.openxmlformats.org/officeDocument/2006/relationships/slide" Target="slides/slide6.xml" /><Relationship Id="rId37" Type="http://schemas.openxmlformats.org/officeDocument/2006/relationships/slide" Target="slides/slide37.xml" /><Relationship Id="rId36" Type="http://schemas.openxmlformats.org/officeDocument/2006/relationships/slide" Target="slides/slide36.xml" /><Relationship Id="rId38" Type="http://schemas.openxmlformats.org/officeDocument/2006/relationships/notesMaster" Target="notesMasters/notesMaster1.xml" /><Relationship Id="rId39" Type="http://schemas.openxmlformats.org/officeDocument/2006/relationships/presProps" Target="presProps.xml" /><Relationship Id="rId4" Type="http://schemas.openxmlformats.org/officeDocument/2006/relationships/slide" Target="slides/slide4.xml" /><Relationship Id="rId7" Type="http://schemas.openxmlformats.org/officeDocument/2006/relationships/slide" Target="slides/slide7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/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/>
            <a:fld id="{CDD6EC14-67A4-CE4F-824E-260CC5583C42}" type="datetimeFigureOut">
              <a:rPr kumimoji="1" lang="zh-CN" altLang="en-US" smtClean="0"/>
              <a:t>2026/6/22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/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690269"/>
            <a:ext cx="5438140" cy="44434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/>
          </a:p>
          <a:p>
            <a:pPr lvl="1"/>
            <a:r>
              <a:rPr kumimoji="1" lang="zh-CN" altLang="en-US"/>
              <a:t>二级</a:t>
            </a:r>
            <a:endParaRPr/>
          </a:p>
          <a:p>
            <a:pPr lvl="2"/>
            <a:r>
              <a:rPr kumimoji="1" lang="zh-CN" altLang="en-US"/>
              <a:t>三级</a:t>
            </a:r>
            <a:endParaRPr/>
          </a:p>
          <a:p>
            <a:pPr lvl="3"/>
            <a:r>
              <a:rPr kumimoji="1" lang="zh-CN" altLang="en-US"/>
              <a:t>四级</a:t>
            </a:r>
            <a:endParaRPr/>
          </a:p>
          <a:p>
            <a:pPr lvl="4"/>
            <a:r>
              <a:rPr kumimoji="1" lang="zh-CN" altLang="en-US"/>
              <a:t>五级</a:t>
            </a:r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/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/>
            <a:fld id="{5178471F-2E82-9D43-8F51-EC51DE8AD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Relationship Id="rId1" Type="http://schemas.openxmlformats.org/officeDocument/2006/relationships/image" Target="media/image4.png" /><Relationship Id="rId2" Type="http://schemas.openxmlformats.org/officeDocument/2006/relationships/image" Target="media/image5.png" /></Relationships>
</file>

<file path=ppt/slideLayouts/_rels/slideLayout9.xml.rels><?xml version="1.0" encoding="UTF-8" standalone="yes"?><Relationships xmlns="http://schemas.openxmlformats.org/package/2006/relationships"><Relationship Id="rId2" Type="http://schemas.openxmlformats.org/officeDocument/2006/relationships/image" Target="media/image3.png" /><Relationship Id="rId0" Type="http://schemas.openxmlformats.org/officeDocument/2006/relationships/slideMaster" Target="../slideMasters/slideMaster1.xml" /><Relationship Id="rId1" Type="http://schemas.openxmlformats.org/officeDocument/2006/relationships/image" Target="media/image6.png" 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image" Target="media/image7.png" /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Relationship Id="rId1" Type="http://schemas.openxmlformats.org/officeDocument/2006/relationships/image" Target="media/image2.png" /><Relationship Id="rId2" Type="http://schemas.openxmlformats.org/officeDocument/2006/relationships/image" Target="media/image3.png" /></Relationships>
</file>

<file path=ppt/slideLayouts/slideLayout1.xml><?xml version="1.0" encoding="utf-8"?>
<p:sldLayout xmlns:p="http://schemas.openxmlformats.org/presentationml/2006/main" xmlns:a="http://schemas.openxmlformats.org/drawingml/2006/main">
  <p:cSld name="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圖片版面配置區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a typeface="宋体"/>
              </a:defRPr>
            </a:lvl1pPr>
          </a:lstStyle>
          <a:p>
            <a:pPr lvl="0"/>
            <a:r>
              <a:rPr lang="zh-TW" altLang="en-US" noProof="0"/>
              <a:t>将图片拖动到占位符，或单击添加图标</a:t>
            </a:r>
            <a:endParaRPr lang="zh-TW" altLang="en-US" noProof="0" dirty="0"/>
          </a:p>
        </p:txBody>
      </p:sp>
      <p:sp>
        <p:nvSpPr>
          <p:cNvPr id="3" name="投影片編號版面配置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/>
            <a:fld id="{586DD0BA-98A2-BB4B-AD49-BF6B8655A97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2.xml><?xml version="1.0" encoding="utf-8"?>
<p:sldLayout xmlns:p="http://schemas.openxmlformats.org/presentationml/2006/main" xmlns:a="http://schemas.openxmlformats.org/drawingml/2006/main">
  <p:cSld name="单栏">
    <p:spTree>
      <p:nvGrpSpPr>
        <p:cNvPr id="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2"/>
          <p:cNvSpPr>
            <a:spLocks noGrp="1"/>
          </p:cNvSpPr>
          <p:nvPr>
            <p:ph idx="1"/>
          </p:nvPr>
        </p:nvSpPr>
        <p:spPr>
          <a:xfrm>
            <a:off x="334434" y="1120775"/>
            <a:ext cx="11523132" cy="5005388"/>
          </a:xfrm>
          <a:prstGeom prst="rect">
            <a:avLst/>
          </a:prstGeom>
        </p:spPr>
        <p:txBody>
          <a:bodyPr/>
          <a:lstStyle>
            <a:lvl1pPr marL="185738" indent="-185738">
              <a:spcBef>
                <a:spcPts val="388"/>
              </a:spcBef>
              <a:buClr>
                <a:schemeClr val="tx1">
                  <a:lumMod val="75000"/>
                  <a:lumOff val="25000"/>
                </a:schemeClr>
              </a:buClr>
              <a:buFont typeface="Arial"/>
              <a:buChar char="•"/>
              <a:defRPr sz="2000" b="1" baseline="0">
                <a:solidFill>
                  <a:srgbClr val="06397F"/>
                </a:solidFill>
                <a:latin typeface="微软雅黑"/>
                <a:ea typeface="微软雅黑"/>
                <a:cs typeface="微软雅黑"/>
              </a:defRPr>
            </a:lvl1pPr>
            <a:lvl2pPr marL="711200" indent="-271463">
              <a:spcBef>
                <a:spcPts val="700"/>
              </a:spcBef>
              <a:buClr>
                <a:schemeClr val="tx1">
                  <a:lumMod val="75000"/>
                  <a:lumOff val="25000"/>
                </a:schemeClr>
              </a:buClr>
              <a:buSzPct val="100000"/>
              <a:defRPr sz="1800" b="0" baseline="0">
                <a:solidFill>
                  <a:srgbClr val="404040"/>
                </a:solidFill>
                <a:latin typeface="微软雅黑"/>
                <a:ea typeface="微软雅黑"/>
                <a:cs typeface="微软雅黑"/>
              </a:defRPr>
            </a:lvl2pPr>
            <a:lvl3pPr marL="896938" indent="-185738">
              <a:spcBef>
                <a:spcPts val="700"/>
              </a:spcBef>
              <a:buClr>
                <a:schemeClr val="tx1">
                  <a:lumMod val="75000"/>
                  <a:lumOff val="25000"/>
                </a:schemeClr>
              </a:buClr>
              <a:buSzPct val="100000"/>
              <a:defRPr sz="1800" b="0" baseline="0">
                <a:solidFill>
                  <a:srgbClr val="7F7F7F"/>
                </a:solidFill>
                <a:latin typeface="微软雅黑"/>
                <a:ea typeface="微软雅黑"/>
                <a:cs typeface="微软雅黑"/>
              </a:defRPr>
            </a:lvl3pPr>
            <a:lvl4pPr marL="72000" indent="0">
              <a:spcBef>
                <a:spcPts val="700"/>
              </a:spcBef>
              <a:buClr>
                <a:schemeClr val="tx1">
                  <a:lumMod val="75000"/>
                  <a:lumOff val="25000"/>
                </a:schemeClr>
              </a:buClr>
              <a:buSzPct val="100000"/>
              <a:buNone/>
              <a:defRPr sz="1800" b="0" baseline="0">
                <a:solidFill>
                  <a:srgbClr val="7F7F7F"/>
                </a:solidFill>
                <a:latin typeface="微软雅黑"/>
                <a:ea typeface="微软雅黑"/>
                <a:cs typeface="微软雅黑"/>
              </a:defRPr>
            </a:lvl4pPr>
            <a:lvl5pPr marL="541337" indent="0">
              <a:spcBef>
                <a:spcPts val="700"/>
              </a:spcBef>
              <a:buClr>
                <a:schemeClr val="tx1">
                  <a:lumMod val="75000"/>
                  <a:lumOff val="25000"/>
                </a:schemeClr>
              </a:buClr>
              <a:buSzPct val="100000"/>
              <a:buNone/>
              <a:defRPr sz="1800" b="0" baseline="0">
                <a:solidFill>
                  <a:srgbClr val="7F7F7F"/>
                </a:solidFill>
                <a:latin typeface="微软雅黑"/>
                <a:ea typeface="微软雅黑"/>
                <a:cs typeface="微软雅黑"/>
              </a:defRPr>
            </a:lvl5pPr>
            <a:lvl6pPr marL="2628900" marR="0" indent="-342900" algn="l" defTabSz="457200" rtl="0" eaLnBrk="1" fontAlgn="auto" latinLnBrk="0" hangingPunct="1">
              <a:lnSpc>
                <a:spcPct val="100000"/>
              </a:lnSpc>
              <a:spcBef>
                <a:spcPts val="388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Tx/>
              <a:buFont typeface="Arial"/>
              <a:buChar char="•"/>
              <a:tabLst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>
              <a:spcBef>
                <a:spcPts val="388"/>
              </a:spcBef>
              <a:buClr>
                <a:schemeClr val="tx1">
                  <a:lumMod val="75000"/>
                  <a:lumOff val="25000"/>
                </a:schemeClr>
              </a:buClr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3086100" marR="0" indent="0" algn="l" defTabSz="457200" rtl="0" eaLnBrk="1" fontAlgn="auto" latinLnBrk="0" hangingPunct="1">
              <a:lnSpc>
                <a:spcPct val="100000"/>
              </a:lnSpc>
              <a:spcBef>
                <a:spcPts val="388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Tx/>
              <a:buFont typeface="Arial"/>
              <a:buNone/>
              <a:tabLst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>
              <a:spcBef>
                <a:spcPts val="388"/>
              </a:spcBef>
              <a:buClr>
                <a:schemeClr val="tx1">
                  <a:lumMod val="75000"/>
                  <a:lumOff val="25000"/>
                </a:schemeClr>
              </a:buCl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单击此处编辑母版文本样式</a:t>
            </a:r>
            <a:endParaRPr/>
          </a:p>
          <a:p>
            <a:pPr lvl="1"/>
            <a:r>
              <a:rPr lang="zh-TW" altLang="en-US" dirty="0"/>
              <a:t>二级</a:t>
            </a:r>
            <a:endParaRPr lang="en-US" altLang="zh-TW" dirty="0"/>
          </a:p>
          <a:p>
            <a:pPr lvl="2"/>
            <a:endParaRPr lang="zh-TW" altLang="en-US" dirty="0"/>
          </a:p>
        </p:txBody>
      </p:sp>
      <p:sp>
        <p:nvSpPr>
          <p:cNvPr id="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334434" y="260350"/>
            <a:ext cx="11523133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lvl="0"/>
            <a:r>
              <a:rPr lang="zh-TW" altLang="en-US" dirty="0"/>
              <a:t>单击此处编辑母版标题样式</a:t>
            </a:r>
            <a:endParaRPr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/>
            <a:fld id="{586DD0BA-98A2-BB4B-AD49-BF6B8655A97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3.xml><?xml version="1.0" encoding="utf-8"?>
<p:sldLayout xmlns:p="http://schemas.openxmlformats.org/presentationml/2006/main" xmlns:a="http://schemas.openxmlformats.org/drawingml/2006/main">
  <p:cSld name="两栏"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內容版面配置區 2"/>
          <p:cNvSpPr>
            <a:spLocks noGrp="1"/>
          </p:cNvSpPr>
          <p:nvPr>
            <p:ph idx="1"/>
          </p:nvPr>
        </p:nvSpPr>
        <p:spPr>
          <a:xfrm>
            <a:off x="334434" y="1120775"/>
            <a:ext cx="5665556" cy="500538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88"/>
              </a:spcBef>
              <a:buClr>
                <a:schemeClr val="tx1">
                  <a:lumMod val="75000"/>
                  <a:lumOff val="25000"/>
                </a:schemeClr>
              </a:buClr>
              <a:buNone/>
              <a:defRPr sz="18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72000" indent="169200">
              <a:spcBef>
                <a:spcPts val="700"/>
              </a:spcBef>
              <a:buClr>
                <a:schemeClr val="tx1">
                  <a:lumMod val="75000"/>
                  <a:lumOff val="25000"/>
                </a:schemeClr>
              </a:buClr>
              <a:defRPr sz="18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2pPr>
            <a:lvl3pPr marL="72000" indent="169200">
              <a:spcBef>
                <a:spcPts val="700"/>
              </a:spcBef>
              <a:buClr>
                <a:schemeClr val="tx1">
                  <a:lumMod val="75000"/>
                  <a:lumOff val="25000"/>
                </a:schemeClr>
              </a:buClr>
              <a:defRPr sz="18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3pPr>
            <a:lvl4pPr marL="72000" indent="169200">
              <a:spcBef>
                <a:spcPts val="700"/>
              </a:spcBef>
              <a:buClr>
                <a:schemeClr val="tx1">
                  <a:lumMod val="75000"/>
                  <a:lumOff val="25000"/>
                </a:schemeClr>
              </a:buClr>
              <a:defRPr sz="18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4pPr>
            <a:lvl5pPr marL="72000" indent="169200">
              <a:spcBef>
                <a:spcPts val="700"/>
              </a:spcBef>
              <a:buClr>
                <a:schemeClr val="tx1">
                  <a:lumMod val="75000"/>
                  <a:lumOff val="25000"/>
                </a:schemeClr>
              </a:buClr>
              <a:defRPr sz="18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5pPr>
            <a:lvl6pPr marL="2628900" marR="0" indent="-342900" algn="l" defTabSz="457200" rtl="0" eaLnBrk="1" fontAlgn="auto" latinLnBrk="0" hangingPunct="1">
              <a:lnSpc>
                <a:spcPct val="100000"/>
              </a:lnSpc>
              <a:spcBef>
                <a:spcPts val="388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Tx/>
              <a:buFont typeface="Arial"/>
              <a:buChar char="•"/>
              <a:tabLst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>
              <a:spcBef>
                <a:spcPts val="388"/>
              </a:spcBef>
              <a:buClr>
                <a:schemeClr val="tx1">
                  <a:lumMod val="75000"/>
                  <a:lumOff val="25000"/>
                </a:schemeClr>
              </a:buClr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3086100" marR="0" indent="0" algn="l" defTabSz="457200" rtl="0" eaLnBrk="1" fontAlgn="auto" latinLnBrk="0" hangingPunct="1">
              <a:lnSpc>
                <a:spcPct val="100000"/>
              </a:lnSpc>
              <a:spcBef>
                <a:spcPts val="388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Tx/>
              <a:buFont typeface="Arial"/>
              <a:buNone/>
              <a:tabLst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>
              <a:spcBef>
                <a:spcPts val="388"/>
              </a:spcBef>
              <a:buClr>
                <a:schemeClr val="tx1">
                  <a:lumMod val="75000"/>
                  <a:lumOff val="25000"/>
                </a:schemeClr>
              </a:buCl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单击此处编辑母版文本样式</a:t>
            </a:r>
            <a:endParaRPr/>
          </a:p>
          <a:p>
            <a:pPr lvl="1"/>
            <a:r>
              <a:rPr lang="zh-TW" altLang="en-US" dirty="0"/>
              <a:t>二级</a:t>
            </a:r>
            <a:endParaRPr/>
          </a:p>
          <a:p>
            <a:pPr lvl="2"/>
            <a:r>
              <a:rPr lang="zh-TW" altLang="en-US" dirty="0"/>
              <a:t>三级</a:t>
            </a:r>
            <a:endParaRPr/>
          </a:p>
          <a:p>
            <a:pPr lvl="3"/>
            <a:r>
              <a:rPr lang="zh-TW" altLang="en-US" dirty="0"/>
              <a:t>四级</a:t>
            </a:r>
            <a:endParaRPr/>
          </a:p>
          <a:p>
            <a:pPr lvl="4"/>
            <a:r>
              <a:rPr lang="zh-TW" altLang="en-US" dirty="0"/>
              <a:t>五级</a:t>
            </a:r>
            <a:endParaRPr lang="en-US" altLang="zh-TW" dirty="0"/>
          </a:p>
        </p:txBody>
      </p:sp>
      <p:sp>
        <p:nvSpPr>
          <p:cNvPr id="14" name="內容版面配置區 2"/>
          <p:cNvSpPr>
            <a:spLocks noGrp="1"/>
          </p:cNvSpPr>
          <p:nvPr>
            <p:ph idx="11"/>
          </p:nvPr>
        </p:nvSpPr>
        <p:spPr>
          <a:xfrm>
            <a:off x="6192011" y="1120775"/>
            <a:ext cx="5665556" cy="500538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88"/>
              </a:spcBef>
              <a:buClr>
                <a:schemeClr val="tx1">
                  <a:lumMod val="75000"/>
                  <a:lumOff val="25000"/>
                </a:schemeClr>
              </a:buClr>
              <a:buNone/>
              <a:defRPr sz="18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72000" indent="169200">
              <a:spcBef>
                <a:spcPts val="700"/>
              </a:spcBef>
              <a:buClr>
                <a:schemeClr val="tx1">
                  <a:lumMod val="75000"/>
                  <a:lumOff val="25000"/>
                </a:schemeClr>
              </a:buClr>
              <a:defRPr sz="18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2pPr>
            <a:lvl3pPr marL="72000" indent="169200">
              <a:spcBef>
                <a:spcPts val="700"/>
              </a:spcBef>
              <a:buClr>
                <a:schemeClr val="tx1">
                  <a:lumMod val="75000"/>
                  <a:lumOff val="25000"/>
                </a:schemeClr>
              </a:buClr>
              <a:defRPr sz="18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3pPr>
            <a:lvl4pPr marL="72000" indent="169200">
              <a:spcBef>
                <a:spcPts val="700"/>
              </a:spcBef>
              <a:buClr>
                <a:schemeClr val="tx1">
                  <a:lumMod val="75000"/>
                  <a:lumOff val="25000"/>
                </a:schemeClr>
              </a:buClr>
              <a:defRPr sz="18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4pPr>
            <a:lvl5pPr marL="72000" indent="169200">
              <a:spcBef>
                <a:spcPts val="700"/>
              </a:spcBef>
              <a:buClr>
                <a:schemeClr val="tx1">
                  <a:lumMod val="75000"/>
                  <a:lumOff val="25000"/>
                </a:schemeClr>
              </a:buClr>
              <a:defRPr sz="18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5pPr>
            <a:lvl6pPr marL="2628900" marR="0" indent="-342900" algn="l" defTabSz="457200" rtl="0" eaLnBrk="1" fontAlgn="auto" latinLnBrk="0" hangingPunct="1">
              <a:lnSpc>
                <a:spcPct val="100000"/>
              </a:lnSpc>
              <a:spcBef>
                <a:spcPts val="388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Tx/>
              <a:buFont typeface="Arial"/>
              <a:buChar char="•"/>
              <a:tabLst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>
              <a:spcBef>
                <a:spcPts val="388"/>
              </a:spcBef>
              <a:buClr>
                <a:schemeClr val="tx1">
                  <a:lumMod val="75000"/>
                  <a:lumOff val="25000"/>
                </a:schemeClr>
              </a:buClr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3086100" marR="0" indent="0" algn="l" defTabSz="457200" rtl="0" eaLnBrk="1" fontAlgn="auto" latinLnBrk="0" hangingPunct="1">
              <a:lnSpc>
                <a:spcPct val="100000"/>
              </a:lnSpc>
              <a:spcBef>
                <a:spcPts val="388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Tx/>
              <a:buFont typeface="Arial"/>
              <a:buNone/>
              <a:tabLst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>
              <a:spcBef>
                <a:spcPts val="388"/>
              </a:spcBef>
              <a:buClr>
                <a:schemeClr val="tx1">
                  <a:lumMod val="75000"/>
                  <a:lumOff val="25000"/>
                </a:schemeClr>
              </a:buCl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单击此处编辑母版文本样式</a:t>
            </a:r>
            <a:endParaRPr/>
          </a:p>
          <a:p>
            <a:pPr lvl="1"/>
            <a:r>
              <a:rPr lang="zh-TW" altLang="en-US" dirty="0"/>
              <a:t>二级</a:t>
            </a:r>
            <a:endParaRPr/>
          </a:p>
          <a:p>
            <a:pPr lvl="2"/>
            <a:r>
              <a:rPr lang="zh-TW" altLang="en-US" dirty="0"/>
              <a:t>三级</a:t>
            </a:r>
            <a:endParaRPr/>
          </a:p>
          <a:p>
            <a:pPr lvl="3"/>
            <a:r>
              <a:rPr lang="zh-TW" altLang="en-US" dirty="0"/>
              <a:t>四级</a:t>
            </a:r>
            <a:endParaRPr/>
          </a:p>
          <a:p>
            <a:pPr lvl="4"/>
            <a:r>
              <a:rPr lang="zh-TW" altLang="en-US" dirty="0"/>
              <a:t>五级</a:t>
            </a:r>
            <a:endParaRPr lang="en-US" altLang="zh-TW" dirty="0"/>
          </a:p>
        </p:txBody>
      </p:sp>
      <p:sp>
        <p:nvSpPr>
          <p:cNvPr id="15" name="標題版面配置區 1"/>
          <p:cNvSpPr>
            <a:spLocks noGrp="1"/>
          </p:cNvSpPr>
          <p:nvPr>
            <p:ph type="title"/>
          </p:nvPr>
        </p:nvSpPr>
        <p:spPr bwMode="auto">
          <a:xfrm>
            <a:off x="334434" y="260350"/>
            <a:ext cx="11523133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lvl="0"/>
            <a:r>
              <a:rPr lang="zh-TW" altLang="en-US" dirty="0"/>
              <a:t>单击此处编辑母版标题样式</a:t>
            </a:r>
            <a:endParaRPr/>
          </a:p>
        </p:txBody>
      </p:sp>
      <p:sp>
        <p:nvSpPr>
          <p:cNvPr id="1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/>
            <a:fld id="{586DD0BA-98A2-BB4B-AD49-BF6B8655A97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4.xml><?xml version="1.0" encoding="utf-8"?>
<p:sldLayout xmlns:p="http://schemas.openxmlformats.org/presentationml/2006/main" xmlns:a="http://schemas.openxmlformats.org/drawingml/2006/main">
  <p:cSld name="只有標題"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標題版面配置區 1"/>
          <p:cNvSpPr>
            <a:spLocks noGrp="1"/>
          </p:cNvSpPr>
          <p:nvPr>
            <p:ph type="title"/>
          </p:nvPr>
        </p:nvSpPr>
        <p:spPr bwMode="auto">
          <a:xfrm>
            <a:off x="334434" y="260350"/>
            <a:ext cx="11523133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>
            <a:lvl1pPr>
              <a:defRPr b="0">
                <a:solidFill>
                  <a:srgbClr val="E6000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lvl="0"/>
            <a:r>
              <a:rPr lang="zh-TW" altLang="en-US" dirty="0"/>
              <a:t>单击此处编辑母版标题样式</a:t>
            </a:r>
            <a:endParaRPr/>
          </a:p>
        </p:txBody>
      </p:sp>
      <p:sp>
        <p:nvSpPr>
          <p:cNvPr id="19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/>
            <a:fld id="{586DD0BA-98A2-BB4B-AD49-BF6B8655A97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5.xml><?xml version="1.0" encoding="utf-8"?>
<p:sldLayout xmlns:p="http://schemas.openxmlformats.org/presentationml/2006/main" xmlns:a="http://schemas.openxmlformats.org/drawingml/2006/main" type="blank">
  <p:cSld name="空白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/>
            <a:fld id="{586DD0BA-98A2-BB4B-AD49-BF6B8655A97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6.xml><?xml version="1.0" encoding="utf-8"?>
<p:sldLayout xmlns:p="http://schemas.openxmlformats.org/presentationml/2006/main" xmlns:a="http://schemas.openxmlformats.org/drawingml/2006/main">
  <p:cSld name="只有標題 黑">
    <p:bg>
      <p:bgPr>
        <a:solidFill>
          <a:schemeClr val="tx1"/>
        </a:solidFill>
        <a:effectLst/>
      </p:bgPr>
    </p:bg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標題版面配置區 1"/>
          <p:cNvSpPr>
            <a:spLocks noGrp="1"/>
          </p:cNvSpPr>
          <p:nvPr>
            <p:ph type="title"/>
          </p:nvPr>
        </p:nvSpPr>
        <p:spPr bwMode="auto">
          <a:xfrm>
            <a:off x="334434" y="260350"/>
            <a:ext cx="11523133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>
            <a:lvl1pPr>
              <a:defRPr b="0">
                <a:solidFill>
                  <a:srgbClr val="FF000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lvl="0"/>
            <a:r>
              <a:rPr lang="zh-TW" altLang="en-US" dirty="0"/>
              <a:t>单击此处编辑母版标题样式</a:t>
            </a:r>
            <a:endParaRPr/>
          </a:p>
        </p:txBody>
      </p:sp>
      <p:sp>
        <p:nvSpPr>
          <p:cNvPr id="2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/>
            <a:fld id="{586DD0BA-98A2-BB4B-AD49-BF6B8655A97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7.xml><?xml version="1.0" encoding="utf-8"?>
<p:sldLayout xmlns:p="http://schemas.openxmlformats.org/presentationml/2006/main" xmlns:a="http://schemas.openxmlformats.org/drawingml/2006/main" type="blank">
  <p:cSld name="空白 黑">
    <p:bg>
      <p:bgPr>
        <a:solidFill>
          <a:schemeClr val="tx1"/>
        </a:solidFill>
        <a:effectLst/>
      </p:bgPr>
    </p:bg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/>
            <a:fld id="{586DD0BA-98A2-BB4B-AD49-BF6B8655A97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8.xml><?xml version="1.0" encoding="utf-8"?>
<p:sldLayout xmlns:p="http://schemas.openxmlformats.org/presentationml/2006/main" xmlns:r="http://schemas.openxmlformats.org/officeDocument/2006/relationships" xmlns:a="http://schemas.openxmlformats.org/drawingml/2006/main">
  <p:cSld name="目录页"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1" descr="未命名-3-06.png"/>
          <p:cNvPicPr>
            <a:picLocks noChangeAspect="1"/>
          </p:cNvPicPr>
          <p:nvPr userDrawn="1"/>
        </p:nvPicPr>
        <p:blipFill>
          <a:blip r:embed="rId1" cstate="email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9" name="標題 1"/>
          <p:cNvSpPr>
            <a:spLocks noGrp="1"/>
          </p:cNvSpPr>
          <p:nvPr>
            <p:ph type="title"/>
          </p:nvPr>
        </p:nvSpPr>
        <p:spPr>
          <a:xfrm>
            <a:off x="507059" y="646091"/>
            <a:ext cx="9525047" cy="1064176"/>
          </a:xfrm>
        </p:spPr>
        <p:txBody>
          <a:bodyPr anchor="b"/>
          <a:lstStyle>
            <a:lvl1pPr>
              <a:defRPr sz="3200" b="0">
                <a:solidFill>
                  <a:srgbClr val="0A195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/>
            <a:r>
              <a:rPr lang="zh-TW" altLang="en-US" dirty="0"/>
              <a:t>单击此处编辑母版标题样式</a:t>
            </a:r>
            <a:endParaRPr/>
          </a:p>
        </p:txBody>
      </p:sp>
      <p:sp>
        <p:nvSpPr>
          <p:cNvPr id="30" name="文字版面配置區 11"/>
          <p:cNvSpPr>
            <a:spLocks noGrp="1"/>
          </p:cNvSpPr>
          <p:nvPr>
            <p:ph type="body" sz="quarter" idx="12"/>
          </p:nvPr>
        </p:nvSpPr>
        <p:spPr>
          <a:xfrm>
            <a:off x="506658" y="1916833"/>
            <a:ext cx="9525401" cy="40950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400" b="0">
                <a:solidFill>
                  <a:srgbClr val="414141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257300" indent="-342900">
              <a:buClr>
                <a:schemeClr val="tx1">
                  <a:lumMod val="75000"/>
                  <a:lumOff val="25000"/>
                </a:schemeClr>
              </a:buClr>
              <a:buFont typeface="Arial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Clr>
                <a:schemeClr val="tx1">
                  <a:lumMod val="75000"/>
                  <a:lumOff val="25000"/>
                </a:schemeClr>
              </a:buClr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Clr>
                <a:schemeClr val="tx1">
                  <a:lumMod val="75000"/>
                  <a:lumOff val="25000"/>
                </a:schemeClr>
              </a:buClr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buClr>
                <a:schemeClr val="tx1">
                  <a:lumMod val="75000"/>
                  <a:lumOff val="25000"/>
                </a:schemeClr>
              </a:buClr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>
              <a:buClr>
                <a:schemeClr val="tx1">
                  <a:lumMod val="75000"/>
                  <a:lumOff val="25000"/>
                </a:schemeClr>
              </a:buClr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>
              <a:buClr>
                <a:schemeClr val="tx1">
                  <a:lumMod val="75000"/>
                  <a:lumOff val="25000"/>
                </a:schemeClr>
              </a:buClr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>
              <a:buClr>
                <a:schemeClr val="tx1">
                  <a:lumMod val="75000"/>
                  <a:lumOff val="25000"/>
                </a:schemeClr>
              </a:buClr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单击此处编辑母版文本样式</a:t>
            </a:r>
            <a:endParaRPr/>
          </a:p>
        </p:txBody>
      </p:sp>
      <p:pic>
        <p:nvPicPr>
          <p:cNvPr id="31" name="图片 3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0" y="6294758"/>
            <a:ext cx="12192000" cy="563242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9.xml><?xml version="1.0" encoding="utf-8"?>
<p:sldLayout xmlns:p="http://schemas.openxmlformats.org/presentationml/2006/main" xmlns:r="http://schemas.openxmlformats.org/officeDocument/2006/relationships" xmlns:a="http://schemas.openxmlformats.org/drawingml/2006/main">
  <p:cSld name="总结页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1" descr="未命名-3-05.png"/>
          <p:cNvPicPr>
            <a:picLocks noChangeAspect="1"/>
          </p:cNvPicPr>
          <p:nvPr userDrawn="1"/>
        </p:nvPicPr>
        <p:blipFill>
          <a:blip r:embed="rId1" cstate="email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34" name="直線接點 4"/>
          <p:cNvCxnSpPr/>
          <p:nvPr/>
        </p:nvCxnSpPr>
        <p:spPr>
          <a:xfrm>
            <a:off x="334433" y="1092200"/>
            <a:ext cx="11542184" cy="0"/>
          </a:xfrm>
          <a:prstGeom prst="line">
            <a:avLst/>
          </a:prstGeom>
          <a:ln w="6350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標題 1"/>
          <p:cNvSpPr>
            <a:spLocks noGrp="1"/>
          </p:cNvSpPr>
          <p:nvPr>
            <p:ph type="title"/>
          </p:nvPr>
        </p:nvSpPr>
        <p:spPr>
          <a:xfrm>
            <a:off x="334434" y="1188368"/>
            <a:ext cx="11523133" cy="5021932"/>
          </a:xfrm>
        </p:spPr>
        <p:txBody>
          <a:bodyPr/>
          <a:lstStyle>
            <a:lvl1pPr>
              <a:defRPr sz="3200" b="0" i="0">
                <a:solidFill>
                  <a:srgbClr val="FFFFFF"/>
                </a:solidFill>
                <a:latin typeface="STIXSizeTwoSym-Regular"/>
                <a:ea typeface="微软雅黑"/>
                <a:cs typeface="STIXSizeTwoSym-Regular"/>
              </a:defRPr>
            </a:lvl1pPr>
          </a:lstStyle>
          <a:p>
            <a:pPr/>
            <a:r>
              <a:rPr lang="zh-TW" altLang="en-US" dirty="0"/>
              <a:t>单击此处编辑母版标题样式</a:t>
            </a:r>
            <a:endParaRPr/>
          </a:p>
        </p:txBody>
      </p:sp>
      <p:sp>
        <p:nvSpPr>
          <p:cNvPr id="36" name="文字版面配置區 18"/>
          <p:cNvSpPr>
            <a:spLocks noGrp="1"/>
          </p:cNvSpPr>
          <p:nvPr>
            <p:ph type="body" sz="quarter" idx="13"/>
          </p:nvPr>
        </p:nvSpPr>
        <p:spPr>
          <a:xfrm>
            <a:off x="334433" y="165100"/>
            <a:ext cx="11542184" cy="838200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>
                <a:solidFill>
                  <a:srgbClr val="E6000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lvl="0"/>
            <a:r>
              <a:rPr lang="zh-TW" altLang="en-US" dirty="0"/>
              <a:t>单击此处编辑母版文本样式</a:t>
            </a:r>
            <a:endParaRPr/>
          </a:p>
        </p:txBody>
      </p:sp>
      <p:pic>
        <p:nvPicPr>
          <p:cNvPr id="37" name="图片 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0" y="6294758"/>
            <a:ext cx="12192000" cy="563242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0.xml><?xml version="1.0" encoding="utf-8"?>
<p:sldLayout xmlns:p="http://schemas.openxmlformats.org/presentationml/2006/main" xmlns:r="http://schemas.openxmlformats.org/officeDocument/2006/relationships" xmlns:a="http://schemas.openxmlformats.org/drawingml/2006/main">
  <p:cSld name="简易封面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sz="1800"/>
          </a:p>
        </p:txBody>
      </p:sp>
      <p:sp>
        <p:nvSpPr>
          <p:cNvPr id="40" name="標題版面配置區 1"/>
          <p:cNvSpPr>
            <a:spLocks noGrp="1"/>
          </p:cNvSpPr>
          <p:nvPr>
            <p:ph type="title"/>
          </p:nvPr>
        </p:nvSpPr>
        <p:spPr>
          <a:xfrm>
            <a:off x="956235" y="2002118"/>
            <a:ext cx="9064315" cy="1764226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>
              <a:defRPr sz="2800" b="0" baseline="0">
                <a:solidFill>
                  <a:srgbClr val="0A195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/>
            <a:r>
              <a:rPr lang="zh-TW" altLang="en-US" dirty="0"/>
              <a:t>单击此处编辑母版标题样式</a:t>
            </a:r>
            <a:endParaRPr/>
          </a:p>
        </p:txBody>
      </p:sp>
      <p:sp>
        <p:nvSpPr>
          <p:cNvPr id="41" name="文字版面配置區 13"/>
          <p:cNvSpPr>
            <a:spLocks noGrp="1"/>
          </p:cNvSpPr>
          <p:nvPr>
            <p:ph idx="1"/>
          </p:nvPr>
        </p:nvSpPr>
        <p:spPr>
          <a:xfrm>
            <a:off x="956235" y="4004235"/>
            <a:ext cx="9064315" cy="986118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 sz="1800" b="1">
                <a:solidFill>
                  <a:srgbClr val="414141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lvl="0"/>
            <a:r>
              <a:rPr lang="zh-TW" altLang="en-US" noProof="0" dirty="0"/>
              <a:t>单击此处编辑母版文本样式</a:t>
            </a:r>
            <a:endParaRPr/>
          </a:p>
        </p:txBody>
      </p:sp>
      <p:pic>
        <p:nvPicPr>
          <p:cNvPr id="42" name="图片 1"/>
          <p:cNvPicPr>
            <a:picLocks noChangeAspect="1"/>
          </p:cNvPicPr>
          <p:nvPr userDrawn="1"/>
        </p:nvPicPr>
        <p:blipFill>
          <a:blip r:embed="rId1" cstate="email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0" y="0"/>
            <a:ext cx="12192000" cy="685765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1.xml><?xml version="1.0" encoding="utf-8"?>
<p:sldLayout xmlns:p="http://schemas.openxmlformats.org/presentationml/2006/main" xmlns:r="http://schemas.openxmlformats.org/officeDocument/2006/relationships" xmlns:a="http://schemas.openxmlformats.org/drawingml/2006/main">
  <p:cSld name="1_结束页">
    <p:spTree>
      <p:nvGrpSpPr>
        <p:cNvPr id="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1" descr="未命名-3-03.png"/>
          <p:cNvPicPr>
            <a:picLocks noChangeAspect="1"/>
          </p:cNvPicPr>
          <p:nvPr userDrawn="1"/>
        </p:nvPicPr>
        <p:blipFill>
          <a:blip r:embed="rId1" cstate="email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文字版面配置區 11"/>
          <p:cNvSpPr>
            <a:spLocks noGrp="1"/>
          </p:cNvSpPr>
          <p:nvPr>
            <p:ph type="body" sz="quarter" idx="12"/>
          </p:nvPr>
        </p:nvSpPr>
        <p:spPr>
          <a:xfrm>
            <a:off x="334434" y="2536022"/>
            <a:ext cx="8696677" cy="1316566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20000"/>
              </a:lnSpc>
              <a:buNone/>
              <a:defRPr sz="4800" b="0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257300" indent="-342900">
              <a:buClr>
                <a:schemeClr val="tx1">
                  <a:lumMod val="75000"/>
                  <a:lumOff val="25000"/>
                </a:schemeClr>
              </a:buClr>
              <a:buFont typeface="Arial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Clr>
                <a:schemeClr val="tx1">
                  <a:lumMod val="75000"/>
                  <a:lumOff val="25000"/>
                </a:schemeClr>
              </a:buClr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Clr>
                <a:schemeClr val="tx1">
                  <a:lumMod val="75000"/>
                  <a:lumOff val="25000"/>
                </a:schemeClr>
              </a:buClr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buClr>
                <a:schemeClr val="tx1">
                  <a:lumMod val="75000"/>
                  <a:lumOff val="25000"/>
                </a:schemeClr>
              </a:buClr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>
              <a:buClr>
                <a:schemeClr val="tx1">
                  <a:lumMod val="75000"/>
                  <a:lumOff val="25000"/>
                </a:schemeClr>
              </a:buClr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>
              <a:buClr>
                <a:schemeClr val="tx1">
                  <a:lumMod val="75000"/>
                  <a:lumOff val="25000"/>
                </a:schemeClr>
              </a:buClr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>
              <a:buClr>
                <a:schemeClr val="tx1">
                  <a:lumMod val="75000"/>
                  <a:lumOff val="25000"/>
                </a:schemeClr>
              </a:buClr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lvl="0"/>
            <a:endParaRPr lang="zh-TW" altLang="en-US" dirty="0"/>
          </a:p>
        </p:txBody>
      </p:sp>
      <p:pic>
        <p:nvPicPr>
          <p:cNvPr id="11" name="图片 2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0" y="6294758"/>
            <a:ext cx="12192000" cy="563242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slideLayout" Target="../slideLayouts/slideLayout2.xml" /><Relationship Id="rId4" Type="http://schemas.openxmlformats.org/officeDocument/2006/relationships/slideLayout" Target="../slideLayouts/slideLayout5.xml" /><Relationship Id="rId2" Type="http://schemas.openxmlformats.org/officeDocument/2006/relationships/slideLayout" Target="../slideLayouts/slideLayout3.xml" /><Relationship Id="rId10" Type="http://schemas.openxmlformats.org/officeDocument/2006/relationships/slideLayout" Target="../slideLayouts/slideLayout11.xml" /><Relationship Id="rId11" Type="http://schemas.openxmlformats.org/officeDocument/2006/relationships/theme" Target="../theme/theme1.xml" /><Relationship Id="rId3" Type="http://schemas.openxmlformats.org/officeDocument/2006/relationships/slideLayout" Target="../slideLayouts/slideLayout4.xml" /><Relationship Id="rId12" Type="http://schemas.openxmlformats.org/officeDocument/2006/relationships/image" Target="media/image1.png" /><Relationship Id="rId5" Type="http://schemas.openxmlformats.org/officeDocument/2006/relationships/slideLayout" Target="../slideLayouts/slideLayout6.xml" /><Relationship Id="rId6" Type="http://schemas.openxmlformats.org/officeDocument/2006/relationships/slideLayout" Target="../slideLayouts/slideLayout7.xml" /><Relationship Id="rId8" Type="http://schemas.openxmlformats.org/officeDocument/2006/relationships/slideLayout" Target="../slideLayouts/slideLayout9.xml" /><Relationship Id="rId7" Type="http://schemas.openxmlformats.org/officeDocument/2006/relationships/slideLayout" Target="../slideLayouts/slideLayout8.xml" /><Relationship Id="rId9" Type="http://schemas.openxmlformats.org/officeDocument/2006/relationships/slideLayout" Target="../slideLayouts/slideLayout10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2"/>
          <p:cNvPicPr>
            <a:picLocks noChangeAspect="1"/>
          </p:cNvPicPr>
          <p:nvPr userDrawn="1"/>
        </p:nvPicPr>
        <p:blipFill>
          <a:blip r:embed="rId12" cstate="email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0" y="343"/>
            <a:ext cx="12192000" cy="6857657"/>
          </a:xfrm>
          <a:prstGeom prst="rect">
            <a:avLst/>
          </a:prstGeom>
        </p:spPr>
      </p:pic>
      <p:sp>
        <p:nvSpPr>
          <p:cNvPr id="3" name="標題版面配置區 1"/>
          <p:cNvSpPr>
            <a:spLocks noGrp="1"/>
          </p:cNvSpPr>
          <p:nvPr>
            <p:ph type="title"/>
          </p:nvPr>
        </p:nvSpPr>
        <p:spPr bwMode="auto">
          <a:xfrm>
            <a:off x="334434" y="260350"/>
            <a:ext cx="11523133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  <a:endParaRPr/>
          </a:p>
        </p:txBody>
      </p:sp>
      <p:cxnSp>
        <p:nvCxnSpPr>
          <p:cNvPr id="4" name="直线连接符 9"/>
          <p:cNvCxnSpPr/>
          <p:nvPr/>
        </p:nvCxnSpPr>
        <p:spPr>
          <a:xfrm>
            <a:off x="-994833" y="260350"/>
            <a:ext cx="797983" cy="0"/>
          </a:xfrm>
          <a:prstGeom prst="line">
            <a:avLst/>
          </a:prstGeom>
          <a:ln w="317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线连接符 18"/>
          <p:cNvCxnSpPr/>
          <p:nvPr/>
        </p:nvCxnSpPr>
        <p:spPr>
          <a:xfrm>
            <a:off x="-994833" y="6397625"/>
            <a:ext cx="797983" cy="0"/>
          </a:xfrm>
          <a:prstGeom prst="line">
            <a:avLst/>
          </a:prstGeom>
          <a:ln w="317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线连接符 19"/>
          <p:cNvCxnSpPr/>
          <p:nvPr/>
        </p:nvCxnSpPr>
        <p:spPr>
          <a:xfrm>
            <a:off x="6096000" y="-674688"/>
            <a:ext cx="0" cy="503238"/>
          </a:xfrm>
          <a:prstGeom prst="line">
            <a:avLst/>
          </a:prstGeom>
          <a:ln w="317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线连接符 22"/>
          <p:cNvCxnSpPr/>
          <p:nvPr/>
        </p:nvCxnSpPr>
        <p:spPr>
          <a:xfrm>
            <a:off x="6096000" y="7029450"/>
            <a:ext cx="0" cy="503238"/>
          </a:xfrm>
          <a:prstGeom prst="line">
            <a:avLst/>
          </a:prstGeom>
          <a:ln w="317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23"/>
          <p:cNvCxnSpPr/>
          <p:nvPr/>
        </p:nvCxnSpPr>
        <p:spPr>
          <a:xfrm>
            <a:off x="11876617" y="7029450"/>
            <a:ext cx="0" cy="503238"/>
          </a:xfrm>
          <a:prstGeom prst="line">
            <a:avLst/>
          </a:prstGeom>
          <a:ln w="317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18"/>
          <p:cNvCxnSpPr/>
          <p:nvPr/>
        </p:nvCxnSpPr>
        <p:spPr>
          <a:xfrm>
            <a:off x="311151" y="-674688"/>
            <a:ext cx="0" cy="503238"/>
          </a:xfrm>
          <a:prstGeom prst="line">
            <a:avLst/>
          </a:prstGeom>
          <a:ln w="317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线连接符 21"/>
          <p:cNvCxnSpPr/>
          <p:nvPr/>
        </p:nvCxnSpPr>
        <p:spPr>
          <a:xfrm>
            <a:off x="311151" y="7029450"/>
            <a:ext cx="0" cy="503238"/>
          </a:xfrm>
          <a:prstGeom prst="line">
            <a:avLst/>
          </a:prstGeom>
          <a:ln w="317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9012767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b="1">
                <a:solidFill>
                  <a:schemeClr val="bg1"/>
                </a:solidFill>
                <a:latin typeface="+mn-lt"/>
                <a:ea typeface="宋体" charset="0"/>
                <a:cs typeface="宋体" charset="0"/>
              </a:defRPr>
            </a:lvl1pPr>
          </a:lstStyle>
          <a:p>
            <a:pPr/>
            <a:fld id="{586DD0BA-98A2-BB4B-AD49-BF6B8655A976}" type="slidenum">
              <a:rPr kumimoji="1" lang="zh-TW" altLang="en-US" smtClean="0"/>
              <a:t>‹#›</a:t>
            </a:fld>
            <a:endParaRPr kumimoji="1" lang="zh-TW" altLang="en-US" dirty="0"/>
          </a:p>
        </p:txBody>
      </p:sp>
      <p:grpSp>
        <p:nvGrpSpPr>
          <p:cNvPr id="12" name="组 1"/>
          <p:cNvGrpSpPr/>
          <p:nvPr userDrawn="1"/>
        </p:nvGrpSpPr>
        <p:grpSpPr>
          <a:xfrm>
            <a:off x="12256675" y="-606956"/>
            <a:ext cx="659924" cy="6963306"/>
            <a:chOff x="9192506" y="-606956"/>
            <a:chExt cx="494943" cy="6963306"/>
          </a:xfrm>
        </p:grpSpPr>
        <p:cxnSp>
          <p:nvCxnSpPr>
            <p:cNvPr id="13" name="直线连接符 18"/>
            <p:cNvCxnSpPr/>
            <p:nvPr/>
          </p:nvCxnSpPr>
          <p:spPr>
            <a:xfrm>
              <a:off x="9195324" y="-606956"/>
              <a:ext cx="0" cy="503238"/>
            </a:xfrm>
            <a:prstGeom prst="line">
              <a:avLst/>
            </a:prstGeom>
            <a:ln w="3175" cmpd="sng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组 35"/>
            <p:cNvGrpSpPr/>
            <p:nvPr userDrawn="1"/>
          </p:nvGrpSpPr>
          <p:grpSpPr>
            <a:xfrm>
              <a:off x="9195324" y="4660988"/>
              <a:ext cx="492125" cy="1695362"/>
              <a:chOff x="9210675" y="7083548"/>
              <a:chExt cx="492125" cy="2146300"/>
            </a:xfrm>
          </p:grpSpPr>
          <p:sp>
            <p:nvSpPr>
              <p:cNvPr id="15" name="矩形 36"/>
              <p:cNvSpPr/>
              <p:nvPr/>
            </p:nvSpPr>
            <p:spPr bwMode="auto">
              <a:xfrm>
                <a:off x="9210675" y="7083548"/>
                <a:ext cx="492125" cy="698500"/>
              </a:xfrm>
              <a:prstGeom prst="rect">
                <a:avLst/>
              </a:prstGeom>
              <a:solidFill>
                <a:srgbClr val="BEB4B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zh-CN" sz="900" dirty="0">
                    <a:solidFill>
                      <a:schemeClr val="bg2"/>
                    </a:solidFill>
                    <a:latin typeface="Helvetica"/>
                    <a:ea typeface="宋体"/>
                    <a:cs typeface="Helvetica"/>
                  </a:rPr>
                  <a:t>R190 G180 B180</a:t>
                </a:r>
                <a:endParaRPr kumimoji="0" lang="zh-CN" altLang="en-US" sz="900" dirty="0">
                  <a:solidFill>
                    <a:schemeClr val="bg2"/>
                  </a:solidFill>
                  <a:latin typeface="Helvetica"/>
                  <a:ea typeface="宋体"/>
                  <a:cs typeface="Helvetica"/>
                </a:endParaRPr>
              </a:p>
            </p:txBody>
          </p:sp>
          <p:sp>
            <p:nvSpPr>
              <p:cNvPr id="16" name="矩形 37"/>
              <p:cNvSpPr/>
              <p:nvPr/>
            </p:nvSpPr>
            <p:spPr bwMode="auto">
              <a:xfrm>
                <a:off x="9210675" y="7782048"/>
                <a:ext cx="492125" cy="723899"/>
              </a:xfrm>
              <a:prstGeom prst="rect">
                <a:avLst/>
              </a:prstGeom>
              <a:solidFill>
                <a:srgbClr val="6E646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zh-CN" sz="900" dirty="0">
                    <a:solidFill>
                      <a:srgbClr val="FFFFFF"/>
                    </a:solidFill>
                    <a:latin typeface="Helvetica"/>
                    <a:ea typeface="宋体"/>
                    <a:cs typeface="Helvetica"/>
                  </a:rPr>
                  <a:t>R110 G100 B100</a:t>
                </a:r>
                <a:endParaRPr kumimoji="0" lang="zh-CN" altLang="en-US" sz="900" dirty="0">
                  <a:solidFill>
                    <a:srgbClr val="FFFFFF"/>
                  </a:solidFill>
                  <a:latin typeface="Helvetica"/>
                  <a:ea typeface="宋体"/>
                  <a:cs typeface="Helvetica"/>
                </a:endParaRPr>
              </a:p>
            </p:txBody>
          </p:sp>
          <p:sp>
            <p:nvSpPr>
              <p:cNvPr id="17" name="矩形 38"/>
              <p:cNvSpPr/>
              <p:nvPr/>
            </p:nvSpPr>
            <p:spPr bwMode="auto">
              <a:xfrm>
                <a:off x="9210675" y="8505949"/>
                <a:ext cx="492125" cy="723899"/>
              </a:xfrm>
              <a:prstGeom prst="rect">
                <a:avLst/>
              </a:prstGeom>
              <a:solidFill>
                <a:srgbClr val="4141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zh-CN" sz="900" dirty="0">
                    <a:solidFill>
                      <a:schemeClr val="bg1"/>
                    </a:solidFill>
                    <a:latin typeface="Helvetica"/>
                    <a:ea typeface="宋体"/>
                    <a:cs typeface="Helvetica"/>
                  </a:rPr>
                  <a:t>R65 G65 B65</a:t>
                </a:r>
                <a:endParaRPr kumimoji="0" lang="zh-CN" altLang="en-US" sz="900" dirty="0">
                  <a:solidFill>
                    <a:schemeClr val="bg1"/>
                  </a:solidFill>
                  <a:latin typeface="Helvetica"/>
                  <a:ea typeface="宋体"/>
                  <a:cs typeface="Helvetica"/>
                </a:endParaRPr>
              </a:p>
            </p:txBody>
          </p:sp>
        </p:grpSp>
        <p:sp>
          <p:nvSpPr>
            <p:cNvPr id="18" name="矩形 40"/>
            <p:cNvSpPr/>
            <p:nvPr/>
          </p:nvSpPr>
          <p:spPr bwMode="auto">
            <a:xfrm>
              <a:off x="9195324" y="0"/>
              <a:ext cx="492125" cy="584377"/>
            </a:xfrm>
            <a:prstGeom prst="rect">
              <a:avLst/>
            </a:prstGeom>
            <a:solidFill>
              <a:srgbClr val="0A19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900" dirty="0">
                  <a:latin typeface="Helvetica"/>
                  <a:ea typeface="宋体"/>
                  <a:cs typeface="Helvetica"/>
                </a:rPr>
                <a:t>R10 G25 B80</a:t>
              </a:r>
              <a:endParaRPr kumimoji="0" lang="zh-CN" altLang="en-US" sz="900" dirty="0">
                <a:latin typeface="Helvetica"/>
                <a:ea typeface="宋体"/>
                <a:cs typeface="Helvetica"/>
              </a:endParaRPr>
            </a:p>
          </p:txBody>
        </p:sp>
        <p:sp>
          <p:nvSpPr>
            <p:cNvPr id="19" name="矩形 41"/>
            <p:cNvSpPr/>
            <p:nvPr/>
          </p:nvSpPr>
          <p:spPr bwMode="auto">
            <a:xfrm>
              <a:off x="9195324" y="584377"/>
              <a:ext cx="492125" cy="583052"/>
            </a:xfrm>
            <a:prstGeom prst="rect">
              <a:avLst/>
            </a:prstGeom>
            <a:solidFill>
              <a:srgbClr val="05377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900" dirty="0">
                  <a:solidFill>
                    <a:srgbClr val="FFFFFF"/>
                  </a:solidFill>
                  <a:latin typeface="Helvetica"/>
                  <a:ea typeface="宋体"/>
                  <a:cs typeface="Helvetica"/>
                </a:rPr>
                <a:t>R5 G55 B125</a:t>
              </a:r>
              <a:endParaRPr kumimoji="0" lang="zh-CN" altLang="en-US" sz="900" dirty="0">
                <a:solidFill>
                  <a:srgbClr val="FFFFFF"/>
                </a:solidFill>
                <a:latin typeface="Helvetica"/>
                <a:ea typeface="宋体"/>
                <a:cs typeface="Helvetica"/>
              </a:endParaRPr>
            </a:p>
          </p:txBody>
        </p:sp>
        <p:sp>
          <p:nvSpPr>
            <p:cNvPr id="20" name="矩形 42"/>
            <p:cNvSpPr/>
            <p:nvPr/>
          </p:nvSpPr>
          <p:spPr bwMode="auto">
            <a:xfrm>
              <a:off x="9195323" y="1167429"/>
              <a:ext cx="492125" cy="584376"/>
            </a:xfrm>
            <a:prstGeom prst="rect">
              <a:avLst/>
            </a:prstGeom>
            <a:solidFill>
              <a:srgbClr val="0850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900" dirty="0">
                  <a:solidFill>
                    <a:srgbClr val="FFFFFF"/>
                  </a:solidFill>
                  <a:latin typeface="+mn-lt"/>
                  <a:ea typeface="+mn-ea"/>
                  <a:cs typeface="Helvetica"/>
                </a:rPr>
                <a:t>R8 G80</a:t>
              </a:r>
              <a:endParaRPr/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900" dirty="0">
                  <a:solidFill>
                    <a:srgbClr val="FFFFFF"/>
                  </a:solidFill>
                  <a:latin typeface="+mn-lt"/>
                  <a:ea typeface="+mn-ea"/>
                  <a:cs typeface="Helvetica"/>
                </a:rPr>
                <a:t>B180</a:t>
              </a:r>
              <a:endParaRPr kumimoji="0" lang="zh-CN" altLang="en-US" sz="900" dirty="0">
                <a:solidFill>
                  <a:srgbClr val="FFFFFF"/>
                </a:solidFill>
                <a:latin typeface="+mn-lt"/>
                <a:ea typeface="+mn-ea"/>
                <a:cs typeface="Helvetica"/>
              </a:endParaRPr>
            </a:p>
          </p:txBody>
        </p:sp>
        <p:sp>
          <p:nvSpPr>
            <p:cNvPr id="21" name="矩形 43"/>
            <p:cNvSpPr/>
            <p:nvPr/>
          </p:nvSpPr>
          <p:spPr bwMode="auto">
            <a:xfrm>
              <a:off x="9195324" y="3492236"/>
              <a:ext cx="492125" cy="584377"/>
            </a:xfrm>
            <a:prstGeom prst="rect">
              <a:avLst/>
            </a:prstGeom>
            <a:solidFill>
              <a:srgbClr val="AB05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900" dirty="0">
                  <a:solidFill>
                    <a:srgbClr val="FFFFFF"/>
                  </a:solidFill>
                  <a:latin typeface="Helvetica"/>
                  <a:ea typeface="宋体"/>
                  <a:cs typeface="Helvetica"/>
                </a:rPr>
                <a:t>R170 G5 B30</a:t>
              </a:r>
              <a:endParaRPr kumimoji="0" lang="zh-CN" altLang="en-US" sz="900" dirty="0">
                <a:solidFill>
                  <a:srgbClr val="FFFFFF"/>
                </a:solidFill>
                <a:latin typeface="Helvetica"/>
                <a:ea typeface="宋体"/>
                <a:cs typeface="Helvetica"/>
              </a:endParaRPr>
            </a:p>
          </p:txBody>
        </p:sp>
        <p:sp>
          <p:nvSpPr>
            <p:cNvPr id="22" name="矩形 44"/>
            <p:cNvSpPr/>
            <p:nvPr/>
          </p:nvSpPr>
          <p:spPr bwMode="auto">
            <a:xfrm>
              <a:off x="9195324" y="4076613"/>
              <a:ext cx="492125" cy="584376"/>
            </a:xfrm>
            <a:prstGeom prst="rect">
              <a:avLst/>
            </a:prstGeom>
            <a:solidFill>
              <a:srgbClr val="E6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900" dirty="0">
                  <a:solidFill>
                    <a:srgbClr val="FFFFFF"/>
                  </a:solidFill>
                  <a:latin typeface="Helvetica"/>
                  <a:ea typeface="宋体"/>
                  <a:cs typeface="Helvetica"/>
                </a:rPr>
                <a:t>R230 </a:t>
              </a:r>
              <a:r>
                <a:rPr kumimoji="0" lang="en-US" altLang="zh-CN" sz="900" dirty="0">
                  <a:cs typeface="Helvetica"/>
                </a:rPr>
                <a:t>G0</a:t>
              </a:r>
              <a:endParaRPr/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900" dirty="0">
                  <a:solidFill>
                    <a:srgbClr val="FFFFFF"/>
                  </a:solidFill>
                  <a:latin typeface="Helvetica"/>
                  <a:ea typeface="宋体"/>
                  <a:cs typeface="Helvetica"/>
                </a:rPr>
                <a:t>B0</a:t>
              </a:r>
              <a:endParaRPr kumimoji="0" lang="zh-CN" altLang="en-US" sz="900" dirty="0">
                <a:solidFill>
                  <a:srgbClr val="FFFFFF"/>
                </a:solidFill>
                <a:latin typeface="Helvetica"/>
                <a:ea typeface="宋体"/>
                <a:cs typeface="Helvetica"/>
              </a:endParaRPr>
            </a:p>
          </p:txBody>
        </p:sp>
        <p:sp>
          <p:nvSpPr>
            <p:cNvPr id="23" name="矩形 45"/>
            <p:cNvSpPr/>
            <p:nvPr userDrawn="1"/>
          </p:nvSpPr>
          <p:spPr bwMode="auto">
            <a:xfrm>
              <a:off x="9195322" y="1751805"/>
              <a:ext cx="492125" cy="584376"/>
            </a:xfrm>
            <a:prstGeom prst="rect">
              <a:avLst/>
            </a:prstGeom>
            <a:solidFill>
              <a:srgbClr val="0F6E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900" dirty="0">
                  <a:solidFill>
                    <a:srgbClr val="FFFFFF"/>
                  </a:solidFill>
                  <a:latin typeface="Helvetica"/>
                  <a:ea typeface="宋体"/>
                  <a:cs typeface="Helvetica"/>
                </a:rPr>
                <a:t>R15 </a:t>
              </a:r>
              <a:r>
                <a:rPr kumimoji="0" lang="en-US" altLang="zh-CN" sz="900" dirty="0">
                  <a:cs typeface="Helvetica"/>
                </a:rPr>
                <a:t>G110</a:t>
              </a:r>
              <a:r>
                <a:rPr kumimoji="0" lang="en-US" altLang="zh-CN" sz="900" dirty="0">
                  <a:solidFill>
                    <a:srgbClr val="FFFFFF"/>
                  </a:solidFill>
                  <a:latin typeface="Helvetica"/>
                  <a:ea typeface="宋体"/>
                  <a:cs typeface="Helvetica"/>
                </a:rPr>
                <a:t>B240</a:t>
              </a:r>
              <a:endParaRPr kumimoji="0" lang="zh-CN" altLang="en-US" sz="900" dirty="0">
                <a:solidFill>
                  <a:srgbClr val="FFFFFF"/>
                </a:solidFill>
                <a:latin typeface="Helvetica"/>
                <a:ea typeface="宋体"/>
                <a:cs typeface="Helvetica"/>
              </a:endParaRPr>
            </a:p>
          </p:txBody>
        </p:sp>
        <p:sp>
          <p:nvSpPr>
            <p:cNvPr id="24" name="矩形 46"/>
            <p:cNvSpPr/>
            <p:nvPr userDrawn="1"/>
          </p:nvSpPr>
          <p:spPr bwMode="auto">
            <a:xfrm>
              <a:off x="9195321" y="2336181"/>
              <a:ext cx="492125" cy="584376"/>
            </a:xfrm>
            <a:prstGeom prst="rect">
              <a:avLst/>
            </a:prstGeom>
            <a:solidFill>
              <a:srgbClr val="78AA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900" dirty="0">
                  <a:solidFill>
                    <a:srgbClr val="FFFFFF"/>
                  </a:solidFill>
                  <a:latin typeface="Helvetica"/>
                  <a:ea typeface="宋体"/>
                  <a:cs typeface="Helvetica"/>
                </a:rPr>
                <a:t>R120 </a:t>
              </a:r>
              <a:r>
                <a:rPr kumimoji="0" lang="en-US" altLang="zh-CN" sz="900" dirty="0">
                  <a:cs typeface="Helvetica"/>
                </a:rPr>
                <a:t>G170</a:t>
              </a:r>
              <a:r>
                <a:rPr kumimoji="0" lang="en-US" altLang="zh-CN" sz="900" dirty="0">
                  <a:solidFill>
                    <a:srgbClr val="FFFFFF"/>
                  </a:solidFill>
                  <a:latin typeface="Helvetica"/>
                  <a:ea typeface="宋体"/>
                  <a:cs typeface="Helvetica"/>
                </a:rPr>
                <a:t>B245</a:t>
              </a:r>
              <a:endParaRPr kumimoji="0" lang="zh-CN" altLang="en-US" sz="900" dirty="0">
                <a:solidFill>
                  <a:srgbClr val="FFFFFF"/>
                </a:solidFill>
                <a:latin typeface="Helvetica"/>
                <a:ea typeface="宋体"/>
                <a:cs typeface="Helvetica"/>
              </a:endParaRPr>
            </a:p>
          </p:txBody>
        </p:sp>
        <p:sp>
          <p:nvSpPr>
            <p:cNvPr id="25" name="矩形 47"/>
            <p:cNvSpPr/>
            <p:nvPr userDrawn="1"/>
          </p:nvSpPr>
          <p:spPr bwMode="auto">
            <a:xfrm>
              <a:off x="9192506" y="2920557"/>
              <a:ext cx="492125" cy="584376"/>
            </a:xfrm>
            <a:prstGeom prst="rect">
              <a:avLst/>
            </a:prstGeom>
            <a:solidFill>
              <a:srgbClr val="C8DC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900" dirty="0">
                  <a:solidFill>
                    <a:srgbClr val="FFFFFF"/>
                  </a:solidFill>
                  <a:latin typeface="Helvetica"/>
                  <a:ea typeface="宋体"/>
                  <a:cs typeface="Helvetica"/>
                </a:rPr>
                <a:t>R200 </a:t>
              </a:r>
              <a:r>
                <a:rPr kumimoji="0" lang="en-US" altLang="zh-CN" sz="900" dirty="0">
                  <a:cs typeface="Helvetica"/>
                </a:rPr>
                <a:t>G220</a:t>
              </a:r>
              <a:endParaRPr/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900" dirty="0">
                  <a:solidFill>
                    <a:srgbClr val="FFFFFF"/>
                  </a:solidFill>
                  <a:latin typeface="Helvetica"/>
                  <a:ea typeface="宋体"/>
                  <a:cs typeface="Helvetica"/>
                </a:rPr>
                <a:t>B250</a:t>
              </a:r>
              <a:endParaRPr kumimoji="0" lang="zh-CN" altLang="en-US" sz="900" dirty="0">
                <a:solidFill>
                  <a:srgbClr val="FFFFFF"/>
                </a:solidFill>
                <a:latin typeface="Helvetica"/>
                <a:ea typeface="宋体"/>
                <a:cs typeface="Helvetica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ransition spd="med">
    <p:fade/>
  </p:transition>
  <p:txStyles>
    <p:titleStyle>
      <a:lvl1pPr algn="l" defTabSz="457200" rtl="0" eaLnBrk="1" fontAlgn="base" hangingPunct="1">
        <a:spcBef>
          <a:spcPct val="1"/>
        </a:spcBef>
        <a:spcAft>
          <a:spcPct val="1"/>
        </a:spcAft>
        <a:defRPr sz="2400" b="0" kern="1200">
          <a:solidFill>
            <a:srgbClr val="E60000"/>
          </a:solidFill>
          <a:latin typeface="微软雅黑"/>
          <a:ea typeface="微软雅黑"/>
          <a:cs typeface="微软雅黑"/>
        </a:defRPr>
      </a:lvl1pPr>
      <a:lvl2pPr algn="l" defTabSz="457200" rtl="0" eaLnBrk="1" fontAlgn="base" hangingPunct="1">
        <a:spcBef>
          <a:spcPct val="1"/>
        </a:spcBef>
        <a:spcAft>
          <a:spcPct val="1"/>
        </a:spcAft>
        <a:defRPr sz="2400" b="1">
          <a:solidFill>
            <a:srgbClr val="328200"/>
          </a:solidFill>
          <a:latin typeface="Helvetica" charset="0"/>
          <a:ea typeface="宋体" charset="0"/>
          <a:cs typeface="宋体" charset="0"/>
        </a:defRPr>
      </a:lvl2pPr>
      <a:lvl3pPr algn="l" defTabSz="457200" rtl="0" eaLnBrk="1" fontAlgn="base" hangingPunct="1">
        <a:spcBef>
          <a:spcPct val="1"/>
        </a:spcBef>
        <a:spcAft>
          <a:spcPct val="1"/>
        </a:spcAft>
        <a:defRPr sz="2400" b="1">
          <a:solidFill>
            <a:srgbClr val="328200"/>
          </a:solidFill>
          <a:latin typeface="Helvetica" charset="0"/>
          <a:ea typeface="宋体" charset="0"/>
          <a:cs typeface="宋体" charset="0"/>
        </a:defRPr>
      </a:lvl3pPr>
      <a:lvl4pPr algn="l" defTabSz="457200" rtl="0" eaLnBrk="1" fontAlgn="base" hangingPunct="1">
        <a:spcBef>
          <a:spcPct val="1"/>
        </a:spcBef>
        <a:spcAft>
          <a:spcPct val="1"/>
        </a:spcAft>
        <a:defRPr sz="2400" b="1">
          <a:solidFill>
            <a:srgbClr val="328200"/>
          </a:solidFill>
          <a:latin typeface="Helvetica" charset="0"/>
          <a:ea typeface="宋体" charset="0"/>
          <a:cs typeface="宋体" charset="0"/>
        </a:defRPr>
      </a:lvl4pPr>
      <a:lvl5pPr algn="l" defTabSz="457200" rtl="0" eaLnBrk="1" fontAlgn="base" hangingPunct="1">
        <a:spcBef>
          <a:spcPct val="1"/>
        </a:spcBef>
        <a:spcAft>
          <a:spcPct val="1"/>
        </a:spcAft>
        <a:defRPr sz="2400" b="1">
          <a:solidFill>
            <a:srgbClr val="328200"/>
          </a:solidFill>
          <a:latin typeface="Helvetica" charset="0"/>
          <a:ea typeface="宋体" charset="0"/>
          <a:cs typeface="宋体" charset="0"/>
        </a:defRPr>
      </a:lvl5pPr>
      <a:lvl6pPr marL="457200" algn="l" defTabSz="457200" rtl="0" eaLnBrk="1" fontAlgn="base" hangingPunct="1">
        <a:spcBef>
          <a:spcPct val="1"/>
        </a:spcBef>
        <a:spcAft>
          <a:spcPct val="1"/>
        </a:spcAft>
        <a:defRPr sz="2400" b="1">
          <a:solidFill>
            <a:srgbClr val="328200"/>
          </a:solidFill>
          <a:latin typeface="Helvetica" charset="0"/>
          <a:ea typeface="宋体" charset="0"/>
          <a:cs typeface="宋体" charset="0"/>
        </a:defRPr>
      </a:lvl6pPr>
      <a:lvl7pPr marL="914400" algn="l" defTabSz="457200" rtl="0" eaLnBrk="1" fontAlgn="base" hangingPunct="1">
        <a:spcBef>
          <a:spcPct val="1"/>
        </a:spcBef>
        <a:spcAft>
          <a:spcPct val="1"/>
        </a:spcAft>
        <a:defRPr sz="2400" b="1">
          <a:solidFill>
            <a:srgbClr val="328200"/>
          </a:solidFill>
          <a:latin typeface="Helvetica" charset="0"/>
          <a:ea typeface="宋体" charset="0"/>
          <a:cs typeface="宋体" charset="0"/>
        </a:defRPr>
      </a:lvl7pPr>
      <a:lvl8pPr marL="1371600" algn="l" defTabSz="457200" rtl="0" eaLnBrk="1" fontAlgn="base" hangingPunct="1">
        <a:spcBef>
          <a:spcPct val="1"/>
        </a:spcBef>
        <a:spcAft>
          <a:spcPct val="1"/>
        </a:spcAft>
        <a:defRPr sz="2400" b="1">
          <a:solidFill>
            <a:srgbClr val="328200"/>
          </a:solidFill>
          <a:latin typeface="Helvetica" charset="0"/>
          <a:ea typeface="宋体" charset="0"/>
          <a:cs typeface="宋体" charset="0"/>
        </a:defRPr>
      </a:lvl8pPr>
      <a:lvl9pPr marL="1828800" algn="l" defTabSz="457200" rtl="0" eaLnBrk="1" fontAlgn="base" hangingPunct="1">
        <a:spcBef>
          <a:spcPct val="1"/>
        </a:spcBef>
        <a:spcAft>
          <a:spcPct val="1"/>
        </a:spcAft>
        <a:defRPr sz="2400" b="1">
          <a:solidFill>
            <a:srgbClr val="328200"/>
          </a:solidFill>
          <a:latin typeface="Helvetica" charset="0"/>
          <a:ea typeface="宋体" charset="0"/>
          <a:cs typeface="宋体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1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新細明體" charset="0"/>
          <a:cs typeface="宋体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1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宋体" charset="0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1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宋体" charset="0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1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宋体" charset="0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1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宋体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0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8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9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4.xml" /><Relationship Id="rId1" Type="http://schemas.openxmlformats.org/officeDocument/2006/relationships/image" Target="media/image16.pn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9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9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4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4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4.xml" /><Relationship Id="rId1" Type="http://schemas.openxmlformats.org/officeDocument/2006/relationships/image" Target="media/image8.png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4.xml" /><Relationship Id="rId1" Type="http://schemas.openxmlformats.org/officeDocument/2006/relationships/image" Target="media/image9.png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9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10.png" /><Relationship Id="rId0" Type="http://schemas.openxmlformats.org/officeDocument/2006/relationships/slideLayout" Target="../slideLayouts/slideLayout4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4.xml" 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9.xml" 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4.xml" /><Relationship Id="rId1" Type="http://schemas.openxmlformats.org/officeDocument/2006/relationships/image" Target="media/image11.png" 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9.xml" 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4.xml" /><Relationship Id="rId1" Type="http://schemas.openxmlformats.org/officeDocument/2006/relationships/image" Target="media/image12.png" /></Relationships>
</file>

<file path=ppt/slides/_rels/slide2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4.xml" /><Relationship Id="rId1" Type="http://schemas.openxmlformats.org/officeDocument/2006/relationships/image" Target="media/image13.png" /></Relationships>
</file>

<file path=ppt/slides/_rels/slide2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2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9.xml" /></Relationships>
</file>

<file path=ppt/slides/_rels/slide2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4.xml" /></Relationships>
</file>

<file path=ppt/slides/_rels/slide3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4.xml" /><Relationship Id="rId1" Type="http://schemas.openxmlformats.org/officeDocument/2006/relationships/image" Target="media/image14.png" /></Relationships>
</file>

<file path=ppt/slides/_rels/slide3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3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4.xml" /></Relationships>
</file>

<file path=ppt/slides/_rels/slide3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9.xml" /></Relationships>
</file>

<file path=ppt/slides/_rels/slide3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4.xml" /><Relationship Id="rId1" Type="http://schemas.openxmlformats.org/officeDocument/2006/relationships/image" Target="media/image15.png" /></Relationships>
</file>

<file path=ppt/slides/_rels/slide3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3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3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3800" b="1">
                <a:solidFill>
                  <a:srgbClr val="002D50"/>
                </a:solidFill>
                <a:latin typeface="微软雅黑"/>
                <a:ea typeface="微软雅黑"/>
              </a:rPr>
              <a:t>前沿技术专题研究报告——合成数据（Synthetic Data）</a:t>
            </a:r>
            <a:endParaRPr/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面向银行科技条线的技术成熟度评估与处置建议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C8C8C"/>
                </a:solidFill>
                <a:latin typeface="微软雅黑"/>
                <a:ea typeface="微软雅黑"/>
              </a:rPr>
              <a:t>Technical Maturity Assessment &amp; Strategic Recommendation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</a:rPr>
              <a:t>V4.3 / 2026-09</a:t>
            </a: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</a:rPr>
              <a:t>汇报对象：银行科技条线决策层</a:t>
            </a: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</a:rPr>
              <a:t>汇报人：前沿课题研究组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02D50"/>
                </a:solidFill>
                <a:latin typeface="微软雅黑"/>
                <a:ea typeface="微软雅黑"/>
              </a:rPr>
              <a:t>目录 CONTENTS</a:t>
            </a:r>
            <a:endParaRPr/>
          </a:p>
        </p:txBody>
      </p:sp>
      <p:sp>
        <p:nvSpPr>
          <p:cNvPr id="49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FF6400"/>
                </a:solidFill>
                <a:latin typeface="微软雅黑"/>
                <a:ea typeface="微软雅黑"/>
              </a:rPr>
              <a:t>01  </a:t>
            </a:r>
            <a:r>
              <a:rPr sz="1500" b="0">
                <a:solidFill>
                  <a:srgbClr val="404040"/>
                </a:solidFill>
                <a:latin typeface="微软雅黑"/>
                <a:ea typeface="微软雅黑"/>
              </a:rPr>
              <a:t>执行摘要与核心结论</a:t>
            </a:r>
            <a:endParaRPr/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FF6400"/>
                </a:solidFill>
                <a:latin typeface="微软雅黑"/>
                <a:ea typeface="微软雅黑"/>
              </a:rPr>
              <a:t>02  </a:t>
            </a:r>
            <a:r>
              <a:rPr sz="1500" b="0">
                <a:solidFill>
                  <a:srgbClr val="404040"/>
                </a:solidFill>
                <a:latin typeface="微软雅黑"/>
                <a:ea typeface="微软雅黑"/>
              </a:rPr>
              <a:t>背景与银行数据供给痛点</a:t>
            </a:r>
            <a:endParaRPr/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FF6400"/>
                </a:solidFill>
                <a:latin typeface="微软雅黑"/>
                <a:ea typeface="微软雅黑"/>
              </a:rPr>
              <a:t>03  </a:t>
            </a:r>
            <a:r>
              <a:rPr sz="1500" b="0">
                <a:solidFill>
                  <a:srgbClr val="404040"/>
                </a:solidFill>
                <a:latin typeface="微软雅黑"/>
                <a:ea typeface="微软雅黑"/>
              </a:rPr>
              <a:t>技术解析与成熟度评级</a:t>
            </a:r>
            <a:endParaRPr/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FF6400"/>
                </a:solidFill>
                <a:latin typeface="微软雅黑"/>
                <a:ea typeface="微软雅黑"/>
              </a:rPr>
              <a:t>04  </a:t>
            </a:r>
            <a:r>
              <a:rPr sz="1500" b="0">
                <a:solidFill>
                  <a:srgbClr val="404040"/>
                </a:solidFill>
                <a:latin typeface="微软雅黑"/>
                <a:ea typeface="微软雅黑"/>
              </a:rPr>
              <a:t>应用场景与价值实证</a:t>
            </a:r>
            <a:endParaRPr/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FF6400"/>
                </a:solidFill>
                <a:latin typeface="微软雅黑"/>
                <a:ea typeface="微软雅黑"/>
              </a:rPr>
              <a:t>05  </a:t>
            </a:r>
            <a:r>
              <a:rPr sz="1500" b="0">
                <a:solidFill>
                  <a:srgbClr val="404040"/>
                </a:solidFill>
                <a:latin typeface="微软雅黑"/>
                <a:ea typeface="微软雅黑"/>
              </a:rPr>
              <a:t>风险与合规红线</a:t>
            </a:r>
            <a:endParaRPr/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FF6400"/>
                </a:solidFill>
                <a:latin typeface="微软雅黑"/>
                <a:ea typeface="微软雅黑"/>
              </a:rPr>
              <a:t>06  </a:t>
            </a:r>
            <a:r>
              <a:rPr sz="1500" b="0">
                <a:solidFill>
                  <a:srgbClr val="404040"/>
                </a:solidFill>
                <a:latin typeface="微软雅黑"/>
                <a:ea typeface="微软雅黑"/>
              </a:rPr>
              <a:t>市场格局与竞争生态</a:t>
            </a:r>
            <a:endParaRPr/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FF6400"/>
                </a:solidFill>
                <a:latin typeface="微软雅黑"/>
                <a:ea typeface="微软雅黑"/>
              </a:rPr>
              <a:t>07  </a:t>
            </a:r>
            <a:r>
              <a:rPr sz="1500" b="0">
                <a:solidFill>
                  <a:srgbClr val="404040"/>
                </a:solidFill>
                <a:latin typeface="微软雅黑"/>
                <a:ea typeface="微软雅黑"/>
              </a:rPr>
              <a:t>战略匹配与六维评级</a:t>
            </a:r>
            <a:endParaRPr/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FF6400"/>
                </a:solidFill>
                <a:latin typeface="微软雅黑"/>
                <a:ea typeface="微软雅黑"/>
              </a:rPr>
              <a:t>08  </a:t>
            </a:r>
            <a:r>
              <a:rPr sz="1500" b="0">
                <a:solidFill>
                  <a:srgbClr val="404040"/>
                </a:solidFill>
                <a:latin typeface="微软雅黑"/>
                <a:ea typeface="微软雅黑"/>
              </a:rPr>
              <a:t>分阶段实施路线图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3400" b="1">
                <a:solidFill>
                  <a:srgbClr val="FFFFFF"/>
                </a:solidFill>
                <a:latin typeface="微软雅黑"/>
                <a:ea typeface="微软雅黑"/>
              </a:rPr>
              <a:t>执行摘要与核心结论</a:t>
            </a:r>
            <a:endParaRPr/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CCD6E2"/>
                </a:solidFill>
                <a:latin typeface="微软雅黑"/>
                <a:ea typeface="微软雅黑"/>
              </a:rPr>
              <a:t>技术成熟度 3 分 | 战略匹配 3 分 | 价值贡献 3 分 | 处置档位：深入研究</a:t>
            </a:r>
            <a:endParaRPr/>
          </a:p>
        </p:txBody>
      </p:sp>
      <p:sp>
        <p:nvSpPr>
          <p:cNvPr id="100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6400"/>
                </a:solidFill>
                <a:latin typeface="微软雅黑"/>
                <a:ea typeface="微软雅黑"/>
              </a:rPr>
              <a:t>01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02D50"/>
                </a:solidFill>
                <a:latin typeface="微软雅黑"/>
                <a:ea typeface="微软雅黑"/>
              </a:rPr>
              <a:t>执行摘要：六维评级一览（雷达图）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C8C8C"/>
                </a:solidFill>
                <a:latin typeface="微软雅黑"/>
                <a:ea typeface="微软雅黑"/>
              </a:rPr>
              <a:t>各维度分值与覆盖要点</a:t>
            </a:r>
            <a:endParaRPr/>
          </a:p>
        </p:txBody>
      </p:sp>
      <p:pic>
        <p:nvPicPr>
          <p:cNvPr id="145" name="Picture 2" descr="image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" y="1325880"/>
            <a:ext cx="5120640" cy="4023360"/>
          </a:xfrm>
          <a:prstGeom prst="rect">
            <a:avLst/>
          </a:prstGeom>
        </p:spPr>
      </p:pic>
      <p:sp>
        <p:nvSpPr>
          <p:cNvPr id="146" name="TextBox 3"/>
          <p:cNvSpPr txBox="1"/>
          <p:nvPr/>
        </p:nvSpPr>
        <p:spPr>
          <a:xfrm>
            <a:off x="338328" y="5394960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C8C8C"/>
                </a:solidFill>
                <a:latin typeface="微软雅黑"/>
                <a:ea typeface="微软雅黑"/>
              </a:rPr>
              <a:t>图 1.1　合成数据六维评估雷达（1—5 分）</a:t>
            </a:r>
            <a:endParaRPr/>
          </a:p>
        </p:txBody>
      </p:sp>
      <p:sp>
        <p:nvSpPr>
          <p:cNvPr id="147" name="TextBox 4"/>
          <p:cNvSpPr txBox="1"/>
          <p:nvPr/>
        </p:nvSpPr>
        <p:spPr>
          <a:xfrm>
            <a:off x="5641848" y="1325880"/>
            <a:ext cx="6217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02D50"/>
                </a:solidFill>
                <a:latin typeface="微软雅黑"/>
                <a:ea typeface="微软雅黑"/>
              </a:rPr>
              <a:t>**关键读法**</a:t>
            </a:r>
            <a:endParaRPr/>
          </a:p>
        </p:txBody>
      </p:sp>
      <p:sp>
        <p:nvSpPr>
          <p:cNvPr id="148" name="TextBox 5"/>
          <p:cNvSpPr txBox="1"/>
          <p:nvPr/>
        </p:nvSpPr>
        <p:spPr>
          <a:xfrm>
            <a:off x="5641848" y="1691640"/>
            <a:ext cx="6217920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/>
            <a:endParaRPr/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FF6400"/>
                </a:solidFill>
                <a:latin typeface="微软雅黑"/>
                <a:ea typeface="微软雅黑"/>
              </a:rPr>
              <a:t>▪  </a:t>
            </a:r>
            <a:r>
              <a:rPr sz="1100" b="1">
                <a:solidFill>
                  <a:srgbClr val="002D50"/>
                </a:solidFill>
                <a:latin typeface="微软雅黑"/>
                <a:ea typeface="微软雅黑"/>
              </a:rPr>
              <a:t>六维均为 3 分，仅「生态开放度」为 4 分</a:t>
            </a: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——技术不成熟是主要短板，生态可缓解</a:t>
            </a:r>
            <a:endParaRPr/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FF6400"/>
                </a:solidFill>
                <a:latin typeface="微软雅黑"/>
                <a:ea typeface="微软雅黑"/>
              </a:rPr>
              <a:t>▪  </a:t>
            </a: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处置档位为</a:t>
            </a:r>
            <a:r>
              <a:rPr sz="1100" b="1">
                <a:solidFill>
                  <a:srgbClr val="002D50"/>
                </a:solidFill>
                <a:latin typeface="微软雅黑"/>
                <a:ea typeface="微软雅黑"/>
              </a:rPr>
              <a:t>「深入研究（研究层）」</a:t>
            </a: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，而非「试点」或「规模引入」</a:t>
            </a:r>
            <a:endParaRPr/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FF6400"/>
                </a:solidFill>
                <a:latin typeface="微软雅黑"/>
                <a:ea typeface="微软雅黑"/>
              </a:rPr>
              <a:t>▪  </a:t>
            </a: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建议</a:t>
            </a:r>
            <a:r>
              <a:rPr sz="1100" b="1">
                <a:solidFill>
                  <a:srgbClr val="002D50"/>
                </a:solidFill>
                <a:latin typeface="微软雅黑"/>
                <a:ea typeface="微软雅黑"/>
              </a:rPr>
              <a:t>先以小颗粒度 POC 沉淀方法论</a:t>
            </a: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，再依窗口期信号复评升级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lnSpc>
                <a:spcPct val="120000"/>
              </a:lnSpc>
              <a:spcAft>
                <a:spcPts val="9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4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围绕「能不能用、何处用、谁来用、风险谁担」四条主线得出以下结论：</a:t>
            </a:r>
            <a:endParaRPr/>
          </a:p>
          <a:p>
            <a:pPr algn="l">
              <a:lnSpc>
                <a:spcPct val="120000"/>
              </a:lnSpc>
              <a:spcAft>
                <a:spcPts val="9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300" b="1">
                <a:solidFill>
                  <a:srgbClr val="0064A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结论一</a:t>
            </a:r>
            <a:r>
              <a:rPr sz="13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：技术成熟度为 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3 分</a:t>
            </a:r>
            <a:r>
              <a:rPr sz="13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——通用工具链成熟、银行表格合成域仍处有限试点、标准未成</a:t>
            </a:r>
            <a:endParaRPr/>
          </a:p>
          <a:p>
            <a:pPr>
              <a:lnSpc>
                <a:spcPct val="120000"/>
              </a:lnSpc>
              <a:spcAft>
                <a:spcPts val="9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300" b="1">
                <a:solidFill>
                  <a:srgbClr val="0064A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结论二</a:t>
            </a:r>
            <a:r>
              <a:rPr sz="13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：银行场景优先级为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「测试数据生成 ＞ 风控/反欺诈增强 ＞ 数据共享 ＞ 大模型语料」</a:t>
            </a:r>
            <a:endParaRPr/>
          </a:p>
          <a:p>
            <a:pPr>
              <a:lnSpc>
                <a:spcPct val="120000"/>
              </a:lnSpc>
              <a:spcAft>
                <a:spcPts val="9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300" b="1">
                <a:solidFill>
                  <a:srgbClr val="0064A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结论三</a:t>
            </a:r>
            <a:r>
              <a:rPr sz="13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合成数据并不天然隐私安全</a:t>
            </a:r>
            <a:r>
              <a:rPr sz="13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——不得默认「合成即匿名」</a:t>
            </a:r>
            <a:endParaRPr/>
          </a:p>
          <a:p>
            <a:pPr>
              <a:lnSpc>
                <a:spcPct val="120000"/>
              </a:lnSpc>
              <a:spcAft>
                <a:spcPts val="9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300" b="1">
                <a:solidFill>
                  <a:srgbClr val="0064A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结论四</a:t>
            </a:r>
            <a:r>
              <a:rPr sz="13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风险与合规</a:t>
            </a:r>
            <a:r>
              <a:rPr sz="13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是首要约束——个人信息保护法、数据安全法、金发〔2026〕8 号构成合规红线</a:t>
            </a:r>
            <a:endParaRPr/>
          </a:p>
          <a:p>
            <a:pPr>
              <a:lnSpc>
                <a:spcPct val="120000"/>
              </a:lnSpc>
              <a:spcAft>
                <a:spcPts val="9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300" b="1">
                <a:solidFill>
                  <a:srgbClr val="0064A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结论五</a:t>
            </a:r>
            <a:r>
              <a:rPr sz="13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同业以研究/试点为主</a:t>
            </a:r>
            <a:r>
              <a:rPr sz="13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，尚未规模化；先验证者可沉淀评测与治理先发能力</a:t>
            </a:r>
            <a:endParaRPr/>
          </a:p>
          <a:p>
            <a:pPr>
              <a:lnSpc>
                <a:spcPct val="120000"/>
              </a:lnSpc>
              <a:spcAft>
                <a:spcPts val="9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300" b="1">
                <a:solidFill>
                  <a:srgbClr val="0064A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结论六</a:t>
            </a:r>
            <a:r>
              <a:rPr sz="13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：处置档位建议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「深入研究（研究层）」</a:t>
            </a:r>
            <a:r>
              <a:rPr sz="13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——以可中止的 POC 控制下行风险</a:t>
            </a:r>
            <a:endParaRPr/>
          </a:p>
          <a:p>
            <a:pPr algn="l">
              <a:spcBef>
                <a:spcPts val="800"/>
              </a:spcBef>
              <a:spcAft>
                <a:spcPts val="6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000" b="0">
                <a:solidFill>
                  <a:srgbClr val="8C8C8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数据来源：执行摘要章节。处置档位推导依据六维评级组合判定，非加权平均。</a:t>
            </a:r>
            <a:endParaRPr/>
          </a:p>
        </p:txBody>
      </p:sp>
      <p:sp>
        <p:nvSpPr>
          <p:cNvPr id="151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02D50"/>
                </a:solidFill>
                <a:latin typeface="微软雅黑"/>
                <a:ea typeface="微软雅黑"/>
              </a:rPr>
              <a:t>核心结论与价值定位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C8C8C"/>
                </a:solidFill>
                <a:latin typeface="微软雅黑"/>
                <a:ea typeface="微软雅黑"/>
              </a:rPr>
              <a:t>决策层最关心的 6 条结论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3400" b="1">
                <a:solidFill>
                  <a:srgbClr val="FFFFFF"/>
                </a:solidFill>
                <a:latin typeface="微软雅黑"/>
                <a:ea typeface="微软雅黑"/>
              </a:rPr>
              <a:t>背景与银行数据供给痛点</a:t>
            </a:r>
            <a:endParaRPr/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CCD6E2"/>
                </a:solidFill>
                <a:latin typeface="微软雅黑"/>
                <a:ea typeface="微软雅黑"/>
              </a:rPr>
              <a:t>数据供给四类失效机制 + 合成数据为何在当下重新被关注</a:t>
            </a:r>
            <a:endParaRPr/>
          </a:p>
        </p:txBody>
      </p:sp>
      <p:sp>
        <p:nvSpPr>
          <p:cNvPr id="154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6400"/>
                </a:solidFill>
                <a:latin typeface="微软雅黑"/>
                <a:ea typeface="微软雅黑"/>
              </a:rPr>
              <a:t>02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lnSpc>
                <a:spcPct val="120000"/>
              </a:lnSpc>
              <a:spcAft>
                <a:spcPts val="9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4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生成式 AI 浪潮 + 数据合规收紧 + 数据资产化诉求 三股力量同时到达。</a:t>
            </a:r>
            <a:endParaRPr/>
          </a:p>
          <a:p>
            <a:pPr algn="l">
              <a:lnSpc>
                <a:spcPct val="120000"/>
              </a:lnSpc>
              <a:spcAft>
                <a:spcPts val="9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300" b="1">
                <a:solidFill>
                  <a:srgbClr val="0064A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生成式 AI 语料饥渴</a:t>
            </a:r>
            <a:r>
              <a:rPr sz="13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：LLM 训练/评测对高质量、结构化样本的需求外溢到行业数据集</a:t>
            </a:r>
            <a:endParaRPr/>
          </a:p>
          <a:p>
            <a:pPr>
              <a:lnSpc>
                <a:spcPct val="120000"/>
              </a:lnSpc>
              <a:spcAft>
                <a:spcPts val="9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300" b="1">
                <a:solidFill>
                  <a:srgbClr val="0064A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数据合规收紧</a:t>
            </a:r>
            <a:r>
              <a:rPr sz="13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：个人信息保护法、数据安全法、金发〔2026〕8 号对真实数据使用持续加压</a:t>
            </a:r>
            <a:endParaRPr/>
          </a:p>
          <a:p>
            <a:pPr>
              <a:lnSpc>
                <a:spcPct val="120000"/>
              </a:lnSpc>
              <a:spcAft>
                <a:spcPts val="9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300" b="1">
                <a:solidFill>
                  <a:srgbClr val="0064A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数据资产化</a:t>
            </a:r>
            <a:r>
              <a:rPr sz="13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：银行把数据视为「生产要素」——必须给出可流转、可共享、可审计的供给方案</a:t>
            </a:r>
            <a:endParaRPr/>
          </a:p>
          <a:p>
            <a:pPr>
              <a:lnSpc>
                <a:spcPct val="120000"/>
              </a:lnSpc>
              <a:spcAft>
                <a:spcPts val="9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300" b="1">
                <a:solidFill>
                  <a:srgbClr val="0064A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隐私计算成熟</a:t>
            </a:r>
            <a:r>
              <a:rPr sz="13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：联邦学习、可信执行环境为合成数据提供「协作分发」通道</a:t>
            </a:r>
            <a:endParaRPr/>
          </a:p>
          <a:p>
            <a:pPr>
              <a:lnSpc>
                <a:spcPct val="120000"/>
              </a:lnSpc>
              <a:spcAft>
                <a:spcPts val="9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300" b="1">
                <a:solidFill>
                  <a:srgbClr val="0064A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开源工具成熟</a:t>
            </a:r>
            <a:r>
              <a:rPr sz="13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：SDV/CTGAN/TVAE 等进入 GitHub Trending，工程化门槛显著下降</a:t>
            </a:r>
            <a:endParaRPr/>
          </a:p>
          <a:p>
            <a:pPr algn="l">
              <a:spcBef>
                <a:spcPts val="800"/>
              </a:spcBef>
              <a:spcAft>
                <a:spcPts val="6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000" b="0">
                <a:solidFill>
                  <a:srgbClr val="8C8C8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判断：技术、政策、业务三股力量同步到达，未来 3—5 年是关键窗口期。</a:t>
            </a:r>
            <a:endParaRPr/>
          </a:p>
        </p:txBody>
      </p:sp>
      <p:sp>
        <p:nvSpPr>
          <p:cNvPr id="157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02D50"/>
                </a:solidFill>
                <a:latin typeface="微软雅黑"/>
                <a:ea typeface="微软雅黑"/>
              </a:rPr>
              <a:t>合成数据为何在当下重新受到关注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C8C8C"/>
                </a:solidFill>
                <a:latin typeface="微软雅黑"/>
                <a:ea typeface="微软雅黑"/>
              </a:rPr>
              <a:t>技术、产业与监管三重叠加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lnSpc>
                <a:spcPct val="12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4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合成数据解决的是「</a:t>
            </a:r>
            <a:r>
              <a:rPr sz="14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生成新的可用数据</a:t>
            </a:r>
            <a:r>
              <a:rPr sz="14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」，并不替代脱敏与隐私计算，而是与之</a:t>
            </a:r>
            <a:r>
              <a:rPr sz="14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互补</a:t>
            </a:r>
            <a:r>
              <a:rPr sz="14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。</a:t>
            </a:r>
            <a:endParaRPr/>
          </a:p>
          <a:p>
            <a:pPr algn="l">
              <a:lnSpc>
                <a:spcPct val="12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300" b="1">
                <a:solidFill>
                  <a:srgbClr val="FF64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[1] 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采集慢、标注贵</a:t>
            </a:r>
            <a:endParaRPr/>
          </a:p>
          <a:p>
            <a:pPr lvl="1">
              <a:lnSpc>
                <a:spcPct val="125000"/>
              </a:lnSpc>
              <a:spcAft>
                <a:spcPts val="4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SzPct val="100000"/>
              <a:buFont typeface="Arial" charset="0"/>
              <a:buChar char="–"/>
            </a:pPr>
            <a:r>
              <a:rPr sz="12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数据资产「</a:t>
            </a:r>
            <a:r>
              <a:rPr sz="12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有但用不起</a:t>
            </a:r>
            <a:r>
              <a:rPr sz="12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」——结构化标注成本随合规要求指数上升。</a:t>
            </a:r>
            <a:endParaRPr/>
          </a:p>
          <a:p>
            <a:pPr>
              <a:spcAft>
                <a:spcPts val="2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200" b="0">
                <a:solidFill>
                  <a:srgbClr val="FF64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严重度 </a:t>
            </a:r>
            <a:r>
              <a:rPr sz="1200" b="1">
                <a:solidFill>
                  <a:srgbClr val="FF64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3.5 / 5</a:t>
            </a:r>
            <a:endParaRPr/>
          </a:p>
          <a:p>
            <a:pPr>
              <a:lnSpc>
                <a:spcPct val="12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300" b="1">
                <a:solidFill>
                  <a:srgbClr val="FF64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[2] 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长尾样本稀缺</a:t>
            </a:r>
            <a:endParaRPr/>
          </a:p>
          <a:p>
            <a:pPr lvl="1">
              <a:lnSpc>
                <a:spcPct val="125000"/>
              </a:lnSpc>
              <a:spcAft>
                <a:spcPts val="4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SzPct val="100000"/>
              <a:buFont typeface="Arial" charset="0"/>
              <a:buChar char="–"/>
            </a:pPr>
            <a:r>
              <a:rPr sz="12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欺诈、电信诈骗、洗钱等</a:t>
            </a:r>
            <a:r>
              <a:rPr sz="12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高价值场景样本不足</a:t>
            </a:r>
            <a:r>
              <a:rPr sz="12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，模型难迭代。</a:t>
            </a:r>
            <a:endParaRPr/>
          </a:p>
          <a:p>
            <a:pPr>
              <a:spcAft>
                <a:spcPts val="2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200" b="0">
                <a:solidFill>
                  <a:srgbClr val="FF64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严重度 </a:t>
            </a:r>
            <a:r>
              <a:rPr sz="1200" b="1">
                <a:solidFill>
                  <a:srgbClr val="FF64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5 / 5</a:t>
            </a:r>
            <a:r>
              <a:rPr sz="1200" b="0">
                <a:solidFill>
                  <a:srgbClr val="FF64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（最高）</a:t>
            </a:r>
            <a:endParaRPr/>
          </a:p>
          <a:p>
            <a:pPr>
              <a:lnSpc>
                <a:spcPct val="12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300" b="1">
                <a:solidFill>
                  <a:srgbClr val="FF64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[3] 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脱敏破坏可用性</a:t>
            </a:r>
            <a:endParaRPr/>
          </a:p>
          <a:p>
            <a:pPr lvl="1">
              <a:lnSpc>
                <a:spcPct val="125000"/>
              </a:lnSpc>
              <a:spcAft>
                <a:spcPts val="4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SzPct val="100000"/>
              <a:buFont typeface="Arial" charset="0"/>
              <a:buChar char="–"/>
            </a:pPr>
            <a:r>
              <a:rPr sz="12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传统脱敏使</a:t>
            </a:r>
            <a:r>
              <a:rPr sz="12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关联结构与统计特征失真</a:t>
            </a:r>
            <a:r>
              <a:rPr sz="12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，训练出来的模型可解释性下降。</a:t>
            </a:r>
            <a:endParaRPr/>
          </a:p>
          <a:p>
            <a:pPr>
              <a:spcAft>
                <a:spcPts val="2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200" b="0">
                <a:solidFill>
                  <a:srgbClr val="FF64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严重度 </a:t>
            </a:r>
            <a:r>
              <a:rPr sz="1200" b="1">
                <a:solidFill>
                  <a:srgbClr val="FF64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4 / 5</a:t>
            </a:r>
            <a:endParaRPr/>
          </a:p>
          <a:p>
            <a:pPr>
              <a:lnSpc>
                <a:spcPct val="12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300" b="1">
                <a:solidFill>
                  <a:srgbClr val="FF64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[4] 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数据流转受限</a:t>
            </a:r>
            <a:endParaRPr/>
          </a:p>
          <a:p>
            <a:pPr lvl="1">
              <a:lnSpc>
                <a:spcPct val="125000"/>
              </a:lnSpc>
              <a:spcAft>
                <a:spcPts val="4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SzPct val="100000"/>
              <a:buFont typeface="Arial" charset="0"/>
              <a:buChar char="–"/>
            </a:pPr>
            <a:r>
              <a:rPr sz="12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数据</a:t>
            </a:r>
            <a:r>
              <a:rPr sz="12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出域即合规事件</a:t>
            </a:r>
            <a:r>
              <a:rPr sz="12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——跨条线、跨法人、跨境的流通效率低。</a:t>
            </a:r>
            <a:endParaRPr/>
          </a:p>
          <a:p>
            <a:pPr>
              <a:spcAft>
                <a:spcPts val="2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200" b="0">
                <a:solidFill>
                  <a:srgbClr val="FF64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严重度 </a:t>
            </a:r>
            <a:r>
              <a:rPr sz="1200" b="1">
                <a:solidFill>
                  <a:srgbClr val="FF64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3 / 5</a:t>
            </a:r>
            <a:endParaRPr/>
          </a:p>
        </p:txBody>
      </p:sp>
      <p:sp>
        <p:nvSpPr>
          <p:cNvPr id="160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02D50"/>
                </a:solidFill>
                <a:latin typeface="微软雅黑"/>
                <a:ea typeface="微软雅黑"/>
              </a:rPr>
              <a:t>银行数据供给的四类失效机制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C8C8C"/>
                </a:solidFill>
                <a:latin typeface="微软雅黑"/>
                <a:ea typeface="微软雅黑"/>
              </a:rPr>
              <a:t>按对模型迭代与上线的影响严重度排序（5=最严重）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3400" b="1">
                <a:solidFill>
                  <a:srgbClr val="FFFFFF"/>
                </a:solidFill>
                <a:latin typeface="微软雅黑"/>
                <a:ea typeface="微软雅黑"/>
              </a:rPr>
              <a:t>技术解析与成熟度评级</a:t>
            </a:r>
            <a:endParaRPr/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CCD6E2"/>
                </a:solidFill>
                <a:latin typeface="微软雅黑"/>
                <a:ea typeface="微软雅黑"/>
              </a:rPr>
              <a:t>定义 / 形态 / 技术路线 / 质量三角 / 成熟度 3 分</a:t>
            </a:r>
            <a:endParaRPr/>
          </a:p>
        </p:txBody>
      </p:sp>
      <p:sp>
        <p:nvSpPr>
          <p:cNvPr id="16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6400"/>
                </a:solidFill>
                <a:latin typeface="微软雅黑"/>
                <a:ea typeface="微软雅黑"/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02D50"/>
                </a:solidFill>
                <a:latin typeface="微软雅黑"/>
                <a:ea typeface="微软雅黑"/>
              </a:rPr>
              <a:t>技术定义与三种数据形态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C8C8C"/>
                </a:solidFill>
                <a:latin typeface="微软雅黑"/>
                <a:ea typeface="微软雅黑"/>
              </a:rPr>
              <a:t>合成数据的边界与三种形态对比</a:t>
            </a:r>
            <a:endParaRPr/>
          </a:p>
        </p:txBody>
      </p:sp>
      <p:sp>
        <p:nvSpPr>
          <p:cNvPr id="6" name="TextBox 2"/>
          <p:cNvSpPr txBox="1"/>
          <p:nvPr/>
        </p:nvSpPr>
        <p:spPr>
          <a:xfrm>
            <a:off x="338328" y="1170432"/>
            <a:ext cx="11521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三种形态并非互斥；本行 POC 中可同时采用部分合成+混合合成。</a:t>
            </a:r>
            <a:endParaRPr/>
          </a:p>
        </p:txBody>
      </p:sp>
      <p:graphicFrame>
        <p:nvGraphicFramePr>
          <p:cNvPr id="7" name="Table 3"/>
          <p:cNvGraphicFramePr>
            <a:graphicFrameLocks noGrp="1"/>
          </p:cNvGraphicFramePr>
          <p:nvPr/>
        </p:nvGraphicFramePr>
        <p:xfrm>
          <a:off x="338328" y="1600200"/>
          <a:ext cx="1152144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val="1"/>
                    </a:ext>
                  </a:extLst>
                </a:gridCol>
                <a:gridCol w="2926080">
                  <a:extLst>
                    <a:ext uri="{9D8B030D-6E8A-4147-A177-3AD203B41FA5}">
                      <a16:colId val="2"/>
                    </a:ext>
                  </a:extLst>
                </a:gridCol>
                <a:gridCol w="3291840">
                  <a:extLst>
                    <a:ext uri="{9D8B030D-6E8A-4147-A177-3AD203B41FA5}">
                      <a16:colId val="3"/>
                    </a:ext>
                  </a:extLst>
                </a:gridCol>
                <a:gridCol w="2926080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384048">
                <a:tc>
                  <a:txBody>
                    <a:bodyPr wrap="square" lIns="54864" tIns="27432" rIns="54864" bIns="27432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形态</a:t>
                      </a:r>
                      <a:endParaRPr/>
                    </a:p>
                  </a:txBody>
                  <a:tcPr>
                    <a:solidFill>
                      <a:srgbClr val="002D50"/>
                    </a:solidFill>
                  </a:tcPr>
                </a:tc>
                <a:tc>
                  <a:txBody>
                    <a:bodyPr wrap="square" lIns="54864" tIns="27432" rIns="54864" bIns="27432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数据来源</a:t>
                      </a:r>
                      <a:endParaRPr/>
                    </a:p>
                  </a:txBody>
                  <a:tcPr>
                    <a:solidFill>
                      <a:srgbClr val="002D50"/>
                    </a:solidFill>
                  </a:tcPr>
                </a:tc>
                <a:tc>
                  <a:txBody>
                    <a:bodyPr wrap="square" lIns="54864" tIns="27432" rIns="54864" bIns="27432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典型用途</a:t>
                      </a:r>
                      <a:endParaRPr/>
                    </a:p>
                  </a:txBody>
                  <a:tcPr>
                    <a:solidFill>
                      <a:srgbClr val="002D50"/>
                    </a:solidFill>
                  </a:tcPr>
                </a:tc>
                <a:tc>
                  <a:txBody>
                    <a:bodyPr wrap="square" lIns="54864" tIns="27432" rIns="54864" bIns="27432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代表场景</a:t>
                      </a:r>
                      <a:endParaRPr/>
                    </a:p>
                  </a:txBody>
                  <a:tcPr>
                    <a:solidFill>
                      <a:srgbClr val="002D50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384048"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2D50"/>
                          </a:solidFill>
                          <a:latin typeface="微软雅黑"/>
                          <a:ea typeface="微软雅黑"/>
                        </a:rPr>
                        <a:t>完全合成（Fully Synthetic）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不依赖真实数据，全模型生成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概念验证、极端情景仿真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压力测试、对抗样本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384048"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2D50"/>
                          </a:solidFill>
                          <a:latin typeface="微软雅黑"/>
                          <a:ea typeface="微软雅黑"/>
                        </a:rPr>
                        <a:t>部分合成（Partially Synthetic）</a:t>
                      </a:r>
                      <a:endParaRPr/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对真实数据中部分敏感字段做替换</a:t>
                      </a:r>
                      <a:endParaRPr/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保留关联结构又降低识别风险</a:t>
                      </a:r>
                      <a:endParaRPr/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风控增强、长尾样本增广</a:t>
                      </a:r>
                      <a:endParaRPr/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384048"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2D50"/>
                          </a:solidFill>
                          <a:latin typeface="微软雅黑"/>
                          <a:ea typeface="微软雅黑"/>
                        </a:rPr>
                        <a:t>混合合成（Hybrid）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真实+合成按比例混合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训练集扩增、跨域数据共享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联合建模、对外数据评估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02D50"/>
                </a:solidFill>
                <a:latin typeface="微软雅黑"/>
                <a:ea typeface="微软雅黑"/>
              </a:rPr>
              <a:t>四类主流技术路线横向对比（满分 5）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C8C8C"/>
                </a:solidFill>
                <a:latin typeface="微软雅黑"/>
                <a:ea typeface="微软雅黑"/>
              </a:rPr>
              <a:t>7 维度评分：银行场景以 GAN+扩散组合为主，LLM 驱动受合规约束较大</a:t>
            </a:r>
            <a:endParaRPr/>
          </a:p>
        </p:txBody>
      </p:sp>
      <p:sp>
        <p:nvSpPr>
          <p:cNvPr id="10" name="TextBox 2"/>
          <p:cNvSpPr txBox="1"/>
          <p:nvPr/>
        </p:nvSpPr>
        <p:spPr>
          <a:xfrm>
            <a:off x="338328" y="1170432"/>
            <a:ext cx="11521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2D50"/>
                </a:solidFill>
                <a:latin typeface="微软雅黑"/>
                <a:ea typeface="微软雅黑"/>
              </a:rPr>
              <a:t>没有「最好」的技术，只有「最适配」的技术</a:t>
            </a: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——选型应与目标场景的「保真度/隐私/可控性」三角位置匹配。</a:t>
            </a:r>
            <a:endParaRPr/>
          </a:p>
        </p:txBody>
      </p:sp>
      <p:graphicFrame>
        <p:nvGraphicFramePr>
          <p:cNvPr id="11" name="Table 3"/>
          <p:cNvGraphicFramePr>
            <a:graphicFrameLocks noGrp="1"/>
          </p:cNvGraphicFramePr>
          <p:nvPr/>
        </p:nvGraphicFramePr>
        <p:xfrm>
          <a:off x="338328" y="1600200"/>
          <a:ext cx="1152144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88">
                  <a:extLst>
                    <a:ext uri="{9D8B030D-6E8A-4147-A177-3AD203B41FA5}">
                      <a16:colId val="1"/>
                    </a:ext>
                  </a:extLst>
                </a:gridCol>
                <a:gridCol w="2304288">
                  <a:extLst>
                    <a:ext uri="{9D8B030D-6E8A-4147-A177-3AD203B41FA5}">
                      <a16:colId val="2"/>
                    </a:ext>
                  </a:extLst>
                </a:gridCol>
                <a:gridCol w="2304288">
                  <a:extLst>
                    <a:ext uri="{9D8B030D-6E8A-4147-A177-3AD203B41FA5}">
                      <a16:colId val="3"/>
                    </a:ext>
                  </a:extLst>
                </a:gridCol>
                <a:gridCol w="2304288">
                  <a:extLst>
                    <a:ext uri="{9D8B030D-6E8A-4147-A177-3AD203B41FA5}">
                      <a16:colId val="4"/>
                    </a:ext>
                  </a:extLst>
                </a:gridCol>
                <a:gridCol w="2304288">
                  <a:extLst>
                    <a:ext uri="{9D8B030D-6E8A-4147-A177-3AD203B41FA5}">
                      <a16:colId val="5"/>
                    </a:ext>
                  </a:extLst>
                </a:gridCol>
              </a:tblGrid>
              <a:tr h="384048">
                <a:tc>
                  <a:txBody>
                    <a:bodyPr wrap="square" lIns="54864" tIns="27432" rIns="54864" bIns="27432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维度</a:t>
                      </a:r>
                      <a:endParaRPr/>
                    </a:p>
                  </a:txBody>
                  <a:tcPr>
                    <a:solidFill>
                      <a:srgbClr val="002D50"/>
                    </a:solidFill>
                  </a:tcPr>
                </a:tc>
                <a:tc>
                  <a:txBody>
                    <a:bodyPr wrap="square" lIns="54864" tIns="27432" rIns="54864" bIns="27432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GAN (CTGAN)</a:t>
                      </a:r>
                      <a:endParaRPr/>
                    </a:p>
                  </a:txBody>
                  <a:tcPr>
                    <a:solidFill>
                      <a:srgbClr val="002D50"/>
                    </a:solidFill>
                  </a:tcPr>
                </a:tc>
                <a:tc>
                  <a:txBody>
                    <a:bodyPr wrap="square" lIns="54864" tIns="27432" rIns="54864" bIns="27432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VAE (TVAE)</a:t>
                      </a:r>
                      <a:endParaRPr/>
                    </a:p>
                  </a:txBody>
                  <a:tcPr>
                    <a:solidFill>
                      <a:srgbClr val="002D50"/>
                    </a:solidFill>
                  </a:tcPr>
                </a:tc>
                <a:tc>
                  <a:txBody>
                    <a:bodyPr wrap="square" lIns="54864" tIns="27432" rIns="54864" bIns="27432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扩散 (TabDDPM)</a:t>
                      </a:r>
                      <a:endParaRPr/>
                    </a:p>
                  </a:txBody>
                  <a:tcPr>
                    <a:solidFill>
                      <a:srgbClr val="002D50"/>
                    </a:solidFill>
                  </a:tcPr>
                </a:tc>
                <a:tc>
                  <a:txBody>
                    <a:bodyPr wrap="square" lIns="54864" tIns="27432" rIns="54864" bIns="27432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LLM (GReaT)</a:t>
                      </a:r>
                      <a:endParaRPr/>
                    </a:p>
                  </a:txBody>
                  <a:tcPr>
                    <a:solidFill>
                      <a:srgbClr val="002D50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384048"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生成质量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3.5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3.0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5.0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4.0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384048"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训练稳定性</a:t>
                      </a:r>
                      <a:endParaRPr/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2.0</a:t>
                      </a:r>
                      <a:endParaRPr/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4.0</a:t>
                      </a:r>
                      <a:endParaRPr/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4.0</a:t>
                      </a:r>
                      <a:endParaRPr/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4.0</a:t>
                      </a:r>
                      <a:endParaRPr/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384048"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生成速度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4.5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4.5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2.0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2.0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384048"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可控性</a:t>
                      </a:r>
                      <a:endParaRPr/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4.0</a:t>
                      </a:r>
                      <a:endParaRPr/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3.0</a:t>
                      </a:r>
                      <a:endParaRPr/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4.0</a:t>
                      </a:r>
                      <a:endParaRPr/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5.0</a:t>
                      </a:r>
                      <a:endParaRPr/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384048"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隐私安全性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2.0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3.0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2.0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2.5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384048"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低成本算力</a:t>
                      </a:r>
                      <a:endParaRPr/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4.0</a:t>
                      </a:r>
                      <a:endParaRPr/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5.0</a:t>
                      </a:r>
                      <a:endParaRPr/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2.0</a:t>
                      </a:r>
                      <a:endParaRPr/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2.0</a:t>
                      </a:r>
                      <a:endParaRPr/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384048"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2D50"/>
                          </a:solidFill>
                          <a:latin typeface="微软雅黑"/>
                          <a:ea typeface="微软雅黑"/>
                        </a:rPr>
                        <a:t>银行场景成熟度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2D50"/>
                          </a:solidFill>
                          <a:latin typeface="微软雅黑"/>
                          <a:ea typeface="微软雅黑"/>
                        </a:rPr>
                        <a:t>4.0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2.5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3.0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3.0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02D50"/>
                </a:solidFill>
                <a:latin typeface="微软雅黑"/>
                <a:ea typeface="微软雅黑"/>
              </a:rPr>
              <a:t>质量三维评价与「不可能三角」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C8C8C"/>
                </a:solidFill>
                <a:latin typeface="微软雅黑"/>
                <a:ea typeface="微软雅黑"/>
              </a:rPr>
              <a:t>差分隐私预算 ε、去标识程度等参数决定三维折中位置</a:t>
            </a:r>
            <a:endParaRPr/>
          </a:p>
        </p:txBody>
      </p:sp>
      <p:pic>
        <p:nvPicPr>
          <p:cNvPr id="14" name="Picture 2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" y="1554480"/>
            <a:ext cx="6035040" cy="3383280"/>
          </a:xfrm>
          <a:prstGeom prst="rect">
            <a:avLst/>
          </a:prstGeom>
        </p:spPr>
      </p:pic>
      <p:sp>
        <p:nvSpPr>
          <p:cNvPr id="15" name="TextBox 3"/>
          <p:cNvSpPr txBox="1"/>
          <p:nvPr/>
        </p:nvSpPr>
        <p:spPr>
          <a:xfrm>
            <a:off x="338328" y="4983480"/>
            <a:ext cx="6035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C8C8C"/>
                </a:solidFill>
                <a:latin typeface="微软雅黑"/>
                <a:ea typeface="微软雅黑"/>
              </a:rPr>
              <a:t>图 3.1　保真度 / 效用 / 隐私 三维权衡示意</a:t>
            </a:r>
            <a:endParaRPr/>
          </a:p>
        </p:txBody>
      </p:sp>
      <p:sp>
        <p:nvSpPr>
          <p:cNvPr id="16" name="TextBox 4"/>
          <p:cNvSpPr txBox="1"/>
          <p:nvPr/>
        </p:nvSpPr>
        <p:spPr>
          <a:xfrm>
            <a:off x="6556248" y="155448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02D50"/>
                </a:solidFill>
                <a:latin typeface="微软雅黑"/>
                <a:ea typeface="微软雅黑"/>
              </a:rPr>
              <a:t>**读图要点**</a:t>
            </a:r>
            <a:endParaRPr/>
          </a:p>
        </p:txBody>
      </p:sp>
      <p:sp>
        <p:nvSpPr>
          <p:cNvPr id="17" name="TextBox 5"/>
          <p:cNvSpPr txBox="1"/>
          <p:nvPr/>
        </p:nvSpPr>
        <p:spPr>
          <a:xfrm>
            <a:off x="6556248" y="1920240"/>
            <a:ext cx="5303520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/>
            <a:endParaRPr/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FF6400"/>
                </a:solidFill>
                <a:latin typeface="微软雅黑"/>
                <a:ea typeface="微软雅黑"/>
              </a:rPr>
              <a:t>▪  </a:t>
            </a:r>
            <a:r>
              <a:rPr sz="1100" b="1">
                <a:solidFill>
                  <a:srgbClr val="002D50"/>
                </a:solidFill>
                <a:latin typeface="微软雅黑"/>
                <a:ea typeface="微软雅黑"/>
              </a:rPr>
              <a:t>提升任意两者，通常以第三者为代价</a:t>
            </a: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——没有「三者全优」的最优解</a:t>
            </a:r>
            <a:endParaRPr/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FF6400"/>
                </a:solidFill>
                <a:latin typeface="微软雅黑"/>
                <a:ea typeface="微软雅黑"/>
              </a:rPr>
              <a:t>▪  </a:t>
            </a:r>
            <a:r>
              <a:rPr sz="1100" b="1">
                <a:solidFill>
                  <a:srgbClr val="002D50"/>
                </a:solidFill>
                <a:latin typeface="微软雅黑"/>
                <a:ea typeface="微软雅黑"/>
              </a:rPr>
              <a:t>可审计参数</a:t>
            </a: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：ε（差分隐私预算）、去标识程度决定本次合成的三角位置</a:t>
            </a:r>
            <a:endParaRPr/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FF6400"/>
                </a:solidFill>
                <a:latin typeface="微软雅黑"/>
                <a:ea typeface="微软雅黑"/>
              </a:rPr>
              <a:t>▪  </a:t>
            </a: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POC 应</a:t>
            </a:r>
            <a:r>
              <a:rPr sz="1100" b="1">
                <a:solidFill>
                  <a:srgbClr val="002D50"/>
                </a:solidFill>
                <a:latin typeface="微软雅黑"/>
                <a:ea typeface="微软雅黑"/>
              </a:rPr>
              <a:t>预设每个任务的折中点</a:t>
            </a: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，并记录审计依据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02D50"/>
                </a:solidFill>
                <a:latin typeface="微软雅黑"/>
                <a:ea typeface="微软雅黑"/>
              </a:rPr>
              <a:t>必须澄清：合成数据并不天然隐私安全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C8C8C"/>
                </a:solidFill>
                <a:latin typeface="微软雅黑"/>
                <a:ea typeface="微软雅黑"/>
              </a:rPr>
              <a:t>脱敏 / 合成 / 隐私计算——互补关系而非替代</a:t>
            </a:r>
            <a:endParaRPr/>
          </a:p>
        </p:txBody>
      </p:sp>
      <p:pic>
        <p:nvPicPr>
          <p:cNvPr id="20" name="Picture 2" descr="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" y="1554480"/>
            <a:ext cx="6217920" cy="3108960"/>
          </a:xfrm>
          <a:prstGeom prst="rect">
            <a:avLst/>
          </a:prstGeom>
        </p:spPr>
      </p:pic>
      <p:sp>
        <p:nvSpPr>
          <p:cNvPr id="21" name="TextBox 3"/>
          <p:cNvSpPr txBox="1"/>
          <p:nvPr/>
        </p:nvSpPr>
        <p:spPr>
          <a:xfrm>
            <a:off x="338328" y="4709159"/>
            <a:ext cx="6217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C8C8C"/>
                </a:solidFill>
                <a:latin typeface="微软雅黑"/>
                <a:ea typeface="微软雅黑"/>
              </a:rPr>
              <a:t>图 3.2　真实数据 / 脱敏 / 合成 / 隐私计算 关系边界</a:t>
            </a:r>
            <a:endParaRPr/>
          </a:p>
        </p:txBody>
      </p:sp>
      <p:sp>
        <p:nvSpPr>
          <p:cNvPr id="22" name="TextBox 4"/>
          <p:cNvSpPr txBox="1"/>
          <p:nvPr/>
        </p:nvSpPr>
        <p:spPr>
          <a:xfrm>
            <a:off x="6739128" y="155448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02D50"/>
                </a:solidFill>
                <a:latin typeface="微软雅黑"/>
                <a:ea typeface="微软雅黑"/>
              </a:rPr>
              <a:t>**四件事各司其职**</a:t>
            </a:r>
            <a:endParaRPr/>
          </a:p>
        </p:txBody>
      </p:sp>
      <p:sp>
        <p:nvSpPr>
          <p:cNvPr id="23" name="TextBox 5"/>
          <p:cNvSpPr txBox="1"/>
          <p:nvPr/>
        </p:nvSpPr>
        <p:spPr>
          <a:xfrm>
            <a:off x="6739128" y="1920240"/>
            <a:ext cx="512064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/>
            <a:endParaRPr/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FF6400"/>
                </a:solidFill>
                <a:latin typeface="微软雅黑"/>
                <a:ea typeface="微软雅黑"/>
              </a:rPr>
              <a:t>▪  </a:t>
            </a:r>
            <a:r>
              <a:rPr sz="1100" b="1">
                <a:solidFill>
                  <a:srgbClr val="002D50"/>
                </a:solidFill>
                <a:latin typeface="微软雅黑"/>
                <a:ea typeface="微软雅黑"/>
              </a:rPr>
              <a:t>脱敏/匿名化</a:t>
            </a: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：改造真实数据，降低识别风险</a:t>
            </a:r>
            <a:endParaRPr/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FF6400"/>
                </a:solidFill>
                <a:latin typeface="微软雅黑"/>
                <a:ea typeface="微软雅黑"/>
              </a:rPr>
              <a:t>▪  </a:t>
            </a:r>
            <a:r>
              <a:rPr sz="1100" b="1">
                <a:solidFill>
                  <a:srgbClr val="002D50"/>
                </a:solidFill>
                <a:latin typeface="微软雅黑"/>
                <a:ea typeface="微软雅黑"/>
              </a:rPr>
              <a:t>合成数据</a:t>
            </a: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：生成层——学习真实分布后生成新的可用数据</a:t>
            </a:r>
            <a:endParaRPr/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FF6400"/>
                </a:solidFill>
                <a:latin typeface="微软雅黑"/>
                <a:ea typeface="微软雅黑"/>
              </a:rPr>
              <a:t>▪  </a:t>
            </a:r>
            <a:r>
              <a:rPr sz="1100" b="1">
                <a:solidFill>
                  <a:srgbClr val="002D50"/>
                </a:solidFill>
                <a:latin typeface="微软雅黑"/>
                <a:ea typeface="微软雅黑"/>
              </a:rPr>
              <a:t>行内受限使用</a:t>
            </a: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：模型训练、开发测试可走脱敏/合成路径</a:t>
            </a:r>
            <a:endParaRPr/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FF6400"/>
                </a:solidFill>
                <a:latin typeface="微软雅黑"/>
                <a:ea typeface="微软雅黑"/>
              </a:rPr>
              <a:t>▪  </a:t>
            </a:r>
            <a:r>
              <a:rPr sz="1100" b="1">
                <a:solidFill>
                  <a:srgbClr val="002D50"/>
                </a:solidFill>
                <a:latin typeface="微软雅黑"/>
                <a:ea typeface="微软雅黑"/>
              </a:rPr>
              <a:t>对外受限提供</a:t>
            </a: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：须走共享审批；可叠加</a:t>
            </a:r>
            <a:r>
              <a:rPr sz="1100" b="1">
                <a:solidFill>
                  <a:srgbClr val="002D50"/>
                </a:solidFill>
                <a:latin typeface="微软雅黑"/>
                <a:ea typeface="微软雅黑"/>
              </a:rPr>
              <a:t>隐私计算</a:t>
            </a: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实现「数据不出域」协同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lnSpc>
                <a:spcPct val="120000"/>
              </a:lnSpc>
              <a:spcAft>
                <a:spcPts val="9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4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通用工具链较成熟，但银行表格合成域仍处有限试点，标准未成——综合评级 3 分。</a:t>
            </a:r>
            <a:endParaRPr/>
          </a:p>
          <a:p>
            <a:pPr algn="l">
              <a:lnSpc>
                <a:spcPct val="120000"/>
              </a:lnSpc>
              <a:spcAft>
                <a:spcPts val="9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300" b="1">
                <a:solidFill>
                  <a:srgbClr val="0064A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Gartner 定位</a:t>
            </a:r>
            <a:r>
              <a:rPr sz="13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：2022 年列入顶级趋势，2024—2025 年仍以「新兴技术/颠覆者」框架跟踪，未见主流生产成熟区</a:t>
            </a:r>
            <a:endParaRPr/>
          </a:p>
          <a:p>
            <a:pPr>
              <a:lnSpc>
                <a:spcPct val="120000"/>
              </a:lnSpc>
              <a:spcAft>
                <a:spcPts val="9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300" b="1">
                <a:solidFill>
                  <a:srgbClr val="0064A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TRL 分域</a:t>
            </a:r>
            <a:r>
              <a:rPr sz="13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：图像/3D 仿真 TRL 7—8（生产可用）；金融表格合成 TRL 5—6；LLM 驱动合成 TRL 4—5</a:t>
            </a:r>
            <a:endParaRPr/>
          </a:p>
          <a:p>
            <a:pPr>
              <a:lnSpc>
                <a:spcPct val="120000"/>
              </a:lnSpc>
              <a:spcAft>
                <a:spcPts val="9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300" b="1">
                <a:solidFill>
                  <a:srgbClr val="0064A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生产案例</a:t>
            </a:r>
            <a:r>
              <a:rPr sz="13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：通用工具成熟（SDV、Gretel、Mostly、Tonic），银行侧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多为试点与研究，无公开生产级量化案例群</a:t>
            </a:r>
            <a:endParaRPr/>
          </a:p>
          <a:p>
            <a:pPr>
              <a:lnSpc>
                <a:spcPct val="120000"/>
              </a:lnSpc>
              <a:spcAft>
                <a:spcPts val="9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300" b="1">
                <a:solidFill>
                  <a:srgbClr val="0064A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标准化程度</a:t>
            </a:r>
            <a:r>
              <a:rPr sz="13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缺乏生成质量与隐私评估的统一标准</a:t>
            </a:r>
            <a:r>
              <a:rPr sz="13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——评测多依赖社区基准与厂商自评</a:t>
            </a:r>
            <a:endParaRPr/>
          </a:p>
          <a:p>
            <a:pPr algn="l">
              <a:spcBef>
                <a:spcPts val="800"/>
              </a:spcBef>
              <a:spcAft>
                <a:spcPts val="6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000" b="0">
                <a:solidFill>
                  <a:srgbClr val="8C8C8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评级原则：短板取下。短板 = 标准化与银行侧生产案例缺失。</a:t>
            </a:r>
            <a:endParaRPr/>
          </a:p>
        </p:txBody>
      </p:sp>
      <p:sp>
        <p:nvSpPr>
          <p:cNvPr id="26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02D50"/>
                </a:solidFill>
                <a:latin typeface="微软雅黑"/>
                <a:ea typeface="微软雅黑"/>
              </a:rPr>
              <a:t>技术成熟度评级：3 分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C8C8C"/>
                </a:solidFill>
                <a:latin typeface="微软雅黑"/>
                <a:ea typeface="微软雅黑"/>
              </a:rPr>
              <a:t>四条证据均不支持突破 3 分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3400" b="1">
                <a:solidFill>
                  <a:srgbClr val="FFFFFF"/>
                </a:solidFill>
                <a:latin typeface="微软雅黑"/>
                <a:ea typeface="微软雅黑"/>
              </a:rPr>
              <a:t>应用场景与价值实证</a:t>
            </a:r>
            <a:endParaRPr/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CCD6E2"/>
                </a:solidFill>
                <a:latin typeface="微软雅黑"/>
                <a:ea typeface="微软雅黑"/>
              </a:rPr>
              <a:t>五场景矩阵 + 四大场景详解 + 效益测算 + 同业案例</a:t>
            </a:r>
            <a:endParaRPr/>
          </a:p>
        </p:txBody>
      </p: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6400"/>
                </a:solidFill>
                <a:latin typeface="微软雅黑"/>
                <a:ea typeface="微软雅黑"/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02D50"/>
                </a:solidFill>
                <a:latin typeface="微软雅黑"/>
                <a:ea typeface="微软雅黑"/>
              </a:rPr>
              <a:t>5 大应用场景矩阵（气泡图）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C8C8C"/>
                </a:solidFill>
                <a:latin typeface="微软雅黑"/>
                <a:ea typeface="微软雅黑"/>
              </a:rPr>
              <a:t>横轴 = 技术就绪度，纵轴 = 价值清晰度，气泡大小 = 优先级</a:t>
            </a:r>
            <a:endParaRPr/>
          </a:p>
        </p:txBody>
      </p:sp>
      <p:pic>
        <p:nvPicPr>
          <p:cNvPr id="32" name="Picture 2" descr="bubble_sce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" y="1463040"/>
            <a:ext cx="6035040" cy="3566160"/>
          </a:xfrm>
          <a:prstGeom prst="rect">
            <a:avLst/>
          </a:prstGeom>
        </p:spPr>
      </p:pic>
      <p:sp>
        <p:nvSpPr>
          <p:cNvPr id="33" name="TextBox 3"/>
          <p:cNvSpPr txBox="1"/>
          <p:nvPr/>
        </p:nvSpPr>
        <p:spPr>
          <a:xfrm>
            <a:off x="338328" y="5074920"/>
            <a:ext cx="6035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C8C8C"/>
                </a:solidFill>
                <a:latin typeface="微软雅黑"/>
                <a:ea typeface="微软雅黑"/>
              </a:rPr>
              <a:t>图 4.1　银行合成数据 5 大应用场景价值—就绪度分布</a:t>
            </a:r>
            <a:endParaRPr/>
          </a:p>
        </p:txBody>
      </p:sp>
      <p:sp>
        <p:nvSpPr>
          <p:cNvPr id="34" name="TextBox 4"/>
          <p:cNvSpPr txBox="1"/>
          <p:nvPr/>
        </p:nvSpPr>
        <p:spPr>
          <a:xfrm>
            <a:off x="6556248" y="146304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02D50"/>
                </a:solidFill>
                <a:latin typeface="微软雅黑"/>
                <a:ea typeface="微软雅黑"/>
              </a:rPr>
              <a:t>**5 大场景速览**</a:t>
            </a:r>
            <a:endParaRPr/>
          </a:p>
        </p:txBody>
      </p:sp>
      <p:sp>
        <p:nvSpPr>
          <p:cNvPr id="35" name="TextBox 5"/>
          <p:cNvSpPr txBox="1"/>
          <p:nvPr/>
        </p:nvSpPr>
        <p:spPr>
          <a:xfrm>
            <a:off x="6556248" y="1828800"/>
            <a:ext cx="5303520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/>
            <a:endParaRPr/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FF6400"/>
                </a:solidFill>
                <a:latin typeface="微软雅黑"/>
                <a:ea typeface="微软雅黑"/>
              </a:rPr>
              <a:t>▪  </a:t>
            </a:r>
            <a:r>
              <a:rPr sz="1100" b="1">
                <a:solidFill>
                  <a:srgbClr val="002D50"/>
                </a:solidFill>
                <a:latin typeface="微软雅黑"/>
                <a:ea typeface="微软雅黑"/>
              </a:rPr>
              <a:t>场景 1 — 测试数据生成</a:t>
            </a: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：高价值+高就绪，</a:t>
            </a:r>
            <a:r>
              <a:rPr sz="1100" b="1">
                <a:solidFill>
                  <a:srgbClr val="002D50"/>
                </a:solidFill>
                <a:latin typeface="微软雅黑"/>
                <a:ea typeface="微软雅黑"/>
              </a:rPr>
              <a:t>POC 之首</a:t>
            </a:r>
            <a:endParaRPr/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FF6400"/>
                </a:solidFill>
                <a:latin typeface="微软雅黑"/>
                <a:ea typeface="微软雅黑"/>
              </a:rPr>
              <a:t>▪  </a:t>
            </a:r>
            <a:r>
              <a:rPr sz="1100" b="1">
                <a:solidFill>
                  <a:srgbClr val="002D50"/>
                </a:solidFill>
                <a:latin typeface="微软雅黑"/>
                <a:ea typeface="微软雅黑"/>
              </a:rPr>
              <a:t>场景 2 — 风控训练数据增强</a:t>
            </a: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、</a:t>
            </a:r>
            <a:r>
              <a:rPr sz="1100" b="1">
                <a:solidFill>
                  <a:srgbClr val="002D50"/>
                </a:solidFill>
                <a:latin typeface="微软雅黑"/>
                <a:ea typeface="微软雅黑"/>
              </a:rPr>
              <a:t>场景 3 — 反欺诈与异常检测</a:t>
            </a: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：高价值但就绪待验证，</a:t>
            </a:r>
            <a:r>
              <a:rPr sz="1100" b="1">
                <a:solidFill>
                  <a:srgbClr val="002D50"/>
                </a:solidFill>
                <a:latin typeface="微软雅黑"/>
                <a:ea typeface="微软雅黑"/>
              </a:rPr>
              <a:t>POC 之二（合并评估）</a:t>
            </a:r>
            <a:endParaRPr/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FF6400"/>
                </a:solidFill>
                <a:latin typeface="微软雅黑"/>
                <a:ea typeface="微软雅黑"/>
              </a:rPr>
              <a:t>▪  </a:t>
            </a:r>
            <a:r>
              <a:rPr sz="1100" b="1">
                <a:solidFill>
                  <a:srgbClr val="002D50"/>
                </a:solidFill>
                <a:latin typeface="微软雅黑"/>
                <a:ea typeface="微软雅黑"/>
              </a:rPr>
              <a:t>场景 4 — 数据共享/隐私保护</a:t>
            </a: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、</a:t>
            </a:r>
            <a:r>
              <a:rPr sz="1100" b="1">
                <a:solidFill>
                  <a:srgbClr val="002D50"/>
                </a:solidFill>
                <a:latin typeface="微软雅黑"/>
                <a:ea typeface="微软雅黑"/>
              </a:rPr>
              <a:t>场景 5 — 大模型语料合成</a:t>
            </a: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：方向合理但证据有限，</a:t>
            </a:r>
            <a:r>
              <a:rPr sz="1100" b="1">
                <a:solidFill>
                  <a:srgbClr val="002D50"/>
                </a:solidFill>
                <a:latin typeface="微软雅黑"/>
                <a:ea typeface="微软雅黑"/>
              </a:rPr>
              <a:t>跟踪评估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002D50"/>
                </a:solidFill>
                <a:latin typeface="微软雅黑"/>
                <a:ea typeface="微软雅黑"/>
              </a:rPr>
              <a:t>**场景 1 — 测试数据生成与系统验证**</a:t>
            </a:r>
            <a:endParaRPr/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0064A0"/>
                </a:solidFill>
                <a:latin typeface="微软雅黑"/>
                <a:ea typeface="微软雅黑"/>
              </a:rPr>
              <a:t>▪  </a:t>
            </a:r>
            <a:r>
              <a:rPr sz="1300" b="1">
                <a:solidFill>
                  <a:srgbClr val="002D50"/>
                </a:solidFill>
                <a:latin typeface="微软雅黑"/>
                <a:ea typeface="微软雅黑"/>
              </a:rPr>
              <a:t>痛点</a:t>
            </a:r>
            <a:r>
              <a:rPr sz="1300" b="0">
                <a:solidFill>
                  <a:srgbClr val="404040"/>
                </a:solidFill>
                <a:latin typeface="微软雅黑"/>
                <a:ea typeface="微软雅黑"/>
              </a:rPr>
              <a:t>：开发/回归/压力测试依赖人工造数；真实数据下移受限</a:t>
            </a:r>
            <a:endParaRPr/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0064A0"/>
                </a:solidFill>
                <a:latin typeface="微软雅黑"/>
                <a:ea typeface="微软雅黑"/>
              </a:rPr>
              <a:t>▪  </a:t>
            </a:r>
            <a:r>
              <a:rPr sz="1300" b="1">
                <a:solidFill>
                  <a:srgbClr val="002D50"/>
                </a:solidFill>
                <a:latin typeface="微软雅黑"/>
                <a:ea typeface="微软雅黑"/>
              </a:rPr>
              <a:t>价值</a:t>
            </a:r>
            <a:r>
              <a:rPr sz="1300" b="0">
                <a:solidFill>
                  <a:srgbClr val="404040"/>
                </a:solidFill>
                <a:latin typeface="微软雅黑"/>
                <a:ea typeface="微软雅黑"/>
              </a:rPr>
              <a:t>：行业经验表明</a:t>
            </a:r>
            <a:r>
              <a:rPr sz="1300" b="1">
                <a:solidFill>
                  <a:srgbClr val="002D50"/>
                </a:solidFill>
                <a:latin typeface="微软雅黑"/>
                <a:ea typeface="微软雅黑"/>
              </a:rPr>
              <a:t>测试准备周期可缩短 20%—60%</a:t>
            </a:r>
            <a:endParaRPr/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0064A0"/>
                </a:solidFill>
                <a:latin typeface="微软雅黑"/>
                <a:ea typeface="微软雅黑"/>
              </a:rPr>
              <a:t>▪  </a:t>
            </a:r>
            <a:r>
              <a:rPr sz="1300" b="1">
                <a:solidFill>
                  <a:srgbClr val="002D50"/>
                </a:solidFill>
                <a:latin typeface="微软雅黑"/>
                <a:ea typeface="微软雅黑"/>
              </a:rPr>
              <a:t>形态</a:t>
            </a:r>
            <a:r>
              <a:rPr sz="1300" b="0">
                <a:solidFill>
                  <a:srgbClr val="404040"/>
                </a:solidFill>
                <a:latin typeface="微软雅黑"/>
                <a:ea typeface="微软雅黑"/>
              </a:rPr>
              <a:t>：</a:t>
            </a:r>
            <a:r>
              <a:rPr sz="1300" b="1">
                <a:solidFill>
                  <a:srgbClr val="002D50"/>
                </a:solidFill>
                <a:latin typeface="微软雅黑"/>
                <a:ea typeface="微软雅黑"/>
              </a:rPr>
              <a:t>完全合成</a:t>
            </a:r>
            <a:r>
              <a:rPr sz="1300" b="0">
                <a:solidFill>
                  <a:srgbClr val="404040"/>
                </a:solidFill>
                <a:latin typeface="微软雅黑"/>
                <a:ea typeface="微软雅黑"/>
              </a:rPr>
              <a:t>——可在云端测试环境大量生成、销毁即净</a:t>
            </a:r>
            <a:endParaRPr/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0064A0"/>
                </a:solidFill>
                <a:latin typeface="微软雅黑"/>
                <a:ea typeface="微软雅黑"/>
              </a:rPr>
              <a:t>▪  </a:t>
            </a:r>
            <a:r>
              <a:rPr sz="1300" b="1">
                <a:solidFill>
                  <a:srgbClr val="002D50"/>
                </a:solidFill>
                <a:latin typeface="微软雅黑"/>
                <a:ea typeface="微软雅黑"/>
              </a:rPr>
              <a:t>POC 路径</a:t>
            </a:r>
            <a:r>
              <a:rPr sz="1300" b="0">
                <a:solidFill>
                  <a:srgbClr val="404040"/>
                </a:solidFill>
                <a:latin typeface="微软雅黑"/>
                <a:ea typeface="微软雅黑"/>
              </a:rPr>
              <a:t>：选定 1—2 个核心系统（信贷、交易监控），覆盖三个月回归用例</a:t>
            </a:r>
            <a:endParaRPr/>
          </a:p>
        </p:txBody>
      </p:sp>
      <p:sp>
        <p:nvSpPr>
          <p:cNvPr id="38" name="Content Placeholder 2"/>
          <p:cNvSpPr>
            <a:spLocks noGrp="1"/>
          </p:cNvSpPr>
          <p:nvPr>
            <p:ph idx="1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002D50"/>
                </a:solidFill>
                <a:latin typeface="微软雅黑"/>
                <a:ea typeface="微软雅黑"/>
              </a:rPr>
              <a:t>**场景 2 — 风控模型训练数据增强**</a:t>
            </a:r>
            <a:endParaRPr/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0064A0"/>
                </a:solidFill>
                <a:latin typeface="微软雅黑"/>
                <a:ea typeface="微软雅黑"/>
              </a:rPr>
              <a:t>▪  </a:t>
            </a:r>
            <a:r>
              <a:rPr sz="1300" b="1">
                <a:solidFill>
                  <a:srgbClr val="002D50"/>
                </a:solidFill>
                <a:latin typeface="微软雅黑"/>
                <a:ea typeface="微软雅黑"/>
              </a:rPr>
              <a:t>痛点</a:t>
            </a:r>
            <a:r>
              <a:rPr sz="1300" b="0">
                <a:solidFill>
                  <a:srgbClr val="404040"/>
                </a:solidFill>
                <a:latin typeface="微软雅黑"/>
                <a:ea typeface="微软雅黑"/>
              </a:rPr>
              <a:t>：违约、欺诈、流失长尾样本不足；新客群无历史</a:t>
            </a:r>
            <a:endParaRPr/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0064A0"/>
                </a:solidFill>
                <a:latin typeface="微软雅黑"/>
                <a:ea typeface="微软雅黑"/>
              </a:rPr>
              <a:t>▪  </a:t>
            </a:r>
            <a:r>
              <a:rPr sz="1300" b="1">
                <a:solidFill>
                  <a:srgbClr val="002D50"/>
                </a:solidFill>
                <a:latin typeface="微软雅黑"/>
                <a:ea typeface="微软雅黑"/>
              </a:rPr>
              <a:t>价值</a:t>
            </a:r>
            <a:r>
              <a:rPr sz="1300" b="0">
                <a:solidFill>
                  <a:srgbClr val="404040"/>
                </a:solidFill>
                <a:latin typeface="微软雅黑"/>
                <a:ea typeface="微软雅黑"/>
              </a:rPr>
              <a:t>：学术证据支持长尾召回率提升 5%—15%（AUC 持平）</a:t>
            </a:r>
            <a:endParaRPr/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0064A0"/>
                </a:solidFill>
                <a:latin typeface="微软雅黑"/>
                <a:ea typeface="微软雅黑"/>
              </a:rPr>
              <a:t>▪  </a:t>
            </a:r>
            <a:r>
              <a:rPr sz="1300" b="1">
                <a:solidFill>
                  <a:srgbClr val="002D50"/>
                </a:solidFill>
                <a:latin typeface="微软雅黑"/>
                <a:ea typeface="微软雅黑"/>
              </a:rPr>
              <a:t>形态</a:t>
            </a:r>
            <a:r>
              <a:rPr sz="1300" b="0">
                <a:solidFill>
                  <a:srgbClr val="404040"/>
                </a:solidFill>
                <a:latin typeface="微软雅黑"/>
                <a:ea typeface="微软雅黑"/>
              </a:rPr>
              <a:t>：</a:t>
            </a:r>
            <a:r>
              <a:rPr sz="1300" b="1">
                <a:solidFill>
                  <a:srgbClr val="002D50"/>
                </a:solidFill>
                <a:latin typeface="微软雅黑"/>
                <a:ea typeface="微软雅黑"/>
              </a:rPr>
              <a:t>部分合成 + 混合合成</a:t>
            </a:r>
            <a:r>
              <a:rPr sz="1300" b="0">
                <a:solidFill>
                  <a:srgbClr val="404040"/>
                </a:solidFill>
                <a:latin typeface="微软雅黑"/>
                <a:ea typeface="微软雅黑"/>
              </a:rPr>
              <a:t>——保留关联结构同时扩增长尾</a:t>
            </a:r>
            <a:endParaRPr/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0064A0"/>
                </a:solidFill>
                <a:latin typeface="微软雅黑"/>
                <a:ea typeface="微软雅黑"/>
              </a:rPr>
              <a:t>▪  </a:t>
            </a:r>
            <a:r>
              <a:rPr sz="1300" b="1">
                <a:solidFill>
                  <a:srgbClr val="002D50"/>
                </a:solidFill>
                <a:latin typeface="微软雅黑"/>
                <a:ea typeface="微软雅黑"/>
              </a:rPr>
              <a:t>POC 路径</a:t>
            </a:r>
            <a:r>
              <a:rPr sz="1300" b="0">
                <a:solidFill>
                  <a:srgbClr val="404040"/>
                </a:solidFill>
                <a:latin typeface="微软雅黑"/>
                <a:ea typeface="微软雅黑"/>
              </a:rPr>
              <a:t>：以信用卡反欺诈为切入点，做「真实 vs 合成+真实」对照实验</a:t>
            </a:r>
            <a:endParaRPr/>
          </a:p>
        </p:txBody>
      </p:sp>
      <p:sp>
        <p:nvSpPr>
          <p:cNvPr id="39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02D50"/>
                </a:solidFill>
                <a:latin typeface="微软雅黑"/>
                <a:ea typeface="微软雅黑"/>
              </a:rPr>
              <a:t>场景 1 + 2 详解：POC 优先两个场景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C8C8C"/>
                </a:solidFill>
                <a:latin typeface="微软雅黑"/>
                <a:ea typeface="微软雅黑"/>
              </a:rPr>
              <a:t>场景 1 = 测试数据（POC 之首），场景 2 = 风控增强（POC 之二）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lnSpc>
                <a:spcPct val="12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4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以下三个场景</a:t>
            </a:r>
            <a:r>
              <a:rPr sz="14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价值清晰度或技术就绪度</a:t>
            </a:r>
            <a:r>
              <a:rPr sz="14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待进一步验证，</a:t>
            </a:r>
            <a:r>
              <a:rPr sz="14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不进入本期 POC</a:t>
            </a:r>
            <a:r>
              <a:rPr sz="14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，但保留跟踪评估窗口。</a:t>
            </a:r>
            <a:endParaRPr/>
          </a:p>
          <a:p>
            <a:pPr algn="l">
              <a:lnSpc>
                <a:spcPct val="12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300" b="1">
                <a:solidFill>
                  <a:srgbClr val="FF64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[3] 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反欺诈与异常检测</a:t>
            </a:r>
            <a:endParaRPr/>
          </a:p>
          <a:p>
            <a:pPr lvl="1">
              <a:lnSpc>
                <a:spcPct val="125000"/>
              </a:lnSpc>
              <a:spcAft>
                <a:spcPts val="4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SzPct val="100000"/>
              <a:buFont typeface="Arial" charset="0"/>
              <a:buChar char="–"/>
            </a:pPr>
            <a:r>
              <a:rPr sz="12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与场景 2 同属风控族；可在场景 2 POC 中</a:t>
            </a:r>
            <a:r>
              <a:rPr sz="12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合并评估</a:t>
            </a:r>
            <a:r>
              <a:rPr sz="12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，避免重复投入。</a:t>
            </a:r>
            <a:endParaRPr/>
          </a:p>
          <a:p>
            <a:pPr>
              <a:lnSpc>
                <a:spcPct val="12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300" b="1">
                <a:solidFill>
                  <a:srgbClr val="FF64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[4] 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数据共享 / 隐私保护</a:t>
            </a:r>
            <a:endParaRPr/>
          </a:p>
          <a:p>
            <a:pPr lvl="1">
              <a:lnSpc>
                <a:spcPct val="125000"/>
              </a:lnSpc>
              <a:spcAft>
                <a:spcPts val="4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SzPct val="100000"/>
              <a:buFont typeface="Arial" charset="0"/>
              <a:buChar char="–"/>
            </a:pPr>
            <a:r>
              <a:rPr sz="12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行内部门/子公司/外部协作真实数据流转受限；合成数据是</a:t>
            </a:r>
            <a:r>
              <a:rPr sz="12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方向合理、证据有限</a:t>
            </a:r>
            <a:r>
              <a:rPr sz="12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的可选路径。</a:t>
            </a:r>
            <a:endParaRPr/>
          </a:p>
          <a:p>
            <a:pPr>
              <a:lnSpc>
                <a:spcPct val="12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300" b="1">
                <a:solidFill>
                  <a:srgbClr val="FF64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[5] 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大模型语料与文本合成</a:t>
            </a:r>
            <a:endParaRPr/>
          </a:p>
          <a:p>
            <a:pPr lvl="1">
              <a:lnSpc>
                <a:spcPct val="125000"/>
              </a:lnSpc>
              <a:spcAft>
                <a:spcPts val="4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SzPct val="100000"/>
              <a:buFont typeface="Arial" charset="0"/>
              <a:buChar char="–"/>
            </a:pPr>
            <a:r>
              <a:rPr sz="12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垂类模型训练/评测语料不足；合成可补充，但需</a:t>
            </a:r>
            <a:r>
              <a:rPr sz="12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叠加差分隐私</a:t>
            </a:r>
            <a:r>
              <a:rPr sz="12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并控制记忆风险。</a:t>
            </a:r>
            <a:endParaRPr/>
          </a:p>
          <a:p>
            <a:pPr>
              <a:lnSpc>
                <a:spcPct val="12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300" b="1">
                <a:solidFill>
                  <a:srgbClr val="FF64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[!] 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应用边界（必须澄清）</a:t>
            </a:r>
            <a:endParaRPr/>
          </a:p>
          <a:p>
            <a:pPr lvl="1">
              <a:lnSpc>
                <a:spcPct val="125000"/>
              </a:lnSpc>
              <a:spcAft>
                <a:spcPts val="4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SzPct val="100000"/>
              <a:buFont typeface="Arial" charset="0"/>
              <a:buChar char="–"/>
            </a:pPr>
            <a:r>
              <a:rPr sz="12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合成数据</a:t>
            </a:r>
            <a:r>
              <a:rPr sz="12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不得</a:t>
            </a:r>
            <a:r>
              <a:rPr sz="12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用于监管报送、账务/生产数据——报送与生产</a:t>
            </a:r>
            <a:r>
              <a:rPr sz="12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仍以真实数据为准</a:t>
            </a:r>
            <a:r>
              <a:rPr sz="12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；</a:t>
            </a:r>
            <a:r>
              <a:rPr sz="12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不主张</a:t>
            </a:r>
            <a:r>
              <a:rPr sz="12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用于规避征信、客户隐私等合规要求。</a:t>
            </a:r>
            <a:endParaRPr/>
          </a:p>
        </p:txBody>
      </p:sp>
      <p:sp>
        <p:nvSpPr>
          <p:cNvPr id="4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02D50"/>
                </a:solidFill>
                <a:latin typeface="微软雅黑"/>
                <a:ea typeface="微软雅黑"/>
              </a:rPr>
              <a:t>场景 3-5 跟踪评估：反欺诈、数据共享、大模型语料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C8C8C"/>
                </a:solidFill>
                <a:latin typeface="微软雅黑"/>
                <a:ea typeface="微软雅黑"/>
              </a:rPr>
              <a:t>不进入本期 POC，但需保留跟踪评估窗口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02D50"/>
                </a:solidFill>
                <a:latin typeface="微软雅黑"/>
                <a:ea typeface="微软雅黑"/>
              </a:rPr>
              <a:t>效益测算（示意口径，非收益承诺）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C8C8C"/>
                </a:solidFill>
                <a:latin typeface="微软雅黑"/>
                <a:ea typeface="微软雅黑"/>
              </a:rPr>
              <a:t>保守 / 中性 / 乐观 三档（百分比类指标）</a:t>
            </a:r>
            <a:endParaRPr/>
          </a:p>
        </p:txBody>
      </p:sp>
      <p:sp>
        <p:nvSpPr>
          <p:cNvPr id="45" name="TextBox 2"/>
          <p:cNvSpPr txBox="1"/>
          <p:nvPr/>
        </p:nvSpPr>
        <p:spPr>
          <a:xfrm>
            <a:off x="338328" y="1170432"/>
            <a:ext cx="11521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本测算仅作</a:t>
            </a:r>
            <a:r>
              <a:rPr sz="1200" b="1">
                <a:solidFill>
                  <a:srgbClr val="002D50"/>
                </a:solidFill>
                <a:latin typeface="微软雅黑"/>
                <a:ea typeface="微软雅黑"/>
              </a:rPr>
              <a:t>决策方向参考</a:t>
            </a: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，不构成收益承诺；最终价值以 POC 实测为准。</a:t>
            </a:r>
            <a:endParaRPr/>
          </a:p>
        </p:txBody>
      </p:sp>
      <p:graphicFrame>
        <p:nvGraphicFramePr>
          <p:cNvPr id="46" name="Table 3"/>
          <p:cNvGraphicFramePr>
            <a:graphicFrameLocks noGrp="1"/>
          </p:cNvGraphicFramePr>
          <p:nvPr/>
        </p:nvGraphicFramePr>
        <p:xfrm>
          <a:off x="338328" y="1600200"/>
          <a:ext cx="115214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>
                  <a:extLst>
                    <a:ext uri="{9D8B030D-6E8A-4147-A177-3AD203B41FA5}">
                      <a16:colId val="1"/>
                    </a:ext>
                  </a:extLst>
                </a:gridCol>
                <a:gridCol w="2880360">
                  <a:extLst>
                    <a:ext uri="{9D8B030D-6E8A-4147-A177-3AD203B41FA5}">
                      <a16:colId val="2"/>
                    </a:ext>
                  </a:extLst>
                </a:gridCol>
                <a:gridCol w="2880360">
                  <a:extLst>
                    <a:ext uri="{9D8B030D-6E8A-4147-A177-3AD203B41FA5}">
                      <a16:colId val="3"/>
                    </a:ext>
                  </a:extLst>
                </a:gridCol>
                <a:gridCol w="2880360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384048">
                <a:tc>
                  <a:txBody>
                    <a:bodyPr wrap="square" lIns="54864" tIns="27432" rIns="54864" bIns="27432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指标</a:t>
                      </a:r>
                      <a:endParaRPr/>
                    </a:p>
                  </a:txBody>
                  <a:tcPr>
                    <a:solidFill>
                      <a:srgbClr val="002D50"/>
                    </a:solidFill>
                  </a:tcPr>
                </a:tc>
                <a:tc>
                  <a:txBody>
                    <a:bodyPr wrap="square" lIns="54864" tIns="27432" rIns="54864" bIns="27432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保守</a:t>
                      </a:r>
                      <a:endParaRPr/>
                    </a:p>
                  </a:txBody>
                  <a:tcPr>
                    <a:solidFill>
                      <a:srgbClr val="002D50"/>
                    </a:solidFill>
                  </a:tcPr>
                </a:tc>
                <a:tc>
                  <a:txBody>
                    <a:bodyPr wrap="square" lIns="54864" tIns="27432" rIns="54864" bIns="27432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中性</a:t>
                      </a:r>
                      <a:endParaRPr/>
                    </a:p>
                  </a:txBody>
                  <a:tcPr>
                    <a:solidFill>
                      <a:srgbClr val="002D50"/>
                    </a:solidFill>
                  </a:tcPr>
                </a:tc>
                <a:tc>
                  <a:txBody>
                    <a:bodyPr wrap="square" lIns="54864" tIns="27432" rIns="54864" bIns="27432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乐观</a:t>
                      </a:r>
                      <a:endParaRPr/>
                    </a:p>
                  </a:txBody>
                  <a:tcPr>
                    <a:solidFill>
                      <a:srgbClr val="002D50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384048"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测试周期缩短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20%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2D50"/>
                          </a:solidFill>
                          <a:latin typeface="微软雅黑"/>
                          <a:ea typeface="微软雅黑"/>
                        </a:rPr>
                        <a:t>40%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60%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384048"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长尾识别率改善</a:t>
                      </a:r>
                      <a:endParaRPr/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0%</a:t>
                      </a:r>
                      <a:endParaRPr/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2D50"/>
                          </a:solidFill>
                          <a:latin typeface="微软雅黑"/>
                          <a:ea typeface="微软雅黑"/>
                        </a:rPr>
                        <a:t>10%</a:t>
                      </a:r>
                      <a:endParaRPr/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20%</a:t>
                      </a:r>
                      <a:endParaRPr/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384048"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数据获取成本下降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5%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2D50"/>
                          </a:solidFill>
                          <a:latin typeface="微软雅黑"/>
                          <a:ea typeface="微软雅黑"/>
                        </a:rPr>
                        <a:t>12%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20%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384048"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外部共享流程缩短</a:t>
                      </a:r>
                      <a:endParaRPr/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0%</a:t>
                      </a:r>
                      <a:endParaRPr/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2D50"/>
                          </a:solidFill>
                          <a:latin typeface="微软雅黑"/>
                          <a:ea typeface="微软雅黑"/>
                        </a:rPr>
                        <a:t>50%</a:t>
                      </a:r>
                      <a:endParaRPr/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 wrap="square" lIns="54864" tIns="18288" rIns="54864" bIns="18288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90%</a:t>
                      </a:r>
                      <a:endParaRPr/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lnSpc>
                <a:spcPct val="12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4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全球银行业</a:t>
            </a:r>
            <a:r>
              <a:rPr sz="14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尚未出现公开生产级量化案例群</a:t>
            </a:r>
            <a:r>
              <a:rPr sz="14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——本行应</a:t>
            </a:r>
            <a:r>
              <a:rPr sz="14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跟踪而不押注</a:t>
            </a:r>
            <a:r>
              <a:rPr sz="14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。</a:t>
            </a:r>
            <a:endParaRPr/>
          </a:p>
          <a:p>
            <a:pPr algn="l">
              <a:lnSpc>
                <a:spcPct val="12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300" b="1">
                <a:solidFill>
                  <a:srgbClr val="FF64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[C] 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JPMorgan Chase</a:t>
            </a:r>
            <a:r>
              <a:rPr sz="13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（美国）</a:t>
            </a:r>
            <a:endParaRPr/>
          </a:p>
          <a:p>
            <a:pPr lvl="1">
              <a:lnSpc>
                <a:spcPct val="125000"/>
              </a:lnSpc>
              <a:spcAft>
                <a:spcPts val="4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SzPct val="100000"/>
              <a:buFont typeface="Arial" charset="0"/>
              <a:buChar char="–"/>
            </a:pPr>
            <a:r>
              <a:rPr sz="12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金融合成数据集与方法研究，</a:t>
            </a:r>
            <a:r>
              <a:rPr sz="12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公开发布供学界与产业使用</a:t>
            </a:r>
            <a:r>
              <a:rPr sz="12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——贡献开源基准。</a:t>
            </a:r>
            <a:endParaRPr/>
          </a:p>
          <a:p>
            <a:pPr>
              <a:lnSpc>
                <a:spcPct val="12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300" b="1">
                <a:solidFill>
                  <a:srgbClr val="FF64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[A] 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Nationwide</a:t>
            </a:r>
            <a:r>
              <a:rPr sz="13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（英国）</a:t>
            </a:r>
            <a:endParaRPr/>
          </a:p>
          <a:p>
            <a:pPr lvl="1">
              <a:lnSpc>
                <a:spcPct val="125000"/>
              </a:lnSpc>
              <a:spcAft>
                <a:spcPts val="4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SzPct val="100000"/>
              <a:buFont typeface="Arial" charset="0"/>
              <a:buChar char="–"/>
            </a:pPr>
            <a:r>
              <a:rPr sz="12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合成数据支持</a:t>
            </a:r>
            <a:r>
              <a:rPr sz="12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外部创新伙伴数据评估与共享</a:t>
            </a:r>
            <a:r>
              <a:rPr sz="12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——流程 6 个月→3 天（厂商口径，未独立验证）。</a:t>
            </a:r>
            <a:endParaRPr/>
          </a:p>
          <a:p>
            <a:pPr>
              <a:lnSpc>
                <a:spcPct val="12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300" b="1">
                <a:solidFill>
                  <a:srgbClr val="FF64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[C] 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UnionBank</a:t>
            </a:r>
            <a:r>
              <a:rPr sz="13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（菲律宾）</a:t>
            </a:r>
            <a:endParaRPr/>
          </a:p>
          <a:p>
            <a:pPr lvl="1">
              <a:lnSpc>
                <a:spcPct val="125000"/>
              </a:lnSpc>
              <a:spcAft>
                <a:spcPts val="4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SzPct val="100000"/>
              <a:buFont typeface="Arial" charset="0"/>
              <a:buChar char="–"/>
            </a:pPr>
            <a:r>
              <a:rPr sz="12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参与「合成数据共享生态（SynDEc）」设计研究——</a:t>
            </a:r>
            <a:r>
              <a:rPr sz="12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验证金融业共享框架</a:t>
            </a:r>
            <a:r>
              <a:rPr sz="12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。</a:t>
            </a:r>
            <a:endParaRPr/>
          </a:p>
          <a:p>
            <a:pPr>
              <a:lnSpc>
                <a:spcPct val="12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300" b="1">
                <a:solidFill>
                  <a:srgbClr val="FF64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[B] 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Riyad Bank</a:t>
            </a:r>
            <a:r>
              <a:rPr sz="13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（沙特）</a:t>
            </a:r>
            <a:endParaRPr/>
          </a:p>
          <a:p>
            <a:pPr lvl="1">
              <a:lnSpc>
                <a:spcPct val="125000"/>
              </a:lnSpc>
              <a:spcAft>
                <a:spcPts val="4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SzPct val="100000"/>
              <a:buFont typeface="Arial" charset="0"/>
              <a:buChar char="–"/>
            </a:pPr>
            <a:r>
              <a:rPr sz="12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与 zypl.ai 签 MoU——</a:t>
            </a:r>
            <a:r>
              <a:rPr sz="12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尚无公开量化结果</a:t>
            </a:r>
            <a:r>
              <a:rPr sz="12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，仅前期合作。</a:t>
            </a:r>
            <a:endParaRPr/>
          </a:p>
          <a:p>
            <a:pPr>
              <a:lnSpc>
                <a:spcPct val="12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300" b="1">
                <a:solidFill>
                  <a:srgbClr val="FF64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[—] 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国内银行</a:t>
            </a:r>
            <a:r>
              <a:rPr sz="13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（中国大陆）</a:t>
            </a:r>
            <a:endParaRPr/>
          </a:p>
          <a:p>
            <a:pPr lvl="1">
              <a:lnSpc>
                <a:spcPct val="125000"/>
              </a:lnSpc>
              <a:spcAft>
                <a:spcPts val="4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SzPct val="100000"/>
              <a:buFont typeface="Arial" charset="0"/>
              <a:buChar char="–"/>
            </a:pPr>
            <a:r>
              <a:rPr sz="12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未检索到银行官方披露的生产级应用</a:t>
            </a:r>
            <a:r>
              <a:rPr sz="12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——本行仍处于窗口期。</a:t>
            </a:r>
            <a:endParaRPr/>
          </a:p>
        </p:txBody>
      </p:sp>
      <p:sp>
        <p:nvSpPr>
          <p:cNvPr id="5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02D50"/>
                </a:solidFill>
                <a:latin typeface="微软雅黑"/>
                <a:ea typeface="微软雅黑"/>
              </a:rPr>
              <a:t>国内外同业落地案例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C8C8C"/>
                </a:solidFill>
                <a:latin typeface="微软雅黑"/>
                <a:ea typeface="微软雅黑"/>
              </a:rPr>
              <a:t>阶段：C 研究层 → B 试点前 → A 试点向生产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3400" b="1">
                <a:solidFill>
                  <a:srgbClr val="FFFFFF"/>
                </a:solidFill>
                <a:latin typeface="微软雅黑"/>
                <a:ea typeface="微软雅黑"/>
              </a:rPr>
              <a:t>风险与合规红线</a:t>
            </a:r>
            <a:endParaRPr/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CCD6E2"/>
                </a:solidFill>
                <a:latin typeface="微软雅黑"/>
                <a:ea typeface="微软雅黑"/>
              </a:rPr>
              <a:t>监管映射 + 风险清单（概率 × 影响）</a:t>
            </a:r>
            <a:endParaRPr/>
          </a:p>
        </p:txBody>
      </p:sp>
      <p:sp>
        <p:nvSpPr>
          <p:cNvPr id="55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6400"/>
                </a:solidFill>
                <a:latin typeface="微软雅黑"/>
                <a:ea typeface="微软雅黑"/>
              </a:rPr>
              <a:t>05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lnSpc>
                <a:spcPct val="12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4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《个人信息保护法》</a:t>
            </a:r>
            <a:r>
              <a:rPr sz="14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与</a:t>
            </a:r>
            <a:r>
              <a:rPr sz="14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「金发〔2026〕8 号」</a:t>
            </a:r>
            <a:r>
              <a:rPr sz="14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构成</a:t>
            </a:r>
            <a:r>
              <a:rPr sz="14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两条高风险红线</a:t>
            </a:r>
            <a:r>
              <a:rPr sz="14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——引入前必须落实安全评估。</a:t>
            </a:r>
            <a:endParaRPr/>
          </a:p>
          <a:p>
            <a:pPr algn="l">
              <a:lnSpc>
                <a:spcPct val="12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300" b="1">
                <a:solidFill>
                  <a:srgbClr val="FF64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[5] 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《个人信息保护法》</a:t>
            </a:r>
            <a:endParaRPr/>
          </a:p>
          <a:p>
            <a:pPr lvl="1">
              <a:lnSpc>
                <a:spcPct val="125000"/>
              </a:lnSpc>
              <a:spcAft>
                <a:spcPts val="4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SzPct val="100000"/>
              <a:buFont typeface="Arial" charset="0"/>
              <a:buChar char="–"/>
            </a:pPr>
            <a:r>
              <a:rPr sz="12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全行红线：含个人信息的数据处理全链路审计；</a:t>
            </a:r>
            <a:r>
              <a:rPr sz="12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合成数据需在去标识基础上做 DPIA</a:t>
            </a:r>
            <a:r>
              <a:rPr sz="12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。</a:t>
            </a:r>
            <a:endParaRPr/>
          </a:p>
          <a:p>
            <a:pPr>
              <a:lnSpc>
                <a:spcPct val="12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300" b="1">
                <a:solidFill>
                  <a:srgbClr val="FF64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[4] 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《数据安全法》</a:t>
            </a:r>
            <a:endParaRPr/>
          </a:p>
          <a:p>
            <a:pPr lvl="1">
              <a:lnSpc>
                <a:spcPct val="125000"/>
              </a:lnSpc>
              <a:spcAft>
                <a:spcPts val="4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SzPct val="100000"/>
              <a:buFont typeface="Arial" charset="0"/>
              <a:buChar char="–"/>
            </a:pPr>
            <a:r>
              <a:rPr sz="12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数据分类分级 + 重要数据出境安全评估；合成数据共享触发该法多项义务。</a:t>
            </a:r>
            <a:endParaRPr/>
          </a:p>
          <a:p>
            <a:pPr>
              <a:lnSpc>
                <a:spcPct val="12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300" b="1">
                <a:solidFill>
                  <a:srgbClr val="FF64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[4] 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《银行保险数据安全管理办法》</a:t>
            </a:r>
            <a:endParaRPr/>
          </a:p>
          <a:p>
            <a:pPr lvl="1">
              <a:lnSpc>
                <a:spcPct val="125000"/>
              </a:lnSpc>
              <a:spcAft>
                <a:spcPts val="4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SzPct val="100000"/>
              <a:buFont typeface="Arial" charset="0"/>
              <a:buChar char="–"/>
            </a:pPr>
            <a:r>
              <a:rPr sz="12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客户信息</a:t>
            </a:r>
            <a:r>
              <a:rPr sz="12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不出行</a:t>
            </a:r>
            <a:r>
              <a:rPr sz="12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为默认；脱敏与合成</a:t>
            </a:r>
            <a:r>
              <a:rPr sz="12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仅作为受控例外</a:t>
            </a:r>
            <a:r>
              <a:rPr sz="12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。</a:t>
            </a:r>
            <a:endParaRPr/>
          </a:p>
          <a:p>
            <a:pPr>
              <a:lnSpc>
                <a:spcPct val="12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300" b="1">
                <a:solidFill>
                  <a:srgbClr val="FF64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[4] 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深度合成 AI 管理规定</a:t>
            </a:r>
            <a:endParaRPr/>
          </a:p>
          <a:p>
            <a:pPr lvl="1">
              <a:lnSpc>
                <a:spcPct val="125000"/>
              </a:lnSpc>
              <a:spcAft>
                <a:spcPts val="4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SzPct val="100000"/>
              <a:buFont typeface="Arial" charset="0"/>
              <a:buChar char="–"/>
            </a:pPr>
            <a:r>
              <a:rPr sz="12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合成内容需</a:t>
            </a:r>
            <a:r>
              <a:rPr sz="12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显著标识</a:t>
            </a:r>
            <a:r>
              <a:rPr sz="12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；模型服务备案、训练数据来源合法。</a:t>
            </a:r>
            <a:endParaRPr/>
          </a:p>
          <a:p>
            <a:pPr>
              <a:lnSpc>
                <a:spcPct val="12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300" b="1">
                <a:solidFill>
                  <a:srgbClr val="FF64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[5] 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金发〔2026〕8 号</a:t>
            </a:r>
            <a:r>
              <a:rPr sz="13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（金融领域 AI 指引）</a:t>
            </a:r>
            <a:endParaRPr/>
          </a:p>
          <a:p>
            <a:pPr lvl="1">
              <a:lnSpc>
                <a:spcPct val="125000"/>
              </a:lnSpc>
              <a:spcAft>
                <a:spcPts val="4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SzPct val="100000"/>
              <a:buFont typeface="Arial" charset="0"/>
              <a:buChar char="–"/>
            </a:pPr>
            <a:r>
              <a:rPr sz="12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金融 AI 应用</a:t>
            </a:r>
            <a:r>
              <a:rPr sz="12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事前评估、过程审计、结果可解释</a:t>
            </a:r>
            <a:r>
              <a:rPr sz="12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——对生成式 AI 重点关注。</a:t>
            </a:r>
            <a:endParaRPr/>
          </a:p>
          <a:p>
            <a:pPr>
              <a:lnSpc>
                <a:spcPct val="12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300" b="1">
                <a:solidFill>
                  <a:srgbClr val="FF64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[3] 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《征信业务管理办法》</a:t>
            </a:r>
            <a:endParaRPr/>
          </a:p>
          <a:p>
            <a:pPr lvl="1">
              <a:lnSpc>
                <a:spcPct val="125000"/>
              </a:lnSpc>
              <a:spcAft>
                <a:spcPts val="4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SzPct val="100000"/>
              <a:buFont typeface="Arial" charset="0"/>
              <a:buChar char="–"/>
            </a:pPr>
            <a:r>
              <a:rPr sz="12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若合成数据用于类征信模型训练，</a:t>
            </a:r>
            <a:r>
              <a:rPr sz="12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需穿透审查底层数据合法性</a:t>
            </a:r>
            <a:r>
              <a:rPr sz="12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。</a:t>
            </a:r>
            <a:endParaRPr/>
          </a:p>
        </p:txBody>
      </p:sp>
      <p:sp>
        <p:nvSpPr>
          <p:cNvPr id="58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02D50"/>
                </a:solidFill>
                <a:latin typeface="微软雅黑"/>
                <a:ea typeface="微软雅黑"/>
              </a:rPr>
              <a:t>监管合规要求映射（风险等级）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C8C8C"/>
                </a:solidFill>
                <a:latin typeface="微软雅黑"/>
                <a:ea typeface="微软雅黑"/>
              </a:rPr>
              <a:t>等级越高 = 合规约束越强 = 需前置审批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02D50"/>
                </a:solidFill>
                <a:latin typeface="微软雅黑"/>
                <a:ea typeface="微软雅黑"/>
              </a:rPr>
              <a:t>风险清单（概率 × 影响 气泡图）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C8C8C"/>
                </a:solidFill>
                <a:latin typeface="微软雅黑"/>
                <a:ea typeface="微软雅黑"/>
              </a:rPr>
              <a:t>X = 发生概率（1=低, 5=高），Y = 业务影响（1=低, 5=高）</a:t>
            </a:r>
            <a:endParaRPr/>
          </a:p>
        </p:txBody>
      </p:sp>
      <p:pic>
        <p:nvPicPr>
          <p:cNvPr id="61" name="Picture 2" descr="bubble_ris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" y="1417320"/>
            <a:ext cx="6035040" cy="3657600"/>
          </a:xfrm>
          <a:prstGeom prst="rect">
            <a:avLst/>
          </a:prstGeom>
        </p:spPr>
      </p:pic>
      <p:sp>
        <p:nvSpPr>
          <p:cNvPr id="62" name="TextBox 3"/>
          <p:cNvSpPr txBox="1"/>
          <p:nvPr/>
        </p:nvSpPr>
        <p:spPr>
          <a:xfrm>
            <a:off x="338328" y="5120640"/>
            <a:ext cx="6035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C8C8C"/>
                </a:solidFill>
                <a:latin typeface="微软雅黑"/>
                <a:ea typeface="微软雅黑"/>
              </a:rPr>
              <a:t>图 5.1　合成数据风险矩阵（气泡大小=综合关注度）</a:t>
            </a:r>
            <a:endParaRPr/>
          </a:p>
        </p:txBody>
      </p:sp>
      <p:sp>
        <p:nvSpPr>
          <p:cNvPr id="63" name="TextBox 4"/>
          <p:cNvSpPr txBox="1"/>
          <p:nvPr/>
        </p:nvSpPr>
        <p:spPr>
          <a:xfrm>
            <a:off x="6556248" y="141732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02D50"/>
                </a:solidFill>
                <a:latin typeface="微软雅黑"/>
                <a:ea typeface="微软雅黑"/>
              </a:rPr>
              <a:t>**象限解读**</a:t>
            </a:r>
            <a:endParaRPr/>
          </a:p>
        </p:txBody>
      </p:sp>
      <p:sp>
        <p:nvSpPr>
          <p:cNvPr id="64" name="TextBox 5"/>
          <p:cNvSpPr txBox="1"/>
          <p:nvPr/>
        </p:nvSpPr>
        <p:spPr>
          <a:xfrm>
            <a:off x="6556248" y="1783080"/>
            <a:ext cx="530352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/>
            <a:endParaRPr/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FF6400"/>
                </a:solidFill>
                <a:latin typeface="微软雅黑"/>
                <a:ea typeface="微软雅黑"/>
              </a:rPr>
              <a:t>▪  </a:t>
            </a:r>
            <a:r>
              <a:rPr sz="1100" b="1">
                <a:solidFill>
                  <a:srgbClr val="002D50"/>
                </a:solidFill>
                <a:latin typeface="微软雅黑"/>
                <a:ea typeface="微软雅黑"/>
              </a:rPr>
              <a:t>右上角（高×高）= 重点防御</a:t>
            </a: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：隐私泄露、监管认可、保真度、偏差、人才缺口</a:t>
            </a:r>
            <a:endParaRPr/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FF6400"/>
                </a:solidFill>
                <a:latin typeface="微软雅黑"/>
                <a:ea typeface="微软雅黑"/>
              </a:rPr>
              <a:t>▪  </a:t>
            </a:r>
            <a:r>
              <a:rPr sz="1100" b="1">
                <a:solidFill>
                  <a:srgbClr val="002D50"/>
                </a:solidFill>
                <a:latin typeface="微软雅黑"/>
                <a:ea typeface="微软雅黑"/>
              </a:rPr>
              <a:t>中部（中×中）= 常规管控</a:t>
            </a: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：模式崩溃、血缘断裂、供应商</a:t>
            </a:r>
            <a:endParaRPr/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FF6400"/>
                </a:solidFill>
                <a:latin typeface="微软雅黑"/>
                <a:ea typeface="微软雅黑"/>
              </a:rPr>
              <a:t>▪  </a:t>
            </a:r>
            <a:r>
              <a:rPr sz="1100" b="1">
                <a:solidFill>
                  <a:srgbClr val="002D50"/>
                </a:solidFill>
                <a:latin typeface="微软雅黑"/>
                <a:ea typeface="微软雅黑"/>
              </a:rPr>
              <a:t>应对原则</a:t>
            </a: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：</a:t>
            </a:r>
            <a:r>
              <a:rPr sz="1100" b="1">
                <a:solidFill>
                  <a:srgbClr val="002D50"/>
                </a:solidFill>
                <a:latin typeface="微软雅黑"/>
                <a:ea typeface="微软雅黑"/>
              </a:rPr>
              <a:t>先解右上角</a:t>
            </a: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再扩展 POC；隐私与合规为前置项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3400" b="1">
                <a:solidFill>
                  <a:srgbClr val="FFFFFF"/>
                </a:solidFill>
                <a:latin typeface="微软雅黑"/>
                <a:ea typeface="微软雅黑"/>
              </a:rPr>
              <a:t>市场格局与竞争生态</a:t>
            </a:r>
            <a:endParaRPr/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CCD6E2"/>
                </a:solidFill>
                <a:latin typeface="微软雅黑"/>
                <a:ea typeface="微软雅黑"/>
              </a:rPr>
              <a:t>全球市场规模 + 厂商/开源生态 + 行业五力</a:t>
            </a:r>
            <a:endParaRPr/>
          </a:p>
        </p:txBody>
      </p:sp>
      <p:sp>
        <p:nvSpPr>
          <p:cNvPr id="67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6400"/>
                </a:solidFill>
                <a:latin typeface="微软雅黑"/>
                <a:ea typeface="微软雅黑"/>
              </a:rPr>
              <a:t>06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02D50"/>
                </a:solidFill>
                <a:latin typeface="微软雅黑"/>
                <a:ea typeface="微软雅黑"/>
              </a:rPr>
              <a:t>合成数据行业 Porter 五力结构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C8C8C"/>
                </a:solidFill>
                <a:latin typeface="微软雅黑"/>
                <a:ea typeface="微软雅黑"/>
              </a:rPr>
              <a:t>银行作为购买者议价能力偏强，替代品威胁偏高</a:t>
            </a:r>
            <a:endParaRPr/>
          </a:p>
        </p:txBody>
      </p:sp>
      <p:pic>
        <p:nvPicPr>
          <p:cNvPr id="70" name="Picture 2" descr="image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" y="1463040"/>
            <a:ext cx="5852160" cy="3840480"/>
          </a:xfrm>
          <a:prstGeom prst="rect">
            <a:avLst/>
          </a:prstGeom>
        </p:spPr>
      </p:pic>
      <p:sp>
        <p:nvSpPr>
          <p:cNvPr id="71" name="TextBox 3"/>
          <p:cNvSpPr txBox="1"/>
          <p:nvPr/>
        </p:nvSpPr>
        <p:spPr>
          <a:xfrm>
            <a:off x="338328" y="5349240"/>
            <a:ext cx="5852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C8C8C"/>
                </a:solidFill>
                <a:latin typeface="微软雅黑"/>
                <a:ea typeface="微软雅黑"/>
              </a:rPr>
              <a:t>图 6.1　合成数据行业五力结构示意（自绘）</a:t>
            </a:r>
            <a:endParaRPr/>
          </a:p>
        </p:txBody>
      </p:sp>
      <p:sp>
        <p:nvSpPr>
          <p:cNvPr id="72" name="TextBox 4"/>
          <p:cNvSpPr txBox="1"/>
          <p:nvPr/>
        </p:nvSpPr>
        <p:spPr>
          <a:xfrm>
            <a:off x="6373368" y="1463040"/>
            <a:ext cx="548639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02D50"/>
                </a:solidFill>
                <a:latin typeface="微软雅黑"/>
                <a:ea typeface="微软雅黑"/>
              </a:rPr>
              <a:t>**读图要点**</a:t>
            </a:r>
            <a:endParaRPr/>
          </a:p>
        </p:txBody>
      </p:sp>
      <p:sp>
        <p:nvSpPr>
          <p:cNvPr id="73" name="TextBox 5"/>
          <p:cNvSpPr txBox="1"/>
          <p:nvPr/>
        </p:nvSpPr>
        <p:spPr>
          <a:xfrm>
            <a:off x="6373368" y="1828800"/>
            <a:ext cx="5486399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/>
            <a:endParaRPr/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FF6400"/>
                </a:solidFill>
                <a:latin typeface="微软雅黑"/>
                <a:ea typeface="微软雅黑"/>
              </a:rPr>
              <a:t>▪  </a:t>
            </a:r>
            <a:r>
              <a:rPr sz="1100" b="1">
                <a:solidFill>
                  <a:srgbClr val="002D50"/>
                </a:solidFill>
                <a:latin typeface="微软雅黑"/>
                <a:ea typeface="微软雅黑"/>
              </a:rPr>
              <a:t>潜在进入者</a:t>
            </a: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：高（开源门槛低、云大厂切入）——生态风险敞口上升</a:t>
            </a:r>
            <a:endParaRPr/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FF6400"/>
                </a:solidFill>
                <a:latin typeface="微软雅黑"/>
                <a:ea typeface="微软雅黑"/>
              </a:rPr>
              <a:t>▪  </a:t>
            </a:r>
            <a:r>
              <a:rPr sz="1100" b="1">
                <a:solidFill>
                  <a:srgbClr val="002D50"/>
                </a:solidFill>
                <a:latin typeface="微软雅黑"/>
                <a:ea typeface="微软雅黑"/>
              </a:rPr>
              <a:t>供应商</a:t>
            </a: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：中等（算力集中、算法开源）——可缓解</a:t>
            </a:r>
            <a:endParaRPr/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FF6400"/>
                </a:solidFill>
                <a:latin typeface="微软雅黑"/>
                <a:ea typeface="微软雅黑"/>
              </a:rPr>
              <a:t>▪  </a:t>
            </a:r>
            <a:r>
              <a:rPr sz="1100" b="1">
                <a:solidFill>
                  <a:srgbClr val="002D50"/>
                </a:solidFill>
                <a:latin typeface="微软雅黑"/>
                <a:ea typeface="微软雅黑"/>
              </a:rPr>
              <a:t>购买者</a:t>
            </a: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：</a:t>
            </a:r>
            <a:r>
              <a:rPr sz="1100" b="1">
                <a:solidFill>
                  <a:srgbClr val="002D50"/>
                </a:solidFill>
                <a:latin typeface="微软雅黑"/>
                <a:ea typeface="微软雅黑"/>
              </a:rPr>
              <a:t>中等偏强</a:t>
            </a: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——银行议价能力强、实施稀缺</a:t>
            </a:r>
            <a:endParaRPr/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FF6400"/>
                </a:solidFill>
                <a:latin typeface="微软雅黑"/>
                <a:ea typeface="微软雅黑"/>
              </a:rPr>
              <a:t>▪  </a:t>
            </a:r>
            <a:r>
              <a:rPr sz="1100" b="1">
                <a:solidFill>
                  <a:srgbClr val="002D50"/>
                </a:solidFill>
                <a:latin typeface="微软雅黑"/>
                <a:ea typeface="微软雅黑"/>
              </a:rPr>
              <a:t>替代品</a:t>
            </a: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：</a:t>
            </a:r>
            <a:r>
              <a:rPr sz="1100" b="1">
                <a:solidFill>
                  <a:srgbClr val="002D50"/>
                </a:solidFill>
                <a:latin typeface="微软雅黑"/>
                <a:ea typeface="微软雅黑"/>
              </a:rPr>
              <a:t>中等偏高</a:t>
            </a: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（脱敏/隐私计算可替代）——本行应取合成+互补组合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02D50"/>
                </a:solidFill>
                <a:latin typeface="微软雅黑"/>
                <a:ea typeface="微软雅黑"/>
              </a:rPr>
              <a:t>全球市场规模：多来源交叉验证（USD 十亿）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C8C8C"/>
                </a:solidFill>
                <a:latin typeface="微软雅黑"/>
                <a:ea typeface="微软雅黑"/>
              </a:rPr>
              <a:t>Gartner 预判与产业并购信号一致：3—5 年关键窗口</a:t>
            </a:r>
            <a:endParaRPr/>
          </a:p>
        </p:txBody>
      </p:sp>
      <p:sp>
        <p:nvSpPr>
          <p:cNvPr id="76" name="TextBox 2"/>
          <p:cNvSpPr txBox="1"/>
          <p:nvPr/>
        </p:nvSpPr>
        <p:spPr>
          <a:xfrm>
            <a:off x="338328" y="1170432"/>
            <a:ext cx="115214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四家机构口径</a:t>
            </a:r>
            <a:r>
              <a:rPr sz="1200" b="1">
                <a:solidFill>
                  <a:srgbClr val="002D50"/>
                </a:solidFill>
                <a:latin typeface="微软雅黑"/>
                <a:ea typeface="微软雅黑"/>
              </a:rPr>
              <a:t>方向一致、量级存在差异</a:t>
            </a: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——应以「区间+方向」而非「单点数字」决策。</a:t>
            </a:r>
            <a:endParaRPr/>
          </a:p>
        </p:txBody>
      </p:sp>
      <p:pic>
        <p:nvPicPr>
          <p:cNvPr id="77" name="Picture 3" descr="market_lin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" y="1463040"/>
            <a:ext cx="6949440" cy="3840480"/>
          </a:xfrm>
          <a:prstGeom prst="rect">
            <a:avLst/>
          </a:prstGeom>
        </p:spPr>
      </p:pic>
      <p:sp>
        <p:nvSpPr>
          <p:cNvPr id="78" name="TextBox 4"/>
          <p:cNvSpPr txBox="1"/>
          <p:nvPr/>
        </p:nvSpPr>
        <p:spPr>
          <a:xfrm>
            <a:off x="338328" y="5349240"/>
            <a:ext cx="6949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C8C8C"/>
                </a:solidFill>
                <a:latin typeface="微软雅黑"/>
                <a:ea typeface="微软雅黑"/>
              </a:rPr>
              <a:t>图 6.2　合成数据市场规模预测（四机构对照）</a:t>
            </a:r>
            <a:endParaRPr/>
          </a:p>
        </p:txBody>
      </p:sp>
      <p:sp>
        <p:nvSpPr>
          <p:cNvPr id="79" name="TextBox 5"/>
          <p:cNvSpPr txBox="1"/>
          <p:nvPr/>
        </p:nvSpPr>
        <p:spPr>
          <a:xfrm>
            <a:off x="7470648" y="1463040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02D50"/>
                </a:solidFill>
                <a:latin typeface="微软雅黑"/>
                <a:ea typeface="微软雅黑"/>
              </a:rPr>
              <a:t>**读图要点**</a:t>
            </a:r>
            <a:endParaRPr/>
          </a:p>
        </p:txBody>
      </p:sp>
      <p:sp>
        <p:nvSpPr>
          <p:cNvPr id="80" name="TextBox 6"/>
          <p:cNvSpPr txBox="1"/>
          <p:nvPr/>
        </p:nvSpPr>
        <p:spPr>
          <a:xfrm>
            <a:off x="7470648" y="1828800"/>
            <a:ext cx="4389120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/>
            <a:endParaRPr/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FF6400"/>
                </a:solidFill>
                <a:latin typeface="微软雅黑"/>
                <a:ea typeface="微软雅黑"/>
              </a:rPr>
              <a:t>▪  </a:t>
            </a:r>
            <a:r>
              <a:rPr sz="1100" b="1">
                <a:solidFill>
                  <a:srgbClr val="002D50"/>
                </a:solidFill>
                <a:latin typeface="微软雅黑"/>
                <a:ea typeface="微软雅黑"/>
              </a:rPr>
              <a:t>2026 年区间</a:t>
            </a: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：7.9—9.2（USD 十亿）——</a:t>
            </a:r>
            <a:r>
              <a:rPr sz="1100" b="1">
                <a:solidFill>
                  <a:srgbClr val="002D50"/>
                </a:solidFill>
                <a:latin typeface="微软雅黑"/>
                <a:ea typeface="微软雅黑"/>
              </a:rPr>
              <a:t>口径差异约 ±10%</a:t>
            </a:r>
            <a:endParaRPr/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FF6400"/>
                </a:solidFill>
                <a:latin typeface="微软雅黑"/>
                <a:ea typeface="微软雅黑"/>
              </a:rPr>
              <a:t>▪  </a:t>
            </a:r>
            <a:r>
              <a:rPr sz="1100" b="1">
                <a:solidFill>
                  <a:srgbClr val="002D50"/>
                </a:solidFill>
                <a:latin typeface="微软雅黑"/>
                <a:ea typeface="微软雅黑"/>
              </a:rPr>
              <a:t>2030 年区间</a:t>
            </a: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：17.9—30.2——</a:t>
            </a:r>
            <a:r>
              <a:rPr sz="1100" b="1">
                <a:solidFill>
                  <a:srgbClr val="002D50"/>
                </a:solidFill>
                <a:latin typeface="微软雅黑"/>
                <a:ea typeface="微软雅黑"/>
              </a:rPr>
              <a:t>方向上行、增速分歧</a:t>
            </a:r>
            <a:endParaRPr/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FF6400"/>
                </a:solidFill>
                <a:latin typeface="微软雅黑"/>
                <a:ea typeface="微软雅黑"/>
              </a:rPr>
              <a:t>▪  </a:t>
            </a:r>
            <a:r>
              <a:rPr sz="1100" b="1">
                <a:solidFill>
                  <a:srgbClr val="002D50"/>
                </a:solidFill>
                <a:latin typeface="微软雅黑"/>
                <a:ea typeface="微软雅黑"/>
              </a:rPr>
              <a:t>行业共识</a:t>
            </a: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：年复合增长 </a:t>
            </a:r>
            <a:r>
              <a:rPr sz="1100" b="1">
                <a:solidFill>
                  <a:srgbClr val="002D50"/>
                </a:solidFill>
                <a:latin typeface="微软雅黑"/>
                <a:ea typeface="微软雅黑"/>
              </a:rPr>
              <a:t>30%—40%</a:t>
            </a: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——3—5 年关键窗口期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lnSpc>
                <a:spcPct val="12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4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建议</a:t>
            </a:r>
            <a:r>
              <a:rPr sz="14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优先 SDV/DataCebo 基线 + 选择性厂商能力叠加</a:t>
            </a:r>
            <a:r>
              <a:rPr sz="14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，避免单一技术路线绑定。</a:t>
            </a:r>
            <a:endParaRPr/>
          </a:p>
          <a:p>
            <a:pPr algn="l">
              <a:lnSpc>
                <a:spcPct val="12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300" b="1">
                <a:solidFill>
                  <a:srgbClr val="FF64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[5] 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NVIDIA–Gretel</a:t>
            </a:r>
            <a:r>
              <a:rPr sz="13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（并购整合）</a:t>
            </a:r>
            <a:endParaRPr/>
          </a:p>
          <a:p>
            <a:pPr lvl="1">
              <a:lnSpc>
                <a:spcPct val="125000"/>
              </a:lnSpc>
              <a:spcAft>
                <a:spcPts val="4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SzPct val="100000"/>
              <a:buFont typeface="Arial" charset="0"/>
              <a:buChar char="–"/>
            </a:pPr>
            <a:r>
              <a:rPr sz="12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GPU 算力栈 + 合成数据平台；</a:t>
            </a:r>
            <a:r>
              <a:rPr sz="12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生态最完整</a:t>
            </a:r>
            <a:r>
              <a:rPr sz="12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，但需关注供应商锁定与数据出域。</a:t>
            </a:r>
            <a:endParaRPr/>
          </a:p>
          <a:p>
            <a:pPr>
              <a:lnSpc>
                <a:spcPct val="12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300" b="1">
                <a:solidFill>
                  <a:srgbClr val="FF64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[5] 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SAS–Hazy</a:t>
            </a:r>
            <a:r>
              <a:rPr sz="13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（企业级）</a:t>
            </a:r>
            <a:endParaRPr/>
          </a:p>
          <a:p>
            <a:pPr lvl="1">
              <a:lnSpc>
                <a:spcPct val="125000"/>
              </a:lnSpc>
              <a:spcAft>
                <a:spcPts val="4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SzPct val="100000"/>
              <a:buFont typeface="Arial" charset="0"/>
              <a:buChar char="–"/>
            </a:pPr>
            <a:r>
              <a:rPr sz="12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金融行业 know-how 沉淀深；</a:t>
            </a:r>
            <a:r>
              <a:rPr sz="12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项目实施成本高</a:t>
            </a:r>
            <a:r>
              <a:rPr sz="12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——预算口径需提前评估。</a:t>
            </a:r>
            <a:endParaRPr/>
          </a:p>
          <a:p>
            <a:pPr>
              <a:lnSpc>
                <a:spcPct val="12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300" b="1">
                <a:solidFill>
                  <a:srgbClr val="FF64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[5] 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SDV / DataCebo</a:t>
            </a:r>
            <a:r>
              <a:rPr sz="13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（开源基线）</a:t>
            </a:r>
            <a:endParaRPr/>
          </a:p>
          <a:p>
            <a:pPr lvl="1">
              <a:lnSpc>
                <a:spcPct val="125000"/>
              </a:lnSpc>
              <a:spcAft>
                <a:spcPts val="4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SzPct val="100000"/>
              <a:buFont typeface="Arial" charset="0"/>
              <a:buChar char="–"/>
            </a:pPr>
            <a:r>
              <a:rPr sz="12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MIT/Apache 协议；</a:t>
            </a:r>
            <a:r>
              <a:rPr sz="12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首推作为内部基线</a:t>
            </a:r>
            <a:r>
              <a:rPr sz="12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，扩展性最好、可控性最强。</a:t>
            </a:r>
            <a:endParaRPr/>
          </a:p>
          <a:p>
            <a:pPr>
              <a:lnSpc>
                <a:spcPct val="12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300" b="1">
                <a:solidFill>
                  <a:srgbClr val="FF64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[4] 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ydata-synthetic</a:t>
            </a:r>
            <a:r>
              <a:rPr sz="13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（开源）</a:t>
            </a:r>
            <a:endParaRPr/>
          </a:p>
          <a:p>
            <a:pPr lvl="1">
              <a:lnSpc>
                <a:spcPct val="125000"/>
              </a:lnSpc>
              <a:spcAft>
                <a:spcPts val="4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SzPct val="100000"/>
              <a:buFont typeface="Arial" charset="0"/>
              <a:buChar char="–"/>
            </a:pPr>
            <a:r>
              <a:rPr sz="12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支持多模型与质量评估，</a:t>
            </a:r>
            <a:r>
              <a:rPr sz="12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适合 POC 阶段横向对照</a:t>
            </a:r>
            <a:r>
              <a:rPr sz="12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。</a:t>
            </a:r>
            <a:endParaRPr/>
          </a:p>
          <a:p>
            <a:pPr>
              <a:lnSpc>
                <a:spcPct val="12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300" b="1">
                <a:solidFill>
                  <a:srgbClr val="FF64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[4] 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Mostly / Tonic / YData</a:t>
            </a:r>
            <a:r>
              <a:rPr sz="13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（专业厂商）</a:t>
            </a:r>
            <a:endParaRPr/>
          </a:p>
          <a:p>
            <a:pPr lvl="1">
              <a:lnSpc>
                <a:spcPct val="125000"/>
              </a:lnSpc>
              <a:spcAft>
                <a:spcPts val="4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SzPct val="100000"/>
              <a:buFont typeface="Arial" charset="0"/>
              <a:buChar char="–"/>
            </a:pPr>
            <a:r>
              <a:rPr sz="12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API 化交付、</a:t>
            </a:r>
            <a:r>
              <a:rPr sz="12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集成速度快</a:t>
            </a:r>
            <a:r>
              <a:rPr sz="12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；隐私保护与合规审计能力参差。</a:t>
            </a:r>
            <a:endParaRPr/>
          </a:p>
          <a:p>
            <a:pPr>
              <a:lnSpc>
                <a:spcPct val="120000"/>
              </a:lnSpc>
              <a:spcAft>
                <a:spcPts val="8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300" b="1">
                <a:solidFill>
                  <a:srgbClr val="FF64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[3] 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国内厂商</a:t>
            </a:r>
            <a:r>
              <a:rPr sz="13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（国产化路径）</a:t>
            </a:r>
            <a:endParaRPr/>
          </a:p>
          <a:p>
            <a:pPr lvl="1">
              <a:lnSpc>
                <a:spcPct val="125000"/>
              </a:lnSpc>
              <a:spcAft>
                <a:spcPts val="4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SzPct val="100000"/>
              <a:buFont typeface="Arial" charset="0"/>
              <a:buChar char="–"/>
            </a:pPr>
            <a:r>
              <a:rPr sz="12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成熟度不一，</a:t>
            </a:r>
            <a:r>
              <a:rPr sz="12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核心系统优先本土可控</a:t>
            </a:r>
            <a:r>
              <a:rPr sz="12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；要求国产化时再启动选型评估。</a:t>
            </a:r>
            <a:endParaRPr/>
          </a:p>
        </p:txBody>
      </p:sp>
      <p:sp>
        <p:nvSpPr>
          <p:cNvPr id="8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02D50"/>
                </a:solidFill>
                <a:latin typeface="微软雅黑"/>
                <a:ea typeface="微软雅黑"/>
              </a:rPr>
              <a:t>厂商与开源生态格局（成熟度评分）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C8C8C"/>
                </a:solidFill>
                <a:latin typeface="微软雅黑"/>
                <a:ea typeface="微软雅黑"/>
              </a:rPr>
              <a:t>并购整合者 &gt; 开源生态 &gt; 专业厂商 &gt; 国内参与者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3400" b="1">
                <a:solidFill>
                  <a:srgbClr val="FFFFFF"/>
                </a:solidFill>
                <a:latin typeface="微软雅黑"/>
                <a:ea typeface="微软雅黑"/>
              </a:rPr>
              <a:t>战略匹配与六维评级</a:t>
            </a:r>
            <a:endParaRPr/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CCD6E2"/>
                </a:solidFill>
                <a:latin typeface="微软雅黑"/>
                <a:ea typeface="微软雅黑"/>
              </a:rPr>
              <a:t>SWOT + 六维雷达 + 处置档位推导</a:t>
            </a:r>
            <a:endParaRPr/>
          </a:p>
        </p:txBody>
      </p:sp>
      <p:sp>
        <p:nvSpPr>
          <p:cNvPr id="86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6400"/>
                </a:solidFill>
                <a:latin typeface="微软雅黑"/>
                <a:ea typeface="微软雅黑"/>
              </a:rPr>
              <a:t>07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02D50"/>
                </a:solidFill>
                <a:latin typeface="微软雅黑"/>
                <a:ea typeface="微软雅黑"/>
              </a:rPr>
              <a:t>战略匹配度与 SWOT 分析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C8C8C"/>
                </a:solidFill>
                <a:latin typeface="微软雅黑"/>
                <a:ea typeface="微软雅黑"/>
              </a:rPr>
              <a:t>本行禀赋 × 外部环境的策略转化</a:t>
            </a:r>
            <a:endParaRPr/>
          </a:p>
        </p:txBody>
      </p:sp>
      <p:sp>
        <p:nvSpPr>
          <p:cNvPr id="89" name="TextBox 2"/>
          <p:cNvSpPr txBox="1"/>
          <p:nvPr/>
        </p:nvSpPr>
        <p:spPr>
          <a:xfrm>
            <a:off x="338328" y="1170432"/>
            <a:ext cx="115214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优势、劣势、威胁、机会四象限组合——支持「深入研究（研究层）」的处置档位结论。</a:t>
            </a:r>
            <a:endParaRPr/>
          </a:p>
        </p:txBody>
      </p:sp>
      <p:sp>
        <p:nvSpPr>
          <p:cNvPr id="90" name="Rounded Rectangle 3"/>
          <p:cNvSpPr/>
          <p:nvPr/>
        </p:nvSpPr>
        <p:spPr>
          <a:xfrm>
            <a:off x="338328" y="1673352"/>
            <a:ext cx="5669280" cy="2103120"/>
          </a:xfrm>
          <a:prstGeom prst="roundRect">
            <a:avLst/>
          </a:prstGeom>
          <a:solidFill>
            <a:srgbClr val="F2F5F8"/>
          </a:solidFill>
          <a:ln w="19050">
            <a:solidFill>
              <a:srgbClr val="006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64592" rtlCol="0" anchor="ctr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064A0"/>
                </a:solidFill>
                <a:latin typeface="微软雅黑"/>
                <a:ea typeface="微软雅黑"/>
              </a:rPr>
              <a:t>S  优势 Strengths</a:t>
            </a:r>
            <a:endParaRPr/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2D50"/>
                </a:solidFill>
                <a:latin typeface="微软雅黑"/>
                <a:ea typeface="微软雅黑"/>
              </a:rPr>
              <a:t>数据资产规模大、治理体系较完善</a:t>
            </a: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；已有数据中台、AI 平台与模型风险管理流程可承接；风控、研发测试场景痛点真实且可量化。SO 策略：以开源工具在既有平台做低成本 POC，把「数据资产」转化为「数据供给能力」。</a:t>
            </a:r>
            <a:endParaRPr/>
          </a:p>
        </p:txBody>
      </p:sp>
      <p:sp>
        <p:nvSpPr>
          <p:cNvPr id="91" name="Rectangle 4"/>
          <p:cNvSpPr/>
          <p:nvPr/>
        </p:nvSpPr>
        <p:spPr>
          <a:xfrm>
            <a:off x="338328" y="1673352"/>
            <a:ext cx="5669280" cy="54864"/>
          </a:xfrm>
          <a:prstGeom prst="rect">
            <a:avLst/>
          </a:prstGeom>
          <a:solidFill>
            <a:srgbClr val="006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ounded Rectangle 5"/>
          <p:cNvSpPr/>
          <p:nvPr/>
        </p:nvSpPr>
        <p:spPr>
          <a:xfrm>
            <a:off x="6144768" y="1673352"/>
            <a:ext cx="5669280" cy="2103120"/>
          </a:xfrm>
          <a:prstGeom prst="roundRect">
            <a:avLst/>
          </a:prstGeom>
          <a:solidFill>
            <a:srgbClr val="F2F5F8"/>
          </a:solidFill>
          <a:ln w="1905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64592" rtlCol="0" anchor="ctr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8C8C8C"/>
                </a:solidFill>
                <a:latin typeface="微软雅黑"/>
                <a:ea typeface="微软雅黑"/>
              </a:rPr>
              <a:t>W  劣势 Weaknesses</a:t>
            </a:r>
            <a:endParaRPr/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2D50"/>
                </a:solidFill>
                <a:latin typeface="微软雅黑"/>
                <a:ea typeface="微软雅黑"/>
              </a:rPr>
              <a:t>生成模型工程与隐私审计人才不足</a:t>
            </a: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；合成数据质量评估方法与评测基线空白；真实数据血缘与授权管理仍需补课。WO 策略：借 POC 沉淀方法论与评测基线，同步补数据就绪度短板。</a:t>
            </a:r>
            <a:endParaRPr/>
          </a:p>
        </p:txBody>
      </p:sp>
      <p:sp>
        <p:nvSpPr>
          <p:cNvPr id="93" name="Rectangle 6"/>
          <p:cNvSpPr/>
          <p:nvPr/>
        </p:nvSpPr>
        <p:spPr>
          <a:xfrm>
            <a:off x="6144768" y="1673352"/>
            <a:ext cx="5669280" cy="54864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ounded Rectangle 7"/>
          <p:cNvSpPr/>
          <p:nvPr/>
        </p:nvSpPr>
        <p:spPr>
          <a:xfrm>
            <a:off x="338328" y="3913631"/>
            <a:ext cx="5669280" cy="2103120"/>
          </a:xfrm>
          <a:prstGeom prst="roundRect">
            <a:avLst/>
          </a:prstGeom>
          <a:solidFill>
            <a:srgbClr val="F2F5F8"/>
          </a:solidFill>
          <a:ln w="19050">
            <a:solidFill>
              <a:srgbClr val="FF6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64592" rtlCol="0" anchor="ctr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6400"/>
                </a:solidFill>
                <a:latin typeface="微软雅黑"/>
                <a:ea typeface="微软雅黑"/>
              </a:rPr>
              <a:t>O  机会 Opportunities</a:t>
            </a:r>
            <a:endParaRPr/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2D50"/>
                </a:solidFill>
                <a:latin typeface="微软雅黑"/>
                <a:ea typeface="微软雅黑"/>
              </a:rPr>
              <a:t>生成式 AI 与大模型战略叠加</a:t>
            </a: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，数据供给需求上升；</a:t>
            </a:r>
            <a:r>
              <a:rPr sz="1100" b="1">
                <a:solidFill>
                  <a:srgbClr val="002D50"/>
                </a:solidFill>
                <a:latin typeface="微软雅黑"/>
                <a:ea typeface="微软雅黑"/>
              </a:rPr>
              <a:t>开源与商用工具成熟</a:t>
            </a: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、生态开放度高；同业尚未规模化，先验证者可沉淀方法论。ST 策略：以研究层定位抢窗口期建立评测与治理先发能力，</a:t>
            </a:r>
            <a:r>
              <a:rPr sz="1100" b="1">
                <a:solidFill>
                  <a:srgbClr val="002D50"/>
                </a:solidFill>
                <a:latin typeface="微软雅黑"/>
                <a:ea typeface="微软雅黑"/>
              </a:rPr>
              <a:t>不押注平台规模</a:t>
            </a: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。</a:t>
            </a:r>
            <a:endParaRPr/>
          </a:p>
        </p:txBody>
      </p:sp>
      <p:sp>
        <p:nvSpPr>
          <p:cNvPr id="95" name="Rectangle 8"/>
          <p:cNvSpPr/>
          <p:nvPr/>
        </p:nvSpPr>
        <p:spPr>
          <a:xfrm>
            <a:off x="338328" y="3913631"/>
            <a:ext cx="5669280" cy="54864"/>
          </a:xfrm>
          <a:prstGeom prst="rect">
            <a:avLst/>
          </a:prstGeom>
          <a:solidFill>
            <a:srgbClr val="FF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ounded Rectangle 9"/>
          <p:cNvSpPr/>
          <p:nvPr/>
        </p:nvSpPr>
        <p:spPr>
          <a:xfrm>
            <a:off x="6144768" y="3913631"/>
            <a:ext cx="5669280" cy="2103120"/>
          </a:xfrm>
          <a:prstGeom prst="roundRect">
            <a:avLst/>
          </a:prstGeom>
          <a:solidFill>
            <a:srgbClr val="F2F5F8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64592" rtlCol="0" anchor="ctr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微软雅黑"/>
                <a:ea typeface="微软雅黑"/>
              </a:rPr>
              <a:t>T  威胁 Threats</a:t>
            </a:r>
            <a:endParaRPr/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合成数据</a:t>
            </a:r>
            <a:r>
              <a:rPr sz="1100" b="1">
                <a:solidFill>
                  <a:srgbClr val="002D50"/>
                </a:solidFill>
                <a:latin typeface="微软雅黑"/>
                <a:ea typeface="微软雅黑"/>
              </a:rPr>
              <a:t>不被监管认可为「匿名」</a:t>
            </a: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，合规路径不确定；</a:t>
            </a:r>
            <a:r>
              <a:rPr sz="1100" b="1">
                <a:solidFill>
                  <a:srgbClr val="002D50"/>
                </a:solidFill>
                <a:latin typeface="微软雅黑"/>
                <a:ea typeface="微软雅黑"/>
              </a:rPr>
              <a:t>脱敏增强、隐私计算与数据治理改进可部分替代</a:t>
            </a: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；技术路线快速迭代存在沉没成本风险；AI 资源优先投向垂类大模型与智能体。WT 策略：不建独立平台、不押注单一技术路线，以可中止的 POC 控制下行风险。</a:t>
            </a:r>
            <a:endParaRPr/>
          </a:p>
        </p:txBody>
      </p:sp>
      <p:sp>
        <p:nvSpPr>
          <p:cNvPr id="97" name="Rectangle 10"/>
          <p:cNvSpPr/>
          <p:nvPr/>
        </p:nvSpPr>
        <p:spPr>
          <a:xfrm>
            <a:off x="6144768" y="3913631"/>
            <a:ext cx="5669280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02D50"/>
                </a:solidFill>
                <a:latin typeface="微软雅黑"/>
                <a:ea typeface="微软雅黑"/>
              </a:rPr>
              <a:t>六维评级汇总（雷达图）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C8C8C"/>
                </a:solidFill>
                <a:latin typeface="微软雅黑"/>
                <a:ea typeface="微软雅黑"/>
              </a:rPr>
              <a:t>生态开放度 4 分，其余 5 项均为 3 分</a:t>
            </a:r>
            <a:endParaRPr/>
          </a:p>
        </p:txBody>
      </p:sp>
      <p:pic>
        <p:nvPicPr>
          <p:cNvPr id="103" name="Picture 2" descr="radar_ev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" y="1280160"/>
            <a:ext cx="5303520" cy="4206240"/>
          </a:xfrm>
          <a:prstGeom prst="rect">
            <a:avLst/>
          </a:prstGeom>
        </p:spPr>
      </p:pic>
      <p:sp>
        <p:nvSpPr>
          <p:cNvPr id="104" name="TextBox 3"/>
          <p:cNvSpPr txBox="1"/>
          <p:nvPr/>
        </p:nvSpPr>
        <p:spPr>
          <a:xfrm>
            <a:off x="338328" y="5532120"/>
            <a:ext cx="5303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C8C8C"/>
                </a:solidFill>
                <a:latin typeface="微软雅黑"/>
                <a:ea typeface="微软雅黑"/>
              </a:rPr>
              <a:t>图 7.1　六维评估（结论按处置档位组合推导，非加权平均）</a:t>
            </a:r>
            <a:endParaRPr/>
          </a:p>
        </p:txBody>
      </p:sp>
      <p:sp>
        <p:nvSpPr>
          <p:cNvPr id="105" name="TextBox 4"/>
          <p:cNvSpPr txBox="1"/>
          <p:nvPr/>
        </p:nvSpPr>
        <p:spPr>
          <a:xfrm>
            <a:off x="5824728" y="1280160"/>
            <a:ext cx="6035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02D50"/>
                </a:solidFill>
                <a:latin typeface="微软雅黑"/>
                <a:ea typeface="微软雅黑"/>
              </a:rPr>
              <a:t>**关键读法**</a:t>
            </a:r>
            <a:endParaRPr/>
          </a:p>
        </p:txBody>
      </p:sp>
      <p:sp>
        <p:nvSpPr>
          <p:cNvPr id="106" name="TextBox 5"/>
          <p:cNvSpPr txBox="1"/>
          <p:nvPr/>
        </p:nvSpPr>
        <p:spPr>
          <a:xfrm>
            <a:off x="5824728" y="1645919"/>
            <a:ext cx="603504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/>
            <a:endParaRPr/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FF6400"/>
                </a:solidFill>
                <a:latin typeface="微软雅黑"/>
                <a:ea typeface="微软雅黑"/>
              </a:rPr>
              <a:t>▪  </a:t>
            </a:r>
            <a:r>
              <a:rPr sz="1100" b="1">
                <a:solidFill>
                  <a:srgbClr val="002D50"/>
                </a:solidFill>
                <a:latin typeface="微软雅黑"/>
                <a:ea typeface="微软雅黑"/>
              </a:rPr>
              <a:t>短板维度 = 技术成熟度</a:t>
            </a: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——通用工具链成熟，但</a:t>
            </a:r>
            <a:r>
              <a:rPr sz="1100" b="1">
                <a:solidFill>
                  <a:srgbClr val="002D50"/>
                </a:solidFill>
                <a:latin typeface="微软雅黑"/>
                <a:ea typeface="微软雅黑"/>
              </a:rPr>
              <a:t>银行表格合成域仍处有限试点</a:t>
            </a:r>
            <a:endParaRPr/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FF6400"/>
                </a:solidFill>
                <a:latin typeface="微软雅黑"/>
                <a:ea typeface="微软雅黑"/>
              </a:rPr>
              <a:t>▪  </a:t>
            </a:r>
            <a:r>
              <a:rPr sz="1100" b="1">
                <a:solidFill>
                  <a:srgbClr val="002D50"/>
                </a:solidFill>
                <a:latin typeface="微软雅黑"/>
                <a:ea typeface="微软雅黑"/>
              </a:rPr>
              <a:t>唯一 4 分 = 生态开放度</a:t>
            </a: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——开源为主、多厂商可选、国产化路径存在</a:t>
            </a:r>
            <a:endParaRPr/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FF6400"/>
                </a:solidFill>
                <a:latin typeface="微软雅黑"/>
                <a:ea typeface="微软雅黑"/>
              </a:rPr>
              <a:t>▪  </a:t>
            </a:r>
            <a:r>
              <a:rPr sz="1100" b="1">
                <a:solidFill>
                  <a:srgbClr val="002D50"/>
                </a:solidFill>
                <a:latin typeface="微软雅黑"/>
                <a:ea typeface="微软雅黑"/>
              </a:rPr>
              <a:t>价值贡献度</a:t>
            </a: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审慎取 3：测试数据可量化，风控增强待行内实测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spTree>
      <p:nvGrpSpPr>
        <p:cNvPr id="1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lnSpc>
                <a:spcPct val="120000"/>
              </a:lnSpc>
              <a:spcAft>
                <a:spcPts val="9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4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处置档位共四档：观察 / 研究 / 试点 / 规模引入。本技术位列第二档「研究层」。</a:t>
            </a:r>
            <a:endParaRPr/>
          </a:p>
          <a:p>
            <a:pPr algn="l">
              <a:lnSpc>
                <a:spcPct val="120000"/>
              </a:lnSpc>
              <a:spcAft>
                <a:spcPts val="9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300" b="1">
                <a:solidFill>
                  <a:srgbClr val="0064A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推导逻辑</a:t>
            </a:r>
            <a:r>
              <a:rPr sz="13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：短板维度（技术成熟度 3 分）+ 战略匹配（3 分）+ 价值贡献（3 分）+ 紧迫度（3 分）——四维均为 3 分，仅生态开放度为 4 分</a:t>
            </a:r>
            <a:endParaRPr/>
          </a:p>
          <a:p>
            <a:pPr>
              <a:lnSpc>
                <a:spcPct val="120000"/>
              </a:lnSpc>
              <a:spcAft>
                <a:spcPts val="9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300" b="1">
                <a:solidFill>
                  <a:srgbClr val="0064A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结论</a:t>
            </a:r>
            <a:r>
              <a:rPr sz="13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：处置档位 = 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「深入研究（研究层）」</a:t>
            </a:r>
            <a:r>
              <a:rPr sz="13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——可组件化增量引入，按季度复评</a:t>
            </a:r>
            <a:endParaRPr/>
          </a:p>
          <a:p>
            <a:pPr>
              <a:lnSpc>
                <a:spcPct val="120000"/>
              </a:lnSpc>
              <a:spcAft>
                <a:spcPts val="9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300" b="1">
                <a:solidFill>
                  <a:srgbClr val="0064A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窗口期</a:t>
            </a:r>
            <a:r>
              <a:rPr sz="13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3—5 年关键窗口</a:t>
            </a:r>
            <a:r>
              <a:rPr sz="13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——Gartner 预判与产业并购信号明确</a:t>
            </a:r>
            <a:endParaRPr/>
          </a:p>
          <a:p>
            <a:pPr>
              <a:lnSpc>
                <a:spcPct val="120000"/>
              </a:lnSpc>
              <a:spcAft>
                <a:spcPts val="9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300" b="1">
                <a:solidFill>
                  <a:srgbClr val="0064A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复评触发</a:t>
            </a:r>
            <a:r>
              <a:rPr sz="13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：每半年评估一次，由 Gartner 信号、监管动态、同业进展、本行实测四源数据驱动</a:t>
            </a:r>
            <a:endParaRPr/>
          </a:p>
          <a:p>
            <a:pPr algn="l">
              <a:spcBef>
                <a:spcPts val="800"/>
              </a:spcBef>
              <a:spcAft>
                <a:spcPts val="6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000" b="0">
                <a:solidFill>
                  <a:srgbClr val="8C8C8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处置档位门槛对照见下页。</a:t>
            </a:r>
            <a:endParaRPr/>
          </a:p>
        </p:txBody>
      </p:sp>
      <p:sp>
        <p:nvSpPr>
          <p:cNvPr id="109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02D50"/>
                </a:solidFill>
                <a:latin typeface="微软雅黑"/>
                <a:ea typeface="微软雅黑"/>
              </a:rPr>
              <a:t>处置档位推导：深入研究（研究层）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C8C8C"/>
                </a:solidFill>
                <a:latin typeface="微软雅黑"/>
                <a:ea typeface="微软雅黑"/>
              </a:rPr>
              <a:t>由六维评级组合推导，非简单加权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spTree>
      <p:nvGrpSpPr>
        <p:cNvPr id="1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02D50"/>
                </a:solidFill>
                <a:latin typeface="微软雅黑"/>
                <a:ea typeface="微软雅黑"/>
              </a:rPr>
              <a:t>处置档位门槛对照（按最低门槛决定档位）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C8C8C"/>
                </a:solidFill>
                <a:latin typeface="微软雅黑"/>
                <a:ea typeface="微软雅黑"/>
              </a:rPr>
              <a:t>技术成熟度、战略匹配、价值贡献、引入可行度取短板</a:t>
            </a:r>
            <a:endParaRPr/>
          </a:p>
        </p:txBody>
      </p:sp>
      <p:sp>
        <p:nvSpPr>
          <p:cNvPr id="112" name="TextBox 2"/>
          <p:cNvSpPr txBox="1"/>
          <p:nvPr/>
        </p:nvSpPr>
        <p:spPr>
          <a:xfrm>
            <a:off x="338328" y="1170432"/>
            <a:ext cx="115214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档位判定不取平均分而取短板——任一维度未达门槛则不得进入下一档位。</a:t>
            </a:r>
            <a:endParaRPr/>
          </a:p>
        </p:txBody>
      </p:sp>
      <p:sp>
        <p:nvSpPr>
          <p:cNvPr id="113" name="Rectangle 3"/>
          <p:cNvSpPr/>
          <p:nvPr/>
        </p:nvSpPr>
        <p:spPr>
          <a:xfrm>
            <a:off x="338328" y="1600200"/>
            <a:ext cx="68580" cy="868680"/>
          </a:xfrm>
          <a:prstGeom prst="rect">
            <a:avLst/>
          </a:prstGeom>
          <a:solidFill>
            <a:srgbClr val="006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ounded Rectangle 4"/>
          <p:cNvSpPr/>
          <p:nvPr/>
        </p:nvSpPr>
        <p:spPr>
          <a:xfrm>
            <a:off x="475488" y="1600200"/>
            <a:ext cx="11384280" cy="868680"/>
          </a:xfrm>
          <a:prstGeom prst="roundRect">
            <a:avLst/>
          </a:prstGeom>
          <a:solidFill>
            <a:srgbClr val="F2F5F8"/>
          </a:solidFill>
          <a:ln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64008" rIns="146304" rtlCol="0" anchor="ctr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02D50"/>
                </a:solidFill>
                <a:latin typeface="微软雅黑"/>
                <a:ea typeface="微软雅黑"/>
              </a:rPr>
              <a:t>档位 1  观察</a:t>
            </a:r>
            <a:endParaRPr/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技术尚未成型，本行场景未识别——保持跟踪评估</a:t>
            </a:r>
            <a:endParaRPr/>
          </a:p>
        </p:txBody>
      </p:sp>
      <p:sp>
        <p:nvSpPr>
          <p:cNvPr id="115" name="Rounded Rectangle 5"/>
          <p:cNvSpPr/>
          <p:nvPr/>
        </p:nvSpPr>
        <p:spPr>
          <a:xfrm>
            <a:off x="9902951" y="1673352"/>
            <a:ext cx="1828800" cy="274320"/>
          </a:xfrm>
          <a:prstGeom prst="roundRect">
            <a:avLst/>
          </a:prstGeom>
          <a:solidFill>
            <a:srgbClr val="006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0—1 分门槛</a:t>
            </a:r>
            <a:endParaRPr/>
          </a:p>
        </p:txBody>
      </p:sp>
      <p:sp>
        <p:nvSpPr>
          <p:cNvPr id="116" name="Rectangle 6"/>
          <p:cNvSpPr/>
          <p:nvPr/>
        </p:nvSpPr>
        <p:spPr>
          <a:xfrm>
            <a:off x="338328" y="2587752"/>
            <a:ext cx="68580" cy="868680"/>
          </a:xfrm>
          <a:prstGeom prst="rect">
            <a:avLst/>
          </a:prstGeom>
          <a:solidFill>
            <a:srgbClr val="FF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ounded Rectangle 7"/>
          <p:cNvSpPr/>
          <p:nvPr/>
        </p:nvSpPr>
        <p:spPr>
          <a:xfrm>
            <a:off x="475488" y="2587752"/>
            <a:ext cx="11384280" cy="868680"/>
          </a:xfrm>
          <a:prstGeom prst="roundRect">
            <a:avLst/>
          </a:prstGeom>
          <a:solidFill>
            <a:srgbClr val="F2F5F8"/>
          </a:solidFill>
          <a:ln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64008" rIns="146304" rtlCol="0" anchor="ctr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02D50"/>
                </a:solidFill>
                <a:latin typeface="微软雅黑"/>
                <a:ea typeface="微软雅黑"/>
              </a:rPr>
              <a:t>档位 2  **深入研究（研究层）**</a:t>
            </a:r>
            <a:endParaRPr/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技术有限成熟 + 本行有可验证场景——以可中止 POC 沉淀方法论</a:t>
            </a:r>
            <a:endParaRPr/>
          </a:p>
        </p:txBody>
      </p:sp>
      <p:sp>
        <p:nvSpPr>
          <p:cNvPr id="118" name="Rounded Rectangle 8"/>
          <p:cNvSpPr/>
          <p:nvPr/>
        </p:nvSpPr>
        <p:spPr>
          <a:xfrm>
            <a:off x="9902951" y="2660904"/>
            <a:ext cx="1828800" cy="274320"/>
          </a:xfrm>
          <a:prstGeom prst="roundRect">
            <a:avLst/>
          </a:prstGeom>
          <a:solidFill>
            <a:srgbClr val="002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2—3 分门槛</a:t>
            </a:r>
            <a:endParaRPr/>
          </a:p>
        </p:txBody>
      </p:sp>
      <p:sp>
        <p:nvSpPr>
          <p:cNvPr id="119" name="Rectangle 9"/>
          <p:cNvSpPr/>
          <p:nvPr/>
        </p:nvSpPr>
        <p:spPr>
          <a:xfrm>
            <a:off x="338328" y="3575304"/>
            <a:ext cx="68580" cy="868680"/>
          </a:xfrm>
          <a:prstGeom prst="rect">
            <a:avLst/>
          </a:prstGeom>
          <a:solidFill>
            <a:srgbClr val="006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ounded Rectangle 10"/>
          <p:cNvSpPr/>
          <p:nvPr/>
        </p:nvSpPr>
        <p:spPr>
          <a:xfrm>
            <a:off x="475488" y="3575304"/>
            <a:ext cx="11384280" cy="868680"/>
          </a:xfrm>
          <a:prstGeom prst="roundRect">
            <a:avLst/>
          </a:prstGeom>
          <a:solidFill>
            <a:srgbClr val="F2F5F8"/>
          </a:solidFill>
          <a:ln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64008" rIns="146304" rtlCol="0" anchor="ctr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02D50"/>
                </a:solidFill>
                <a:latin typeface="微软雅黑"/>
                <a:ea typeface="微软雅黑"/>
              </a:rPr>
              <a:t>档位 3  试点</a:t>
            </a:r>
            <a:endParaRPr/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技术基本成熟 + 价值清晰 + 风险可控——双场景 POC + 治理并行</a:t>
            </a:r>
            <a:endParaRPr/>
          </a:p>
        </p:txBody>
      </p:sp>
      <p:sp>
        <p:nvSpPr>
          <p:cNvPr id="121" name="Rounded Rectangle 11"/>
          <p:cNvSpPr/>
          <p:nvPr/>
        </p:nvSpPr>
        <p:spPr>
          <a:xfrm>
            <a:off x="9902951" y="3648456"/>
            <a:ext cx="1828800" cy="274320"/>
          </a:xfrm>
          <a:prstGeom prst="roundRect">
            <a:avLst/>
          </a:prstGeom>
          <a:solidFill>
            <a:srgbClr val="006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3—4 分门槛</a:t>
            </a:r>
            <a:endParaRPr/>
          </a:p>
        </p:txBody>
      </p:sp>
      <p:sp>
        <p:nvSpPr>
          <p:cNvPr id="122" name="Rectangle 12"/>
          <p:cNvSpPr/>
          <p:nvPr/>
        </p:nvSpPr>
        <p:spPr>
          <a:xfrm>
            <a:off x="338328" y="4562856"/>
            <a:ext cx="68580" cy="868680"/>
          </a:xfrm>
          <a:prstGeom prst="rect">
            <a:avLst/>
          </a:prstGeom>
          <a:solidFill>
            <a:srgbClr val="006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ounded Rectangle 13"/>
          <p:cNvSpPr/>
          <p:nvPr/>
        </p:nvSpPr>
        <p:spPr>
          <a:xfrm>
            <a:off x="475488" y="4562856"/>
            <a:ext cx="11384280" cy="868680"/>
          </a:xfrm>
          <a:prstGeom prst="roundRect">
            <a:avLst/>
          </a:prstGeom>
          <a:solidFill>
            <a:srgbClr val="F2F5F8"/>
          </a:solidFill>
          <a:ln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64008" rIns="146304" rtlCol="0" anchor="ctr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02D50"/>
                </a:solidFill>
                <a:latin typeface="微软雅黑"/>
                <a:ea typeface="微软雅黑"/>
              </a:rPr>
              <a:t>档位 4  规模引入</a:t>
            </a:r>
            <a:endParaRPr/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技术成熟 + 标准统一 + 监管认可——组件化嵌入生产流程</a:t>
            </a:r>
            <a:endParaRPr/>
          </a:p>
        </p:txBody>
      </p:sp>
      <p:sp>
        <p:nvSpPr>
          <p:cNvPr id="124" name="Rounded Rectangle 14"/>
          <p:cNvSpPr/>
          <p:nvPr/>
        </p:nvSpPr>
        <p:spPr>
          <a:xfrm>
            <a:off x="9902951" y="4636008"/>
            <a:ext cx="1828800" cy="274320"/>
          </a:xfrm>
          <a:prstGeom prst="roundRect">
            <a:avLst/>
          </a:prstGeom>
          <a:solidFill>
            <a:srgbClr val="006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4—5 分门槛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spTree>
      <p:nvGrpSpPr>
        <p:cNvPr id="1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3400" b="1">
                <a:solidFill>
                  <a:srgbClr val="FFFFFF"/>
                </a:solidFill>
                <a:latin typeface="微软雅黑"/>
                <a:ea typeface="微软雅黑"/>
              </a:rPr>
              <a:t>分阶段实施路线图</a:t>
            </a:r>
            <a:endParaRPr/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CCD6E2"/>
                </a:solidFill>
                <a:latin typeface="微软雅黑"/>
                <a:ea typeface="微软雅黑"/>
              </a:rPr>
              <a:t>0—36 个月，三阶段推进 + 复评门槛</a:t>
            </a:r>
            <a:endParaRPr/>
          </a:p>
        </p:txBody>
      </p:sp>
      <p:sp>
        <p:nvSpPr>
          <p:cNvPr id="127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6400"/>
                </a:solidFill>
                <a:latin typeface="微软雅黑"/>
                <a:ea typeface="微软雅黑"/>
              </a:rPr>
              <a:t>08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02D50"/>
                </a:solidFill>
                <a:latin typeface="微软雅黑"/>
                <a:ea typeface="微软雅黑"/>
              </a:rPr>
              <a:t>分阶段实施路线图（0—36 个月）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C8C8C"/>
                </a:solidFill>
                <a:latin typeface="微软雅黑"/>
                <a:ea typeface="微软雅黑"/>
              </a:rPr>
              <a:t>三阶段 + 两次处置档位复评 + 一次组件上线审计</a:t>
            </a:r>
            <a:endParaRPr/>
          </a:p>
        </p:txBody>
      </p:sp>
      <p:pic>
        <p:nvPicPr>
          <p:cNvPr id="130" name="Picture 2" descr="image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" y="1554480"/>
            <a:ext cx="7863840" cy="3291840"/>
          </a:xfrm>
          <a:prstGeom prst="rect">
            <a:avLst/>
          </a:prstGeom>
        </p:spPr>
      </p:pic>
      <p:sp>
        <p:nvSpPr>
          <p:cNvPr id="131" name="TextBox 3"/>
          <p:cNvSpPr txBox="1"/>
          <p:nvPr/>
        </p:nvSpPr>
        <p:spPr>
          <a:xfrm>
            <a:off x="338328" y="4892040"/>
            <a:ext cx="78638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C8C8C"/>
                </a:solidFill>
                <a:latin typeface="微软雅黑"/>
                <a:ea typeface="微软雅黑"/>
              </a:rPr>
              <a:t>图 8.1　合成数据研究层路线图（0—36 个月）</a:t>
            </a:r>
            <a:endParaRPr/>
          </a:p>
        </p:txBody>
      </p:sp>
      <p:sp>
        <p:nvSpPr>
          <p:cNvPr id="132" name="TextBox 4"/>
          <p:cNvSpPr txBox="1"/>
          <p:nvPr/>
        </p:nvSpPr>
        <p:spPr>
          <a:xfrm>
            <a:off x="8385047" y="155448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02D50"/>
                </a:solidFill>
                <a:latin typeface="微软雅黑"/>
                <a:ea typeface="微软雅黑"/>
              </a:rPr>
              <a:t>**关键节点**</a:t>
            </a:r>
            <a:endParaRPr/>
          </a:p>
        </p:txBody>
      </p:sp>
      <p:sp>
        <p:nvSpPr>
          <p:cNvPr id="133" name="TextBox 5"/>
          <p:cNvSpPr txBox="1"/>
          <p:nvPr/>
        </p:nvSpPr>
        <p:spPr>
          <a:xfrm>
            <a:off x="8385047" y="1920240"/>
            <a:ext cx="347472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/>
            <a:endParaRPr/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FF6400"/>
                </a:solidFill>
                <a:latin typeface="微软雅黑"/>
                <a:ea typeface="微软雅黑"/>
              </a:rPr>
              <a:t>▪  </a:t>
            </a:r>
            <a:r>
              <a:rPr sz="1100" b="1">
                <a:solidFill>
                  <a:srgbClr val="002D50"/>
                </a:solidFill>
                <a:latin typeface="微软雅黑"/>
                <a:ea typeface="微软雅黑"/>
              </a:rPr>
              <a:t>6 个月</a:t>
            </a: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：第一阶段 go/no-go——评估双场景 POC 结果</a:t>
            </a:r>
            <a:endParaRPr/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FF6400"/>
                </a:solidFill>
                <a:latin typeface="微软雅黑"/>
                <a:ea typeface="微软雅黑"/>
              </a:rPr>
              <a:t>▪  </a:t>
            </a:r>
            <a:r>
              <a:rPr sz="1100" b="1">
                <a:solidFill>
                  <a:srgbClr val="002D50"/>
                </a:solidFill>
                <a:latin typeface="微软雅黑"/>
                <a:ea typeface="微软雅黑"/>
              </a:rPr>
              <a:t>18 个月</a:t>
            </a: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：试点决策——升级至「试点」或止损</a:t>
            </a:r>
            <a:endParaRPr/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FF6400"/>
                </a:solidFill>
                <a:latin typeface="微软雅黑"/>
                <a:ea typeface="微软雅黑"/>
              </a:rPr>
              <a:t>▪  </a:t>
            </a:r>
            <a:r>
              <a:rPr sz="1100" b="1">
                <a:solidFill>
                  <a:srgbClr val="002D50"/>
                </a:solidFill>
                <a:latin typeface="微软雅黑"/>
                <a:ea typeface="微软雅黑"/>
              </a:rPr>
              <a:t>36 个月</a:t>
            </a: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：组件上线审计——年度复评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>
  <p:cSld>
    <p:spTree>
      <p:nvGrpSpPr>
        <p:cNvPr id="1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002D50"/>
                </a:solidFill>
                <a:latin typeface="微软雅黑"/>
                <a:ea typeface="微软雅黑"/>
              </a:rPr>
              <a:t>**启动前提（缺一不可）**</a:t>
            </a:r>
            <a:endParaRPr/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0064A0"/>
                </a:solidFill>
                <a:latin typeface="微软雅黑"/>
                <a:ea typeface="微软雅黑"/>
              </a:rPr>
              <a:t>▪  </a:t>
            </a:r>
            <a:r>
              <a:rPr sz="1300" b="1">
                <a:solidFill>
                  <a:srgbClr val="002D50"/>
                </a:solidFill>
                <a:latin typeface="微软雅黑"/>
                <a:ea typeface="微软雅黑"/>
              </a:rPr>
              <a:t>数据就绪度评估</a:t>
            </a:r>
            <a:r>
              <a:rPr sz="1300" b="0">
                <a:solidFill>
                  <a:srgbClr val="404040"/>
                </a:solidFill>
                <a:latin typeface="微软雅黑"/>
                <a:ea typeface="微软雅黑"/>
              </a:rPr>
              <a:t>：对 POC 范围数据完成</a:t>
            </a:r>
            <a:r>
              <a:rPr sz="1300" b="1">
                <a:solidFill>
                  <a:srgbClr val="002D50"/>
                </a:solidFill>
                <a:latin typeface="微软雅黑"/>
                <a:ea typeface="微软雅黑"/>
              </a:rPr>
              <a:t>分类分级与授权链条核查</a:t>
            </a:r>
            <a:endParaRPr/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0064A0"/>
                </a:solidFill>
                <a:latin typeface="微软雅黑"/>
                <a:ea typeface="微软雅黑"/>
              </a:rPr>
              <a:t>▪  </a:t>
            </a:r>
            <a:r>
              <a:rPr sz="1300" b="1">
                <a:solidFill>
                  <a:srgbClr val="002D50"/>
                </a:solidFill>
                <a:latin typeface="微软雅黑"/>
                <a:ea typeface="微软雅黑"/>
              </a:rPr>
              <a:t>评测基线先行</a:t>
            </a:r>
            <a:r>
              <a:rPr sz="1300" b="0">
                <a:solidFill>
                  <a:srgbClr val="404040"/>
                </a:solidFill>
                <a:latin typeface="微软雅黑"/>
                <a:ea typeface="微软雅黑"/>
              </a:rPr>
              <a:t>：明确「真实 vs 真实+合成」对照指标，避免先做后评</a:t>
            </a:r>
            <a:endParaRPr/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0064A0"/>
                </a:solidFill>
                <a:latin typeface="微软雅黑"/>
                <a:ea typeface="微软雅黑"/>
              </a:rPr>
              <a:t>▪  </a:t>
            </a:r>
            <a:r>
              <a:rPr sz="1300" b="1">
                <a:solidFill>
                  <a:srgbClr val="002D50"/>
                </a:solidFill>
                <a:latin typeface="微软雅黑"/>
                <a:ea typeface="微软雅黑"/>
              </a:rPr>
              <a:t>最小可行治理</a:t>
            </a:r>
            <a:r>
              <a:rPr sz="1300" b="0">
                <a:solidFill>
                  <a:srgbClr val="404040"/>
                </a:solidFill>
                <a:latin typeface="微软雅黑"/>
                <a:ea typeface="微软雅黑"/>
              </a:rPr>
              <a:t>：合成数据</a:t>
            </a:r>
            <a:r>
              <a:rPr sz="1300" b="1">
                <a:solidFill>
                  <a:srgbClr val="002D50"/>
                </a:solidFill>
                <a:latin typeface="微软雅黑"/>
                <a:ea typeface="微软雅黑"/>
              </a:rPr>
              <a:t>不得主张匿名化</a:t>
            </a:r>
            <a:r>
              <a:rPr sz="1300" b="0">
                <a:solidFill>
                  <a:srgbClr val="404040"/>
                </a:solidFill>
                <a:latin typeface="微软雅黑"/>
                <a:ea typeface="微软雅黑"/>
              </a:rPr>
              <a:t>，须纳入数据安全评估与外包管理</a:t>
            </a:r>
            <a:endParaRPr/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0064A0"/>
                </a:solidFill>
                <a:latin typeface="微软雅黑"/>
                <a:ea typeface="微软雅黑"/>
              </a:rPr>
              <a:t>▪  </a:t>
            </a:r>
            <a:r>
              <a:rPr sz="1300" b="1">
                <a:solidFill>
                  <a:srgbClr val="002D50"/>
                </a:solidFill>
                <a:latin typeface="微软雅黑"/>
                <a:ea typeface="微软雅黑"/>
              </a:rPr>
              <a:t>人才补短板</a:t>
            </a:r>
            <a:r>
              <a:rPr sz="1300" b="0">
                <a:solidFill>
                  <a:srgbClr val="404040"/>
                </a:solidFill>
                <a:latin typeface="微软雅黑"/>
                <a:ea typeface="微软雅黑"/>
              </a:rPr>
              <a:t>：至少 1 名生成模型工程师 + 1 名隐私审计人员，可外包但需内部联络人</a:t>
            </a:r>
            <a:endParaRPr/>
          </a:p>
        </p:txBody>
      </p:sp>
      <p:sp>
        <p:nvSpPr>
          <p:cNvPr id="136" name="Content Placeholder 2"/>
          <p:cNvSpPr>
            <a:spLocks noGrp="1"/>
          </p:cNvSpPr>
          <p:nvPr>
            <p:ph idx="1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002D50"/>
                </a:solidFill>
                <a:latin typeface="微软雅黑"/>
                <a:ea typeface="微软雅黑"/>
              </a:rPr>
              <a:t>**Build vs Buy 决策倾向**</a:t>
            </a:r>
            <a:endParaRPr/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0064A0"/>
                </a:solidFill>
                <a:latin typeface="微软雅黑"/>
                <a:ea typeface="微软雅黑"/>
              </a:rPr>
              <a:t>▪  </a:t>
            </a:r>
            <a:r>
              <a:rPr sz="1300" b="1">
                <a:solidFill>
                  <a:srgbClr val="002D50"/>
                </a:solidFill>
                <a:latin typeface="微软雅黑"/>
                <a:ea typeface="微软雅黑"/>
              </a:rPr>
              <a:t>首选开源基线</a:t>
            </a:r>
            <a:r>
              <a:rPr sz="1300" b="0">
                <a:solidFill>
                  <a:srgbClr val="404040"/>
                </a:solidFill>
                <a:latin typeface="微软雅黑"/>
                <a:ea typeface="微软雅黑"/>
              </a:rPr>
              <a:t>：SDV / DataCebo + CTGAN / TabDDPM，本地化部署，</a:t>
            </a:r>
            <a:r>
              <a:rPr sz="1300" b="1">
                <a:solidFill>
                  <a:srgbClr val="002D50"/>
                </a:solidFill>
                <a:latin typeface="微软雅黑"/>
                <a:ea typeface="微软雅黑"/>
              </a:rPr>
              <a:t>PoC 首选</a:t>
            </a:r>
            <a:endParaRPr/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0064A0"/>
                </a:solidFill>
                <a:latin typeface="微软雅黑"/>
                <a:ea typeface="微软雅黑"/>
              </a:rPr>
              <a:t>▪  </a:t>
            </a:r>
            <a:r>
              <a:rPr sz="1300" b="1">
                <a:solidFill>
                  <a:srgbClr val="002D50"/>
                </a:solidFill>
                <a:latin typeface="微软雅黑"/>
                <a:ea typeface="微软雅黑"/>
              </a:rPr>
              <a:t>选择性叠加商用</a:t>
            </a:r>
            <a:r>
              <a:rPr sz="1300" b="0">
                <a:solidFill>
                  <a:srgbClr val="404040"/>
                </a:solidFill>
                <a:latin typeface="微软雅黑"/>
                <a:ea typeface="微软雅黑"/>
              </a:rPr>
              <a:t>：Mostly / Tonic 等用于</a:t>
            </a:r>
            <a:r>
              <a:rPr sz="1300" b="1">
                <a:solidFill>
                  <a:srgbClr val="002D50"/>
                </a:solidFill>
                <a:latin typeface="微软雅黑"/>
                <a:ea typeface="微软雅黑"/>
              </a:rPr>
              <a:t>评估基线对照</a:t>
            </a:r>
            <a:r>
              <a:rPr sz="1300" b="0">
                <a:solidFill>
                  <a:srgbClr val="404040"/>
                </a:solidFill>
                <a:latin typeface="微软雅黑"/>
                <a:ea typeface="微软雅黑"/>
              </a:rPr>
              <a:t>，不作生产依赖</a:t>
            </a:r>
            <a:endParaRPr/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0064A0"/>
                </a:solidFill>
                <a:latin typeface="微软雅黑"/>
                <a:ea typeface="微软雅黑"/>
              </a:rPr>
              <a:t>▪  </a:t>
            </a:r>
            <a:r>
              <a:rPr sz="1300" b="1">
                <a:solidFill>
                  <a:srgbClr val="002D50"/>
                </a:solidFill>
                <a:latin typeface="微软雅黑"/>
                <a:ea typeface="微软雅黑"/>
              </a:rPr>
              <a:t>国内参与</a:t>
            </a:r>
            <a:r>
              <a:rPr sz="1300" b="0">
                <a:solidFill>
                  <a:srgbClr val="404040"/>
                </a:solidFill>
                <a:latin typeface="微软雅黑"/>
                <a:ea typeface="微软雅黑"/>
              </a:rPr>
              <a:t>者：翼方健数、富数科技、洞见科技——作为</a:t>
            </a:r>
            <a:r>
              <a:rPr sz="1300" b="1">
                <a:solidFill>
                  <a:srgbClr val="002D50"/>
                </a:solidFill>
                <a:latin typeface="微软雅黑"/>
                <a:ea typeface="微软雅黑"/>
              </a:rPr>
              <a:t>隐私计算 + 合成</a:t>
            </a:r>
            <a:r>
              <a:rPr sz="1300" b="0">
                <a:solidFill>
                  <a:srgbClr val="404040"/>
                </a:solidFill>
                <a:latin typeface="微软雅黑"/>
                <a:ea typeface="微软雅黑"/>
              </a:rPr>
              <a:t>协同候选</a:t>
            </a:r>
            <a:endParaRPr/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0064A0"/>
                </a:solidFill>
                <a:latin typeface="微软雅黑"/>
                <a:ea typeface="微软雅黑"/>
              </a:rPr>
              <a:t>▪  </a:t>
            </a:r>
            <a:r>
              <a:rPr sz="1300" b="1">
                <a:solidFill>
                  <a:srgbClr val="002D50"/>
                </a:solidFill>
                <a:latin typeface="微软雅黑"/>
                <a:ea typeface="微软雅黑"/>
              </a:rPr>
              <a:t>避坑</a:t>
            </a:r>
            <a:r>
              <a:rPr sz="1300" b="0">
                <a:solidFill>
                  <a:srgbClr val="404040"/>
                </a:solidFill>
                <a:latin typeface="微软雅黑"/>
                <a:ea typeface="微软雅黑"/>
              </a:rPr>
              <a:t>：</a:t>
            </a:r>
            <a:r>
              <a:rPr sz="1300" b="1">
                <a:solidFill>
                  <a:srgbClr val="002D50"/>
                </a:solidFill>
                <a:latin typeface="微软雅黑"/>
                <a:ea typeface="微软雅黑"/>
              </a:rPr>
              <a:t>不押注单一厂商、不建独立平台</a:t>
            </a:r>
            <a:r>
              <a:rPr sz="1300" b="0">
                <a:solidFill>
                  <a:srgbClr val="404040"/>
                </a:solidFill>
                <a:latin typeface="微软雅黑"/>
                <a:ea typeface="微软雅黑"/>
              </a:rPr>
              <a:t>——保持可中止与可替换</a:t>
            </a:r>
            <a:endParaRPr/>
          </a:p>
        </p:txBody>
      </p:sp>
      <p:sp>
        <p:nvSpPr>
          <p:cNvPr id="137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02D50"/>
                </a:solidFill>
                <a:latin typeface="微软雅黑"/>
                <a:ea typeface="微软雅黑"/>
              </a:rPr>
              <a:t>启动前提与 Build vs Buy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C8C8C"/>
                </a:solidFill>
                <a:latin typeface="微软雅黑"/>
                <a:ea typeface="微软雅黑"/>
              </a:rPr>
              <a:t>POC 启动前必须具备的 6 项前提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>
  <p:cSld>
    <p:spTree>
      <p:nvGrpSpPr>
        <p:cNvPr id="1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lnSpc>
                <a:spcPct val="120000"/>
              </a:lnSpc>
              <a:spcAft>
                <a:spcPts val="9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4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技术成熟度 3 分、生态开放度 4 分——窗口期 3—5 年。</a:t>
            </a:r>
            <a:endParaRPr/>
          </a:p>
          <a:p>
            <a:pPr algn="l">
              <a:lnSpc>
                <a:spcPct val="120000"/>
              </a:lnSpc>
              <a:spcAft>
                <a:spcPts val="9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300" b="1">
                <a:solidFill>
                  <a:srgbClr val="0064A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建议一</a:t>
            </a:r>
            <a:r>
              <a:rPr sz="13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处置档位定为「深入研究（研究层）」</a:t>
            </a:r>
            <a:r>
              <a:rPr sz="13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——以可中止的 POC 控制下行风险</a:t>
            </a:r>
            <a:endParaRPr/>
          </a:p>
          <a:p>
            <a:pPr>
              <a:lnSpc>
                <a:spcPct val="120000"/>
              </a:lnSpc>
              <a:spcAft>
                <a:spcPts val="9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300" b="1">
                <a:solidFill>
                  <a:srgbClr val="0064A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建议二</a:t>
            </a:r>
            <a:r>
              <a:rPr sz="13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POC 之首</a:t>
            </a:r>
            <a:r>
              <a:rPr sz="13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 = 测试数据生成（行业验证充分、风险较低）；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POC 之二</a:t>
            </a:r>
            <a:r>
              <a:rPr sz="13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 = 风控/反欺诈增强（合并评估）</a:t>
            </a:r>
            <a:endParaRPr/>
          </a:p>
          <a:p>
            <a:pPr>
              <a:lnSpc>
                <a:spcPct val="120000"/>
              </a:lnSpc>
              <a:spcAft>
                <a:spcPts val="9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300" b="1">
                <a:solidFill>
                  <a:srgbClr val="0064A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建议三</a:t>
            </a:r>
            <a:r>
              <a:rPr sz="13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不建独立平台、不押注单一技术路线</a:t>
            </a:r>
            <a:r>
              <a:rPr sz="13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——以 SDV 开源基线 + 选择性厂商能力叠加</a:t>
            </a:r>
            <a:endParaRPr/>
          </a:p>
          <a:p>
            <a:pPr>
              <a:lnSpc>
                <a:spcPct val="120000"/>
              </a:lnSpc>
              <a:spcAft>
                <a:spcPts val="9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300" b="1">
                <a:solidFill>
                  <a:srgbClr val="0064A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建议四</a:t>
            </a:r>
            <a:r>
              <a:rPr sz="13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合规先行</a:t>
            </a:r>
            <a:r>
              <a:rPr sz="13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——合成数据不主张匿名化，必须纳入数据安全评估与外包管理</a:t>
            </a:r>
            <a:endParaRPr/>
          </a:p>
          <a:p>
            <a:pPr>
              <a:lnSpc>
                <a:spcPct val="120000"/>
              </a:lnSpc>
              <a:spcAft>
                <a:spcPts val="9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300" b="1">
                <a:solidFill>
                  <a:srgbClr val="0064A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建议五</a:t>
            </a:r>
            <a:r>
              <a:rPr sz="13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sz="1300" b="1">
                <a:solidFill>
                  <a:srgbClr val="002D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每半年复评一次</a:t>
            </a:r>
            <a:r>
              <a:rPr sz="1300" b="0">
                <a:solidFill>
                  <a:srgbClr val="40404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——由 Gartner 信号、监管动态、同业进展、本行实测四源驱动</a:t>
            </a:r>
            <a:endParaRPr/>
          </a:p>
          <a:p>
            <a:pPr algn="l">
              <a:spcBef>
                <a:spcPts val="800"/>
              </a:spcBef>
              <a:spcAft>
                <a:spcPts val="600"/>
              </a:spcAft>
              <a:buClr>
                <a:schemeClr val="tx1">
                  <a:lumMod val="75000"/>
                  <a:lumOff val="25000"/>
                  <a:alpha val="100000"/>
                </a:schemeClr>
              </a:buClr>
              <a:buFont typeface="Arial"/>
              <a:buChar char="•"/>
            </a:pPr>
            <a:r>
              <a:rPr sz="1000" b="0">
                <a:solidFill>
                  <a:srgbClr val="8C8C8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本结论不替代行内独立技术评审与合规审批；具体技术选型与业务接入方案以 POC 实测结果为准。</a:t>
            </a:r>
            <a:endParaRPr/>
          </a:p>
        </p:txBody>
      </p:sp>
      <p:sp>
        <p:nvSpPr>
          <p:cNvPr id="140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02D50"/>
                </a:solidFill>
                <a:latin typeface="微软雅黑"/>
                <a:ea typeface="微软雅黑"/>
              </a:rPr>
              <a:t>结论与建议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C8C8C"/>
                </a:solidFill>
                <a:latin typeface="微软雅黑"/>
                <a:ea typeface="微软雅黑"/>
              </a:rPr>
              <a:t>决策层五项行动建议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>
  <p:cSld>
    <p:spTree>
      <p:nvGrpSpPr>
        <p:cNvPr id="1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微软雅黑"/>
                <a:ea typeface="微软雅黑"/>
              </a:rPr>
              <a:t>谢谢  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D_PPT">
  <a:themeElements>
    <a:clrScheme name="MT_Colors 1">
      <a:dk1>
        <a:srgbClr val="000000"/>
      </a:dk1>
      <a:lt1>
        <a:sysClr val="window" lastClr="FFFFFF"/>
      </a:lt1>
      <a:dk2>
        <a:srgbClr val="404040"/>
      </a:dk2>
      <a:lt2>
        <a:srgbClr val="6E6464"/>
      </a:lt2>
      <a:accent1>
        <a:srgbClr val="5AAA28"/>
      </a:accent1>
      <a:accent2>
        <a:srgbClr val="328200"/>
      </a:accent2>
      <a:accent3>
        <a:srgbClr val="002D50"/>
      </a:accent3>
      <a:accent4>
        <a:srgbClr val="0064A0"/>
      </a:accent4>
      <a:accent5>
        <a:srgbClr val="FF6400"/>
      </a:accent5>
      <a:accent6>
        <a:srgbClr val="5A145A"/>
      </a:accent6>
      <a:hlink>
        <a:srgbClr val="BEB4B4"/>
      </a:hlink>
      <a:folHlink>
        <a:srgbClr val="BEB4B4"/>
      </a:folHlink>
    </a:clrScheme>
    <a:fontScheme name="爆光">
      <a:majorFont>
        <a:latin typeface="Helvetica"/>
        <a:ea typeface=""/>
        <a:cs typeface=""/>
        <a:font script="Jpan" typeface="ＭＳ ゴシック"/>
        <a:font script="Hans" typeface="宋体"/>
        <a:font script="Hant" typeface="宋体"/>
      </a:majorFont>
      <a:minorFont>
        <a:latin typeface="Helvetica"/>
        <a:ea typeface=""/>
        <a:cs typeface=""/>
        <a:font script="Jpan" typeface="ＭＳ ゴシック"/>
        <a:font script="Hans" typeface="宋体"/>
        <a:font script="Hant" typeface="宋体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2026-09-08T17:42:08Z</dcterms:created>
  <dcterms:modified xsi:type="dcterms:W3CDTF">2026-09-08T17:42:08Z</dcterms:modified>
</cp:coreProperties>
</file>