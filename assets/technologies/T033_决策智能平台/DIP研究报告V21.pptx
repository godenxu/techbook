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6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3;&#10;  &lt;Image src=&quot;assets/bg_cover.png&quot; style={{ position: 'absolute', left: 0, top: 0, width: 1280, height: 720, objectFit: 'fill', zIndex: -1 }} /&gt;&#13;&#10;  &lt;Box style={{ width: 1280, height: 720, position: 'relative', overflow: 'hidden' }}&gt;&#13;&#10;    &lt;Box style={{ position: 'absolute', right: 0, top: 0, width: 340, height: 720, background: 'linear-gradient(180deg, #05377D 0%, #0A1950 100%)' }} /&gt;&#13;&#10;    &lt;Box style={{ position: 'absolute', right: 340, top: 0, width: 2, height: 720, background: '#0850B4', opacity: 0.7 }} /&gt;&#13;&#10;    &lt;Box style={{ position: 'absolute', left: 0, top: 0, width: 6, height: 720, background: '#0850B4' }} /&gt;&#13;&#10;    &lt;Box style={{ position: 'absolute', left: 0, bottom: 0, width: 220, height: 6, background: '#0F6EF0' }} /&gt;&#13;&#10;&#13;&#10;    &lt;Box style={{ position: 'relative', zIndex: 1, padding: '74px 80px 54px 80px', boxSizing: 'border-box', display: 'flex', flexDirection: 'column', height: '100%' }}&gt;&#13;&#10;      &lt;Text style={{ fontSize: 16, color: '#78AAF5', fontFamily: 'Arial Unicode MS, Arial, sans-serif', letterSpacing: 4 }}&gt;&#13;&#10;        FRONTIER TECHNOLOGY RESEARCH REPORT&#13;&#10;      &lt;/Text&gt;&#13;&#10;&#13;&#10;      &lt;Text style={{ fontSize: 54, color: '#FFFFFF', fontWeight: 'bold', fontFamily: 'Microsoft YaHei, sans-serif', lineHeight: 1.25, marginTop: 34 }}&gt;&#13;&#10;        决策智能平台（DIP）&#13;&#10;      &lt;/Text&gt;&#13;&#10;      &lt;Text style={{ fontSize: 36, color: '#C8DCFA', fontWeight: 'bold', fontFamily: 'Microsoft YaHei, sans-serif', lineHeight: 1.3, marginTop: 6 }}&gt;&#13;&#10;        技术前沿专题研究报告&#13;&#10;      &lt;/Text&gt;&#13;&#10;&#13;&#10;      &lt;Text style={{ fontSize: 19, color: '#78AAF5', fontFamily: 'Arial Unicode MS, Arial, sans-serif', marginTop: 22, letterSpacing: 1 }}&gt;&#13;&#10;        Decision Intelligence Platform · Technology Frontier Assessment&#13;&#10;      &lt;/Text&gt;&#13;&#10;&#13;&#10;      &lt;Box style={{ flex: 1 }} /&gt;&#13;&#10;&#13;&#10;      &lt;Box style={{ paddingTop: 26, borderTop: '1px solid rgba(255,255,255,0.22)', display: 'flex', flexDirection: 'column', gap: 12 }}&gt;&#13;&#10;        &lt;Text style={{ fontSize: 18, color: '#C8DCFA', fontFamily: 'Microsoft YaHei, sans-serif' }}&gt;&#13;&#10;          浦发银行　总行科技发展部 · 科技规划处&#13;&#10;        &lt;/Text&gt;&#13;&#10;        &lt;Box style={{ display: 'flex', flexDirection: 'row', alignItems: 'center', gap: 20 }}&gt;&#13;&#10;          &lt;Text style={{ fontSize: 16, color: '#78AAF5', fontFamily: 'Arial Unicode MS, Arial, sans-serif' }}&gt;2026年8月&lt;/Text&gt;&#13;&#10;          &lt;Box style={{ width: 4, height: 14, background: '#78AAF5', borderRadius: 2, opacity: 0.5 }} /&gt;&#13;&#10;          &lt;Text style={{ fontSize: 16, color: '#FBAF16', fontFamily: 'Microsoft YaHei, sans-serif', fontWeight: 'bold' }}&gt;内部资料&lt;/Text&gt;&#13;&#10;        &lt;/Box&gt;&#13;&#10;      &lt;/Box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8953500" y="0"/>
            <a:ext cx="3238500" cy="6858000"/>
          </a:xfrm>
          <a:prstGeom prst="rect">
            <a:avLst/>
          </a:prstGeom>
          <a:gradFill>
            <a:gsLst>
              <a:gs pos="0">
                <a:srgbClr val="05377D"/>
              </a:gs>
              <a:gs pos="100000">
                <a:srgbClr val="0A1950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4" name="矩形 3"/>
          <p:cNvSpPr/>
          <p:nvPr/>
        </p:nvSpPr>
        <p:spPr>
          <a:xfrm>
            <a:off x="8934450" y="0"/>
            <a:ext cx="19050" cy="6858000"/>
          </a:xfrm>
          <a:prstGeom prst="rect">
            <a:avLst/>
          </a:prstGeom>
          <a:solidFill>
            <a:srgbClr val="0850B4">
              <a:alpha val="70000"/>
            </a:srgbClr>
          </a:soli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850B4"/>
          </a:soli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0" y="6800850"/>
            <a:ext cx="2095500" cy="57150"/>
          </a:xfrm>
          <a:prstGeom prst="rect">
            <a:avLst/>
          </a:prstGeom>
          <a:solidFill>
            <a:srgbClr val="0F6EF0"/>
          </a:solidFill>
        </p:spPr>
        <p:txBody>
          <a:bodyPr/>
          <a:p/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762000" y="1219200"/>
            <a:ext cx="10668000" cy="771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决策智能平台（</a:t>
            </a:r>
            <a:r>
              <a:rPr lang="en-US" sz="4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DIP</a:t>
            </a:r>
            <a:r>
              <a:rPr lang="zh-CN" sz="4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4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762000" y="2047875"/>
            <a:ext cx="10668000" cy="542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C8DCFA"/>
                </a:solidFill>
                <a:latin typeface="微软雅黑" panose="020B0503020204020204" charset="-122"/>
                <a:ea typeface="微软雅黑" panose="020B0503020204020204" charset="-122"/>
              </a:rPr>
              <a:t>技术前沿专题研究报告</a:t>
            </a:r>
            <a:endParaRPr lang="zh-CN" sz="2700" b="1">
              <a:solidFill>
                <a:srgbClr val="C8DC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762000" y="2800350"/>
            <a:ext cx="106680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75">
                <a:solidFill>
                  <a:srgbClr val="78AAF5"/>
                </a:solidFill>
                <a:latin typeface="Arial Unicode MS" panose="020B0604020202020204" charset="-122"/>
                <a:ea typeface="Arial Unicode MS" panose="020B0604020202020204" charset="-122"/>
              </a:rPr>
              <a:t>Decision Intelligence Platform · Technology Frontier Assessment</a:t>
            </a:r>
            <a:endParaRPr lang="en-US" sz="1425" spc="75">
              <a:solidFill>
                <a:srgbClr val="78AAF5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762000" y="5572125"/>
            <a:ext cx="10668000" cy="781050"/>
          </a:xfrm>
          <a:custGeom>
            <a:avLst/>
            <a:gdLst/>
            <a:ahLst/>
            <a:cxnLst/>
            <a:pathLst>
              <a:path w="1120" h="8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22000"/>
            </a:srgbClr>
          </a:solidFill>
        </p:spPr>
        <p:txBody>
          <a:bodyPr/>
          <a:p/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762000" y="5829300"/>
            <a:ext cx="10668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8DCFA"/>
                </a:solidFill>
                <a:latin typeface="微软雅黑" panose="020B0503020204020204" charset="-122"/>
                <a:ea typeface="微软雅黑" panose="020B0503020204020204" charset="-122"/>
              </a:rPr>
              <a:t>浦发银行　总行科技发展部</a:t>
            </a:r>
            <a:r>
              <a:rPr lang="en-US" sz="1350">
                <a:solidFill>
                  <a:srgbClr val="C8DCF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C8DCFA"/>
                </a:solidFill>
                <a:latin typeface="微软雅黑" panose="020B0503020204020204" charset="-122"/>
                <a:ea typeface="微软雅黑" panose="020B0503020204020204" charset="-122"/>
              </a:rPr>
              <a:t>科技规划处</a:t>
            </a:r>
            <a:endParaRPr lang="zh-CN" sz="1350">
              <a:solidFill>
                <a:srgbClr val="C8DC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762000" y="6153150"/>
            <a:ext cx="7334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8AAF5"/>
                </a:solidFill>
                <a:latin typeface="Arial Unicode MS" panose="020B0604020202020204" charset="-122"/>
                <a:ea typeface="Arial Unicode MS" panose="020B0604020202020204" charset="-122"/>
              </a:rPr>
              <a:t>2026</a:t>
            </a:r>
            <a:r>
              <a:rPr lang="zh-CN" sz="1200">
                <a:solidFill>
                  <a:srgbClr val="78AAF5"/>
                </a:solidFill>
                <a:latin typeface="Arial Unicode MS" panose="020B0604020202020204" charset="-122"/>
                <a:ea typeface="Arial Unicode MS" panose="020B0604020202020204" charset="-122"/>
              </a:rPr>
              <a:t>年</a:t>
            </a:r>
            <a:r>
              <a:rPr lang="en-US" sz="1200">
                <a:solidFill>
                  <a:srgbClr val="78AAF5"/>
                </a:solidFill>
                <a:latin typeface="Arial Unicode MS" panose="020B0604020202020204" charset="-122"/>
                <a:ea typeface="Arial Unicode MS" panose="020B0604020202020204" charset="-122"/>
              </a:rPr>
              <a:t>8</a:t>
            </a:r>
            <a:r>
              <a:rPr lang="zh-CN" sz="1200">
                <a:solidFill>
                  <a:srgbClr val="78AAF5"/>
                </a:solidFill>
                <a:latin typeface="Arial Unicode MS" panose="020B0604020202020204" charset="-122"/>
                <a:ea typeface="Arial Unicode MS" panose="020B0604020202020204" charset="-122"/>
              </a:rPr>
              <a:t>月</a:t>
            </a:r>
            <a:endParaRPr lang="zh-CN" sz="1200">
              <a:solidFill>
                <a:srgbClr val="78AAF5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1914525" y="6153150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BAF16"/>
                </a:solidFill>
                <a:latin typeface="微软雅黑" panose="020B0503020204020204" charset="-122"/>
                <a:ea typeface="微软雅黑" panose="020B0503020204020204" charset="-122"/>
              </a:rPr>
              <a:t>内部资料</a:t>
            </a:r>
            <a:endParaRPr lang="zh-CN" sz="1200" b="1">
              <a:solidFill>
                <a:srgbClr val="FBA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1685925" y="6181725"/>
            <a:ext cx="38100" cy="133350"/>
          </a:xfrm>
          <a:prstGeom prst="roundRect">
            <a:avLst>
              <a:gd name="adj" fmla="val 50000"/>
            </a:avLst>
          </a:prstGeom>
          <a:solidFill>
            <a:srgbClr val="78AAF5">
              <a:alpha val="50000"/>
            </a:srgbClr>
          </a:solidFill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 descr="&lt;Slide&gt;&#13;&#10;  &lt;Image src=&quot;assets/bg_content.png&quot; style={{ position: 'absolute', left: 0, top: 0, width: 1280, height: 720, objectFit: 'fill', zIndex: -1 }} /&gt;&#13;&#10;  &lt;Box style={{ width: 1280, height: 720, padding: '34px 56px 20px 56px', boxSizing: 'border-box', display: 'flex', flexDirection: 'column' }}&gt;&#13;&#10;    &lt;Text style={{ fontSize: 30, color: '#0A1950', fontWeight: 'bold', fontFamily: 'Microsoft YaHei, sans-serif' }}&gt;目录&lt;/Text&gt;&#13;&#10;    &lt;Text style={{ fontSize: 15, color: '#595959', fontFamily: 'Arial Unicode MS, Arial, sans-serif', marginTop: 4, letterSpacing: 2 }}&gt;CONTENTS&lt;/Text&gt;&#13;&#10;    &lt;Box style={{ width: 64, height: 4, background: '#0A1950', borderRadius: 2, marginTop: 10, marginBottom: 20 }} /&gt;&#13;&#10;&#13;&#10;    &lt;Box style={{ display: 'flex', flexDirection: 'row', flexWrap: 'wrap', gap: 16, height: 512 }}&gt;&#13;&#10;      &lt;Box style={{ width: 566, height: 116, display: 'flex', flexDirection: 'row', gap: 14, alignItems: 'flex-start', padding: '14px 18px', boxSizing: 'border-box', background: '#F7F9FC', borderRadius: 6, borderLeft: '4px solid #0A1950' }}&gt;&#13;&#10;        &lt;Box style={{ width: 40, height: 40, background: '#0A1950', borderRadius: 20, display: 'flex', alignItems: 'center', justifyContent: 'center', flexShrink: 0 }}&gt;&#13;&#10;          &lt;Text style={{ fontSize: 22, color: '#FFFFFF', fontWeight: 'bold', fontFamily: 'Arial, sans-serif' }}&gt;01&lt;/Text&gt;&#13;&#10;        &lt;/Box&gt;&#13;&#10;        &lt;Box style={{ display: 'flex', flexDirection: 'column', gap: 4 }}&gt;&#13;&#10;          &lt;Text style={{ fontSize: 19, color: '#0A1950', fontWeight: 'bold', fontFamily: 'Microsoft YaHei, sans-serif' }}&gt;执行摘要&lt;/Text&gt;&#13;&#10;          &lt;Text style={{ fontSize: 14, color: '#595959', fontFamily: 'Microsoft YaHei, sans-serif', lineHeight: 1.45 }}&gt;六维画像 · 核心结论 · 推进建议&lt;/Text&gt;&#13;&#10;        &lt;/Box&gt;&#13;&#10;      &lt;/Box&gt;&#13;&#10;&#13;&#10;      &lt;Box style={{ width: 566, height: 116, display: 'flex', flexDirection: 'row', gap: 14, alignItems: 'flex-start', padding: '14px 18px', boxSizing: 'border-box', background: '#F7F9FC', borderRadius: 6, borderLeft: '4px solid #05377D' }}&gt;&#13;&#10;        &lt;Box style={{ width: 40, height: 40, background: '#05377D', borderRadius: 20, display: 'flex', alignItems: 'center', justifyContent: 'center', flexShrink: 0 }}&gt;&#13;&#10;          &lt;Text style={{ fontSize: 22, color: '#FFFFFF', fontWeight: 'bold', fontFamily: 'Arial, sans-serif' }}&gt;02&lt;/Text&gt;&#13;&#10;        &lt;/Box&gt;&#13;&#10;        &lt;Box style={{ display: 'flex', flexDirection: 'column', gap: 4 }}&gt;&#13;&#10;          &lt;Text style={{ fontSize: 19, color: '#0A1950', fontWeight: 'bold', fontFamily: 'Microsoft YaHei, sans-serif' }}&gt;背景与现状&lt;/Text&gt;&#13;&#10;          &lt;Text style={{ fontSize: 14, color: '#595959', fontFamily: 'Microsoft YaHei, sans-serif', lineHeight: 1.45 }}&gt;三大驱动力 · 四类失效机制 · 市场增速&lt;/Text&gt;&#13;&#10;        &lt;/Box&gt;&#13;&#10;      &lt;/Box&gt;&#13;&#10;&#13;&#10;      &lt;Box style={{ width: 566, height: 116, display: 'flex', flexDirection: 'row', gap: 14, alignItems: 'flex-start', padding: '14px 18px', boxSizing: 'border-box', background: '#F7F9FC', borderRadius: 6, borderLeft: '4px solid #05377D' }}&gt;&#13;&#10;        &lt;Box style={{ width: 40, height: 40, background: '#05377D', borderRadius: 20, display: 'flex', alignItems: 'center', justifyContent: 'center', flexShrink: 0 }}&gt;&#13;&#10;          &lt;Text style={{ fontSize: 22, color: '#FFFFFF', fontWeight: 'bold', fontFamily: 'Arial, sans-serif' }}&gt;03&lt;/Text&gt;&#13;&#10;        &lt;/Box&gt;&#13;&#10;        &lt;Box style={{ display: 'flex', flexDirection: 'column', gap: 4 }}&gt;&#13;&#10;          &lt;Text style={{ fontSize: 19, color: '#0A1950', fontWeight: 'bold', fontFamily: 'Microsoft YaHei, sans-serif' }}&gt;技术解析&lt;/Text&gt;&#13;&#10;          &lt;Text style={{ fontSize: 14, color: '#595959', fontFamily: 'Microsoft YaHei, sans-serif', lineHeight: 1.45 }}&gt;四项核心要素 · 四层架构 · 五层能力&lt;/Text&gt;&#13;&#10;        &lt;/Box&gt;&#13;&#10;      &lt;/Box&gt;&#13;&#10;&#13;&#10;      &lt;Box style={{ width: 566, height: 116, display: 'flex', flexDirection: 'row', gap: 14, alignItems: 'flex-start', padding: '14px 18px', boxSizing: 'border-box', background: '#F7F9FC', borderRadius: 6, borderLeft: '4px solid #0850B4' }}&gt;&#13;&#10;        &lt;Box style={{ width: 40, height: 40, background: '#0850B4', borderRadius: 20, display: 'flex', alignItems: 'center', justifyContent: 'center', flexShrink: 0 }}&gt;&#13;&#10;          &lt;Text style={{ fontSize: 22, color: '#FFFFFF', fontWeight: 'bold', fontFamily: 'Arial, sans-serif' }}&gt;04&lt;/Text&gt;&#13;&#10;        &lt;/Box&gt;&#13;&#10;        &lt;Box style={{ display: 'flex', flexDirection: 'column', gap: 4 }}&gt;&#13;&#10;          &lt;Text style={{ fontSize: 19, color: '#0A1950', fontWeight: 'bold', fontFamily: 'Microsoft YaHei, sans-serif' }}&gt;应用场景与价值实证&lt;/Text&gt;&#13;&#10;          &lt;Text style={{ fontSize: 14, color: '#595959', fontFamily: 'Microsoft YaHei, sans-serif', lineHeight: 1.45 }}&gt;四大场景 · 两条主线 · 效益测算&lt;/Text&gt;&#13;&#10;        &lt;/Box&gt;&#13;&#10;      &lt;/Box&gt;&#13;&#10;&#13;&#10;      &lt;Box style={{ width: 566, height: 116, display: 'flex', flexDirection: 'row', gap: 14, alignItems: 'flex-start', padding: '14px 18px', boxSizing: 'border-box', background: '#F7F9FC', borderRadius: 6, borderLeft: '4px solid #0850B4' }}&gt;&#13;&#10;        &lt;Box style={{ width: 40, height: 40, background: '#0850B4', borderRadius: 20, display: 'flex', alignItems: 'center', justifyContent: 'center', flexShrink: 0 }}&gt;&#13;&#10;          &lt;Text style={{ fontSize: 22, color: '#FFFFFF', fontWeight: 'bold', fontFamily: 'Arial, sans-serif' }}&gt;05&lt;/Text&gt;&#13;&#10;        &lt;/Box&gt;&#13;&#10;        &lt;Box style={{ display: 'flex', flexDirection: 'column', gap: 4 }}&gt;&#13;&#10;          &lt;Text style={{ fontSize: 19, color: '#0A1950', fontWeight: 'bold', fontFamily: 'Microsoft YaHei, sans-serif' }}&gt;风险与挑战&lt;/Text&gt;&#13;&#10;          &lt;Text style={{ fontSize: 14, color: '#595959', fontFamily: 'Microsoft YaHei, sans-serif', lineHeight: 1.45 }}&gt;监管合规 · 五类风险 · 引入可行度&lt;/Text&gt;&#13;&#10;        &lt;/Box&gt;&#13;&#10;      &lt;/Box&gt;&#13;&#10;&#13;&#10;      &lt;Box style={{ width: 566, height: 116, display: 'flex', flexDirection: 'row', gap: 14, alignItems: 'flex-start', padding: '14px 18px', boxSizing: 'border-box', background: '#F7F9FC', borderRadius: 6, borderLeft: '4px solid #0F6EF0' }}&gt;&#13;&#10;        &lt;Box style={{ width: 40, height: 40, background: '#0F6EF0', borderRadius: 20, display: 'flex', alignItems: 'center', justifyContent: 'center', flexShrink: 0 }}&gt;&#13;&#10;          &lt;Text style={{ fontSize: 22, color: '#FFFFFF', fontWeight: 'bold', fontFamily: 'Arial, sans-serif' }}&gt;06&lt;/Text&gt;&#13;&#10;        &lt;/Box&gt;&#13;&#10;        &lt;Box style={{ display: 'flex', flexDirection: 'column', gap: 4 }}&gt;&#13;&#10;          &lt;Text style={{ fontSize: 19, color: '#0A1950', fontWeight: 'bold', fontFamily: 'Microsoft YaHei, sans-serif' }}&gt;市场格局与竞争生态&lt;/Text&gt;&#13;&#10;          &lt;Text style={{ fontSize: 14, color: '#595959', fontFamily: 'Microsoft YaHei, sans-serif', lineHeight: 1.45 }}&gt;市场规模 · 波特五力 · 厂商格局&lt;/Text&gt;&#13;&#10;        &lt;/Box&gt;&#13;&#10;      &lt;/Box&gt;&#13;&#10;&#13;&#10;      &lt;Box style={{ width: 566, height: 116, display: 'flex', flexDirection: 'row', gap: 14, alignItems: 'flex-start', padding: '14px 18px', boxSizing: 'border-box', background: '#F7F9FC', borderRadius: 6, borderLeft: '4px solid #0F6EF0' }}&gt;&#13;&#10;        &lt;Box style={{ width: 40, height: 40, background: '#0F6EF0', borderRadius: 20, display: 'flex', alignItems: 'center', justifyContent: 'center', flexShrink: 0 }}&gt;&#13;&#10;          &lt;Text style={{ fontSize: 22, color: '#FFFFFF', fontWeight: 'bold', fontFamily: 'Arial, sans-serif' }}&gt;07&lt;/Text&gt;&#13;&#10;        &lt;/Box&gt;&#13;&#10;        &lt;Box style={{ display: 'flex', flexDirection: 'column', gap: 4 }}&gt;&#13;&#10;          &lt;Text style={{ fontSize: 19, color: '#0A1950', fontWeight: 'bold', fontFamily: 'Microsoft YaHei, sans-serif' }}&gt;战略定位与匹配度&lt;/Text&gt;&#13;&#10;          &lt;Text style={{ fontSize: 14, color: '#595959', fontFamily: 'Microsoft YaHei, sans-serif', lineHeight: 1.45 }}&gt;战略主线 · SWOT · 匹配度评定&lt;/Text&gt;&#13;&#10;        &lt;/Box&gt;&#13;&#10;      &lt;/Box&gt;&#13;&#10;&#13;&#10;      &lt;Box style={{ width: 566, height: 116, display: 'flex', flexDirection: 'row', gap: 14, alignItems: 'flex-start', padding: '14px 18px', boxSizing: 'border-box', background: '#F7F9FC', borderRadius: 6, borderLeft: '4px solid #0A1950' }}&gt;&#13;&#10;        &lt;Box style={{ width: 40, height: 40, background: '#0A1950', borderRadius: 20, display: 'flex', alignItems: 'center', justifyContent: 'center', flexShrink: 0 }}&gt;&#13;&#10;          &lt;Text style={{ fontSize: 22, color: '#FFFFFF', fontWeight: 'bold', fontFamily: 'Arial, sans-serif' }}&gt;08&lt;/Text&gt;&#13;&#10;        &lt;/Box&gt;&#13;&#10;        &lt;Box style={{ display: 'flex', flexDirection: 'column', gap: 4 }}&gt;&#13;&#10;          &lt;Text style={{ fontSize: 19, color: '#0A1950', fontWeight: 'bold', fontFamily: 'Microsoft YaHei, sans-serif' }}&gt;综合评估结论&lt;/Text&gt;&#13;&#10;          &lt;Text style={{ fontSize: 14, color: '#595959', fontFamily: 'Microsoft YaHei, sans-serif', lineHeight: 1.45 }}&gt;六维汇总 · 处置档位 · 红线核查&lt;/Text&gt;&#13;&#10;        &lt;/Box&gt;&#13;&#10;      &lt;/Box&gt;&#13;&#10;    &lt;/Box&gt;&#13;&#10;&#13;&#10;    &lt;Box style={{ display: 'flex', justifyContent: 'space-between', alignItems: 'center', marginTop: 'auto', paddingTop: 10, borderTop: '1px solid rgba(255,255,255,0.3)' }}&gt;&#13;&#10;      &lt;Text style={{ fontSize: 14, color: '#FFFFFF', fontFamily: 'Arial Unicode MS, Arial, sans-serif' }}&gt;浦发银行 · 决策智能平台(DIP)技术前沿专题研究报告&lt;/Text&gt;&#13;&#10;      &lt;Text style={{ fontSize: 14, color: '#FFFFFF', fontFamily: 'Arial, sans-serif' }}&gt;02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533400" y="323850"/>
            <a:ext cx="111252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22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533400" y="704850"/>
            <a:ext cx="11125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595959"/>
                </a:solidFill>
                <a:latin typeface="Arial Unicode MS" panose="020B0604020202020204" charset="-122"/>
                <a:ea typeface="Arial Unicode MS" panose="020B0604020202020204" charset="-122"/>
              </a:rPr>
              <a:t>CONTENTS</a:t>
            </a:r>
            <a:endParaRPr lang="en-US" sz="1125" spc="150">
              <a:solidFill>
                <a:srgbClr val="595959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533400" y="9715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65" name="圆角矩形 64"/>
          <p:cNvSpPr/>
          <p:nvPr/>
        </p:nvSpPr>
        <p:spPr>
          <a:xfrm>
            <a:off x="571500" y="1200150"/>
            <a:ext cx="5353050" cy="1104900"/>
          </a:xfrm>
          <a:prstGeom prst="roundRect">
            <a:avLst>
              <a:gd name="adj" fmla="val 5172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66" name="任意多边形 65"/>
          <p:cNvSpPr/>
          <p:nvPr/>
        </p:nvSpPr>
        <p:spPr>
          <a:xfrm>
            <a:off x="571500" y="1200150"/>
            <a:ext cx="5353050" cy="1104900"/>
          </a:xfrm>
          <a:custGeom>
            <a:avLst/>
            <a:gdLst/>
            <a:ahLst/>
            <a:cxnLst/>
            <a:pathLst>
              <a:path w="562" h="11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14"/>
                </a:lnTo>
                <a:cubicBezTo>
                  <a:pt x="4" y="115"/>
                  <a:pt x="5" y="116"/>
                  <a:pt x="6" y="116"/>
                </a:cubicBezTo>
                <a:cubicBezTo>
                  <a:pt x="3" y="116"/>
                  <a:pt x="0" y="113"/>
                  <a:pt x="0" y="1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A1950"/>
          </a:solidFill>
        </p:spPr>
        <p:txBody>
          <a:bodyPr/>
          <a:p/>
        </p:txBody>
      </p:sp>
      <p:sp>
        <p:nvSpPr>
          <p:cNvPr id="67" name="圆角矩形 66"/>
          <p:cNvSpPr/>
          <p:nvPr/>
        </p:nvSpPr>
        <p:spPr>
          <a:xfrm>
            <a:off x="742950" y="1333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819150" y="1400175"/>
            <a:ext cx="238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01</a:t>
            </a:r>
            <a:endParaRPr lang="en-US" sz="165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1257300" y="1333500"/>
            <a:ext cx="18288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执行摘要</a:t>
            </a:r>
            <a:endParaRPr lang="zh-CN" sz="14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1257300" y="1590675"/>
            <a:ext cx="18288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六维画像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核心结论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推进建议</a:t>
            </a:r>
            <a:endParaRPr lang="zh-CN" sz="10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6115050" y="1200150"/>
            <a:ext cx="5353050" cy="1104900"/>
          </a:xfrm>
          <a:prstGeom prst="roundRect">
            <a:avLst>
              <a:gd name="adj" fmla="val 5172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72" name="任意多边形 71"/>
          <p:cNvSpPr/>
          <p:nvPr/>
        </p:nvSpPr>
        <p:spPr>
          <a:xfrm>
            <a:off x="6115050" y="1200150"/>
            <a:ext cx="5353050" cy="1104900"/>
          </a:xfrm>
          <a:custGeom>
            <a:avLst/>
            <a:gdLst/>
            <a:ahLst/>
            <a:cxnLst/>
            <a:pathLst>
              <a:path w="562" h="11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14"/>
                </a:lnTo>
                <a:cubicBezTo>
                  <a:pt x="4" y="115"/>
                  <a:pt x="5" y="116"/>
                  <a:pt x="6" y="116"/>
                </a:cubicBezTo>
                <a:cubicBezTo>
                  <a:pt x="3" y="116"/>
                  <a:pt x="0" y="113"/>
                  <a:pt x="0" y="1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5377D"/>
          </a:solidFill>
        </p:spPr>
        <p:txBody>
          <a:bodyPr/>
          <a:p/>
        </p:txBody>
      </p:sp>
      <p:sp>
        <p:nvSpPr>
          <p:cNvPr id="73" name="圆角矩形 72"/>
          <p:cNvSpPr/>
          <p:nvPr/>
        </p:nvSpPr>
        <p:spPr>
          <a:xfrm>
            <a:off x="6286500" y="1333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5377D"/>
          </a:solidFill>
        </p:spPr>
        <p:txBody>
          <a:bodyPr/>
          <a:p/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6362700" y="1400175"/>
            <a:ext cx="238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02</a:t>
            </a:r>
            <a:endParaRPr lang="en-US" sz="165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6800850" y="1333500"/>
            <a:ext cx="22288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背景与现状</a:t>
            </a:r>
            <a:endParaRPr lang="zh-CN" sz="14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6800850" y="1590675"/>
            <a:ext cx="22288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三大驱动力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四类失效机制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市场增速</a:t>
            </a:r>
            <a:endParaRPr lang="zh-CN" sz="10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571500" y="2457450"/>
            <a:ext cx="5353050" cy="1104900"/>
          </a:xfrm>
          <a:prstGeom prst="roundRect">
            <a:avLst>
              <a:gd name="adj" fmla="val 5172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78" name="任意多边形 77"/>
          <p:cNvSpPr/>
          <p:nvPr/>
        </p:nvSpPr>
        <p:spPr>
          <a:xfrm>
            <a:off x="571500" y="2457450"/>
            <a:ext cx="5353050" cy="1104900"/>
          </a:xfrm>
          <a:custGeom>
            <a:avLst/>
            <a:gdLst/>
            <a:ahLst/>
            <a:cxnLst/>
            <a:pathLst>
              <a:path w="562" h="11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14"/>
                </a:lnTo>
                <a:cubicBezTo>
                  <a:pt x="4" y="115"/>
                  <a:pt x="5" y="116"/>
                  <a:pt x="6" y="116"/>
                </a:cubicBezTo>
                <a:cubicBezTo>
                  <a:pt x="3" y="116"/>
                  <a:pt x="0" y="113"/>
                  <a:pt x="0" y="1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5377D"/>
          </a:solidFill>
        </p:spPr>
        <p:txBody>
          <a:bodyPr/>
          <a:p/>
        </p:txBody>
      </p:sp>
      <p:sp>
        <p:nvSpPr>
          <p:cNvPr id="79" name="圆角矩形 78"/>
          <p:cNvSpPr/>
          <p:nvPr/>
        </p:nvSpPr>
        <p:spPr>
          <a:xfrm>
            <a:off x="742950" y="25908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5377D"/>
          </a:solidFill>
        </p:spPr>
        <p:txBody>
          <a:bodyPr/>
          <a:p/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819150" y="2657475"/>
            <a:ext cx="238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03</a:t>
            </a:r>
            <a:endParaRPr lang="en-US" sz="165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1257300" y="2590800"/>
            <a:ext cx="20955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技术解析</a:t>
            </a:r>
            <a:endParaRPr lang="zh-CN" sz="14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1257300" y="2847975"/>
            <a:ext cx="20955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四项核心要素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四层架构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五层能力</a:t>
            </a:r>
            <a:endParaRPr lang="zh-CN" sz="10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6115050" y="2457450"/>
            <a:ext cx="5353050" cy="1104900"/>
          </a:xfrm>
          <a:prstGeom prst="roundRect">
            <a:avLst>
              <a:gd name="adj" fmla="val 5172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84" name="任意多边形 83"/>
          <p:cNvSpPr/>
          <p:nvPr/>
        </p:nvSpPr>
        <p:spPr>
          <a:xfrm>
            <a:off x="6115050" y="2457450"/>
            <a:ext cx="5353050" cy="1104900"/>
          </a:xfrm>
          <a:custGeom>
            <a:avLst/>
            <a:gdLst/>
            <a:ahLst/>
            <a:cxnLst/>
            <a:pathLst>
              <a:path w="562" h="11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14"/>
                </a:lnTo>
                <a:cubicBezTo>
                  <a:pt x="4" y="115"/>
                  <a:pt x="5" y="116"/>
                  <a:pt x="6" y="116"/>
                </a:cubicBezTo>
                <a:cubicBezTo>
                  <a:pt x="3" y="116"/>
                  <a:pt x="0" y="113"/>
                  <a:pt x="0" y="1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850B4"/>
          </a:solidFill>
        </p:spPr>
        <p:txBody>
          <a:bodyPr/>
          <a:p/>
        </p:txBody>
      </p:sp>
      <p:sp>
        <p:nvSpPr>
          <p:cNvPr id="85" name="圆角矩形 84"/>
          <p:cNvSpPr/>
          <p:nvPr/>
        </p:nvSpPr>
        <p:spPr>
          <a:xfrm>
            <a:off x="6286500" y="25908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850B4"/>
          </a:solidFill>
        </p:spPr>
        <p:txBody>
          <a:bodyPr/>
          <a:p/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6362700" y="2657475"/>
            <a:ext cx="238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04</a:t>
            </a:r>
            <a:endParaRPr lang="en-US" sz="165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6800850" y="2590800"/>
            <a:ext cx="18288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应用场景与价值实证</a:t>
            </a:r>
            <a:endParaRPr lang="zh-CN" sz="14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6800850" y="2847975"/>
            <a:ext cx="18288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四大场景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两条主线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效益测算</a:t>
            </a:r>
            <a:endParaRPr lang="zh-CN" sz="10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571500" y="3714750"/>
            <a:ext cx="5353050" cy="1104900"/>
          </a:xfrm>
          <a:prstGeom prst="roundRect">
            <a:avLst>
              <a:gd name="adj" fmla="val 5172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90" name="任意多边形 89"/>
          <p:cNvSpPr/>
          <p:nvPr/>
        </p:nvSpPr>
        <p:spPr>
          <a:xfrm>
            <a:off x="571500" y="3714750"/>
            <a:ext cx="5353050" cy="1104900"/>
          </a:xfrm>
          <a:custGeom>
            <a:avLst/>
            <a:gdLst/>
            <a:ahLst/>
            <a:cxnLst/>
            <a:pathLst>
              <a:path w="562" h="11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14"/>
                </a:lnTo>
                <a:cubicBezTo>
                  <a:pt x="4" y="115"/>
                  <a:pt x="5" y="116"/>
                  <a:pt x="6" y="116"/>
                </a:cubicBezTo>
                <a:cubicBezTo>
                  <a:pt x="3" y="116"/>
                  <a:pt x="0" y="113"/>
                  <a:pt x="0" y="1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850B4"/>
          </a:solidFill>
        </p:spPr>
        <p:txBody>
          <a:bodyPr/>
          <a:p/>
        </p:txBody>
      </p:sp>
      <p:sp>
        <p:nvSpPr>
          <p:cNvPr id="91" name="圆角矩形 90"/>
          <p:cNvSpPr/>
          <p:nvPr/>
        </p:nvSpPr>
        <p:spPr>
          <a:xfrm>
            <a:off x="742950" y="38481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850B4"/>
          </a:solidFill>
        </p:spPr>
        <p:txBody>
          <a:bodyPr/>
          <a:p/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819150" y="3914775"/>
            <a:ext cx="238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05</a:t>
            </a:r>
            <a:endParaRPr lang="en-US" sz="165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1257300" y="3848100"/>
            <a:ext cx="1962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风险与挑战</a:t>
            </a:r>
            <a:endParaRPr lang="zh-CN" sz="14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1257300" y="4105275"/>
            <a:ext cx="19621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监管合规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五类风险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引入可行度</a:t>
            </a:r>
            <a:endParaRPr lang="zh-CN" sz="10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6115050" y="3714750"/>
            <a:ext cx="5353050" cy="1104900"/>
          </a:xfrm>
          <a:prstGeom prst="roundRect">
            <a:avLst>
              <a:gd name="adj" fmla="val 5172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96" name="任意多边形 95"/>
          <p:cNvSpPr/>
          <p:nvPr/>
        </p:nvSpPr>
        <p:spPr>
          <a:xfrm>
            <a:off x="6115050" y="3714750"/>
            <a:ext cx="5353050" cy="1104900"/>
          </a:xfrm>
          <a:custGeom>
            <a:avLst/>
            <a:gdLst/>
            <a:ahLst/>
            <a:cxnLst/>
            <a:pathLst>
              <a:path w="562" h="11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14"/>
                </a:lnTo>
                <a:cubicBezTo>
                  <a:pt x="4" y="115"/>
                  <a:pt x="5" y="116"/>
                  <a:pt x="6" y="116"/>
                </a:cubicBezTo>
                <a:cubicBezTo>
                  <a:pt x="3" y="116"/>
                  <a:pt x="0" y="113"/>
                  <a:pt x="0" y="1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F6EF0"/>
          </a:solidFill>
        </p:spPr>
        <p:txBody>
          <a:bodyPr/>
          <a:p/>
        </p:txBody>
      </p:sp>
      <p:sp>
        <p:nvSpPr>
          <p:cNvPr id="97" name="圆角矩形 96"/>
          <p:cNvSpPr/>
          <p:nvPr/>
        </p:nvSpPr>
        <p:spPr>
          <a:xfrm>
            <a:off x="6286500" y="38481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F6EF0"/>
          </a:solidFill>
        </p:spPr>
        <p:txBody>
          <a:bodyPr/>
          <a:p/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6362700" y="3914775"/>
            <a:ext cx="238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06</a:t>
            </a:r>
            <a:endParaRPr lang="en-US" sz="165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6800850" y="3848100"/>
            <a:ext cx="18288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市场格局与竞争生态</a:t>
            </a:r>
            <a:endParaRPr lang="zh-CN" sz="14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6800850" y="4105275"/>
            <a:ext cx="18288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市场规模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波特五力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厂商格局</a:t>
            </a:r>
            <a:endParaRPr lang="zh-CN" sz="10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圆角矩形 100"/>
          <p:cNvSpPr/>
          <p:nvPr/>
        </p:nvSpPr>
        <p:spPr>
          <a:xfrm>
            <a:off x="571500" y="4972050"/>
            <a:ext cx="5353050" cy="1104900"/>
          </a:xfrm>
          <a:prstGeom prst="roundRect">
            <a:avLst>
              <a:gd name="adj" fmla="val 5172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02" name="任意多边形 101"/>
          <p:cNvSpPr/>
          <p:nvPr/>
        </p:nvSpPr>
        <p:spPr>
          <a:xfrm>
            <a:off x="571500" y="4972050"/>
            <a:ext cx="5353050" cy="1104900"/>
          </a:xfrm>
          <a:custGeom>
            <a:avLst/>
            <a:gdLst/>
            <a:ahLst/>
            <a:cxnLst/>
            <a:pathLst>
              <a:path w="562" h="11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14"/>
                </a:lnTo>
                <a:cubicBezTo>
                  <a:pt x="4" y="115"/>
                  <a:pt x="5" y="116"/>
                  <a:pt x="6" y="116"/>
                </a:cubicBezTo>
                <a:cubicBezTo>
                  <a:pt x="3" y="116"/>
                  <a:pt x="0" y="113"/>
                  <a:pt x="0" y="1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F6EF0"/>
          </a:solidFill>
        </p:spPr>
        <p:txBody>
          <a:bodyPr/>
          <a:p/>
        </p:txBody>
      </p:sp>
      <p:sp>
        <p:nvSpPr>
          <p:cNvPr id="103" name="圆角矩形 102"/>
          <p:cNvSpPr/>
          <p:nvPr/>
        </p:nvSpPr>
        <p:spPr>
          <a:xfrm>
            <a:off x="742950" y="51054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F6EF0"/>
          </a:solidFill>
        </p:spPr>
        <p:txBody>
          <a:bodyPr/>
          <a:p/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819150" y="5172075"/>
            <a:ext cx="238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07</a:t>
            </a:r>
            <a:endParaRPr lang="en-US" sz="165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1257300" y="5105400"/>
            <a:ext cx="18192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战略定位与匹配度</a:t>
            </a:r>
            <a:endParaRPr lang="zh-CN" sz="14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1257300" y="5362575"/>
            <a:ext cx="181927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战略主线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SWOT · 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匹配度评定</a:t>
            </a:r>
            <a:endParaRPr lang="zh-CN" sz="10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6115050" y="4972050"/>
            <a:ext cx="5353050" cy="1104900"/>
          </a:xfrm>
          <a:prstGeom prst="roundRect">
            <a:avLst>
              <a:gd name="adj" fmla="val 5172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08" name="任意多边形 107"/>
          <p:cNvSpPr/>
          <p:nvPr/>
        </p:nvSpPr>
        <p:spPr>
          <a:xfrm>
            <a:off x="6115050" y="4972050"/>
            <a:ext cx="5353050" cy="1104900"/>
          </a:xfrm>
          <a:custGeom>
            <a:avLst/>
            <a:gdLst/>
            <a:ahLst/>
            <a:cxnLst/>
            <a:pathLst>
              <a:path w="562" h="11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14"/>
                </a:lnTo>
                <a:cubicBezTo>
                  <a:pt x="4" y="115"/>
                  <a:pt x="5" y="116"/>
                  <a:pt x="6" y="116"/>
                </a:cubicBezTo>
                <a:cubicBezTo>
                  <a:pt x="3" y="116"/>
                  <a:pt x="0" y="113"/>
                  <a:pt x="0" y="1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A1950"/>
          </a:solidFill>
        </p:spPr>
        <p:txBody>
          <a:bodyPr/>
          <a:p/>
        </p:txBody>
      </p:sp>
      <p:sp>
        <p:nvSpPr>
          <p:cNvPr id="109" name="圆角矩形 108"/>
          <p:cNvSpPr/>
          <p:nvPr/>
        </p:nvSpPr>
        <p:spPr>
          <a:xfrm>
            <a:off x="6286500" y="51054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6362700" y="5172075"/>
            <a:ext cx="238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08</a:t>
            </a:r>
            <a:endParaRPr lang="en-US" sz="165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6800850" y="5105400"/>
            <a:ext cx="18288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综合评估结论</a:t>
            </a:r>
            <a:endParaRPr lang="zh-CN" sz="14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6800850" y="5362575"/>
            <a:ext cx="18288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六维汇总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处置档位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红线核查</a:t>
            </a:r>
            <a:endParaRPr lang="zh-CN" sz="10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任意多边形 112"/>
          <p:cNvSpPr/>
          <p:nvPr/>
        </p:nvSpPr>
        <p:spPr>
          <a:xfrm>
            <a:off x="533400" y="6400800"/>
            <a:ext cx="11125200" cy="276225"/>
          </a:xfrm>
          <a:custGeom>
            <a:avLst/>
            <a:gdLst/>
            <a:ahLst/>
            <a:cxnLst/>
            <a:pathLst>
              <a:path w="1168" h="29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</p:spPr>
        <p:txBody>
          <a:bodyPr/>
          <a:p/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533400" y="6505575"/>
            <a:ext cx="3105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浦发银行</a:t>
            </a:r>
            <a:r>
              <a:rPr lang="en-US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 · </a:t>
            </a:r>
            <a:r>
              <a:rPr lang="zh-CN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决策智能平台</a:t>
            </a:r>
            <a:r>
              <a:rPr lang="en-US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(DIP)</a:t>
            </a:r>
            <a:r>
              <a:rPr lang="zh-CN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技术前沿专题研究报告</a:t>
            </a:r>
            <a:endParaRPr lang="zh-CN" sz="1050">
              <a:solidFill>
                <a:srgbClr val="FFFFFF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11506200" y="6505575"/>
            <a:ext cx="152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02</a:t>
            </a:r>
            <a:endParaRPr lang="en-US" sz="105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" descr="&lt;Slide&gt;&#13;&#10;  &lt;Image src=&quot;assets/bg_content.png&quot; style={{ position: 'absolute', left: 0, top: 0, width: 1280, height: 720, objectFit: 'fill', zIndex: -1 }} /&gt;&#13;&#10;  &lt;Box style={{ width: 1280, height: 720, padding: '34px 56px 20px 56px', boxSizing: 'border-box', display: 'flex', flexDirection: 'column' }}&gt;&#13;&#10;    &lt;Text style={{ fontSize: 15, color: '#0850B4', fontFamily: 'Microsoft YaHei, sans-serif', letterSpacing: 1 }}&gt;01 · 执行摘要&lt;/Text&gt;&#13;&#10;    &lt;Text style={{ fontSize: 30, color: '#0A1950', fontWeight: 'bold', fontFamily: 'Microsoft YaHei, sans-serif', marginTop: 6, lineHeight: 1.25 }}&gt;&#13;&#10;      DIP 整体画像：价值高、窗口在、须付出治理与适配成本&#13;&#10;    &lt;/Text&gt;&#13;&#10;    &lt;Box style={{ width: 64, height: 4, background: '#0A1950', borderRadius: 2, marginTop: 10, marginBottom: 18 }} /&gt;&#13;&#10;&#13;&#10;    &lt;Box style={{ display: 'flex', flexDirection: 'row', gap: 12, height: 120 }}&gt;&#13;&#10;      &lt;Box style={{ width: 185, height: 120, background: '#F7F9FC', borderTop: '4px solid #0A1950', borderRadius: 4, padding: '12px 8px', boxSizing: 'border-box', display: 'flex', flexDirection: 'column', alignItems: 'center', justifyContent: 'center' }}&gt;&#13;&#10;        &lt;Text style={{ fontSize: 15, color: '#414141', fontFamily: 'Microsoft YaHei, sans-serif' }}&gt;技术成熟度&lt;/Text&gt;&#13;&#10;        &lt;Text style={{ fontSize: 40, color: '#0A1950', fontWeight: 'bold', fontFamily: 'Arial, sans-serif', lineHeight: 1.15 }}&gt;4&lt;/Text&gt;&#13;&#10;        &lt;Text style={{ fontSize: 12, color: '#595959', fontFamily: 'Microsoft YaHei, sans-serif' }}&gt;TRL 7 · 2-5年主流&lt;/Text&gt;&#13;&#10;      &lt;/Box&gt;&#13;&#10;      &lt;Box style={{ width: 185, height: 120, background: '#F7F9FC', borderTop: '4px solid #0A1950', borderRadius: 4, padding: '12px 8px', boxSizing: 'border-box', display: 'flex', flexDirection: 'column', alignItems: 'center', justifyContent: 'center' }}&gt;&#13;&#10;        &lt;Text style={{ fontSize: 15, color: '#414141', fontFamily: 'Microsoft YaHei, sans-serif' }}&gt;战略匹配度&lt;/Text&gt;&#13;&#10;        &lt;Text style={{ fontSize: 40, color: '#0A1950', fontWeight: 'bold', fontFamily: 'Arial, sans-serif', lineHeight: 1.15 }}&gt;4&lt;/Text&gt;&#13;&#10;        &lt;Text style={{ fontSize: 12, color: '#595959', fontFamily: 'Microsoft YaHei, sans-serif' }}&gt;方向高度同向&lt;/Text&gt;&#13;&#10;      &lt;/Box&gt;&#13;&#10;      &lt;Box style={{ width: 185, height: 120, background: '#FDF3F3', borderTop: '4px solid #E60000', borderRadius: 4, padding: '12px 8px', boxSizing: 'border-box', display: 'flex', flexDirection: 'column', alignItems: 'center', justifyContent: 'center' }}&gt;&#13;&#10;        &lt;Text style={{ fontSize: 15, color: '#414141', fontFamily: 'Microsoft YaHei, sans-serif' }}&gt;价值贡献度&lt;/Text&gt;&#13;&#10;        &lt;Text style={{ fontSize: 40, color: '#E60000', fontWeight: 'bold', fontFamily: 'Arial, sans-serif', lineHeight: 1.15 }}&gt;5&lt;/Text&gt;&#13;&#10;        &lt;Text style={{ fontSize: 12, color: '#595959', fontFamily: 'Microsoft YaHei, sans-serif' }}&gt;多场景量化实证&lt;/Text&gt;&#13;&#10;      &lt;/Box&gt;&#13;&#10;      &lt;Box style={{ width: 185, height: 120, background: '#F7F9FC', borderTop: '4px solid #78AAF5', borderRadius: 4, padding: '12px 8px', boxSizing: 'border-box', display: 'flex', flexDirection: 'column', alignItems: 'center', justifyContent: 'center' }}&gt;&#13;&#10;        &lt;Text style={{ fontSize: 15, color: '#414141', fontFamily: 'Microsoft YaHei, sans-serif' }}&gt;引入可行度&lt;/Text&gt;&#13;&#10;        &lt;Text style={{ fontSize: 40, color: '#05377D', fontWeight: 'bold', fontFamily: 'Arial, sans-serif', lineHeight: 1.15 }}&gt;3&lt;/Text&gt;&#13;&#10;        &lt;Text style={{ fontSize: 12, color: '#595959', fontFamily: 'Microsoft YaHei, sans-serif' }}&gt;落地有门槛&lt;/Text&gt;&#13;&#10;      &lt;/Box&gt;&#13;&#10;      &lt;Box style={{ width: 185, height: 120, background: '#F7F9FC', borderTop: '4px solid #78AAF5', borderRadius: 4, padding: '12px 8px', boxSizing: 'border-box', display: 'flex', flexDirection: 'column', alignItems: 'center', justifyContent: 'center' }}&gt;&#13;&#10;        &lt;Text style={{ fontSize: 15, color: '#414141', fontFamily: 'Microsoft YaHei, sans-serif' }}&gt;战略紧迫度&lt;/Text&gt;&#13;&#10;        &lt;Text style={{ fontSize: 40, color: '#05377D', fontWeight: 'bold', fontFamily: 'Arial, sans-serif', lineHeight: 1.15 }}&gt;3&lt;/Text&gt;&#13;&#10;        &lt;Text style={{ fontSize: 12, color: '#595959', fontFamily: 'Microsoft YaHei, sans-serif' }}&gt;窗口期明确&lt;/Text&gt;&#13;&#10;      &lt;/Box&gt;&#13;&#10;      &lt;Box style={{ width: 185, height: 120, background: '#F7F9FC', borderTop: '4px solid #78AAF5', borderRadius: 4, padding: '12px 8px', boxSizing: 'border-box', display: 'flex', flexDirection: 'column', alignItems: 'center', justifyContent: 'center' }}&gt;&#13;&#10;        &lt;Text style={{ fontSize: 15, color: '#414141', fontFamily: 'Microsoft YaHei, sans-serif' }}&gt;生态开放度&lt;/Text&gt;&#13;&#10;        &lt;Text style={{ fontSize: 40, color: '#05377D', fontWeight: 'bold', fontFamily: 'Arial, sans-serif', lineHeight: 1.15 }}&gt;3&lt;/Text&gt;&#13;&#10;        &lt;Text style={{ fontSize: 12, color: '#595959', fontFamily: 'Microsoft YaHei, sans-serif' }}&gt;开放与专有并存&lt;/Text&gt;&#13;&#10;      &lt;/Box&gt;&#13;&#10;    &lt;/Box&gt;&#13;&#10;&#13;&#10;    &lt;Box style={{ display: 'flex', flexDirection: 'row', gap: 16, height: 216, marginTop: 16 }}&gt;&#13;&#10;      &lt;Box style={{ flex: 1, background: '#F7F9FC', borderRadius: 6, borderTop: '3px solid #E60000', padding: '14px 16px', boxSizing: 'border-box', display: 'flex', flexDirection: 'column', gap: 8 }}&gt;&#13;&#10;        &lt;Text style={{ fontSize: 18, color: '#E60000', fontWeight: 'bold', fontFamily: 'Microsoft YaHei, sans-serif' }}&gt;价值贡献度最高 · 5分&lt;/Text&gt;&#13;&#10;        &lt;Text style={{ fontSize: 15, color: '#414141', fontFamily: 'Microsoft YaHei, sans-serif', lineHeight: 1.6 }}&gt;&#13;&#10;          多场景量化验证。FICO×HSBC UK 案例显示：月均消费提升 15%、活跃率提升 2 个百分点、钱包份额提升 6 个百分点，且未增加坏账风险——最直观的 ROI 论证样本。&#13;&#10;        &lt;/Text&gt;&#13;&#10;      &lt;/Box&gt;&#13;&#10;      &lt;Box style={{ flex: 1, background: '#F7F9FC', borderRadius: 6, borderTop: '3px solid #0A1950', padding: '14px 16px', boxSizing: 'border-box', display: 'flex', flexDirection: 'column', gap: 8 }}&gt;&#13;&#10;        &lt;Text style={{ fontSize: 18, color: '#0A1950', fontWeight: 'bold', fontFamily: 'Microsoft YaHei, sans-serif' }}&gt;技术成熟度 · 4分&lt;/Text&gt;&#13;&#10;        &lt;Text style={{ fontSize: 15, color: '#414141', fontFamily: 'Microsoft YaHei, sans-serif', lineHeight: 1.6 }}&gt;&#13;&#10;          Gartner 2025 将 DIP 定位为&quot;转型型技术&quot;，预计 2-5 年内进入主流应用（渗透率 5%-20%）；TRL 处于 7 级，多个行业已有生产级部署案例。&#13;&#10;        &lt;/Text&gt;&#13;&#10;      &lt;/Box&gt;&#13;&#10;      &lt;Box style={{ flex: 1, background: '#F7F9FC', borderRadius: 6, borderTop: '3px solid #0A1950', padding: '14px 16px', boxSizing: 'border-box', display: 'flex', flexDirection: 'column', gap: 8 }}&gt;&#13;&#10;        &lt;Text style={{ fontSize: 18, color: '#0A1950', fontWeight: 'bold', fontFamily: 'Microsoft YaHei, sans-serif' }}&gt;战略匹配度 · 4分&lt;/Text&gt;&#13;&#10;        &lt;Text style={{ fontSize: 15, color: '#414141', fontFamily: 'Microsoft YaHei, sans-serif', lineHeight: 1.6 }}&gt;&#13;&#10;          与我行数智化战略主线、数字风控/数字运营、大风控体系及 AI 工程化行动计划高度同向；但行内未点名 DIP 品类，决策能力暂呈点状分布。&#13;&#10;        &lt;/Text&gt;&#13;&#10;      &lt;/Box&gt;&#13;&#10;    &lt;/Box&gt;&#13;&#10;&#13;&#10;    &lt;Box style={{ marginTop: 16, height: 100, background: '#0A1950', borderRadius: 6, padding: '14px 22px', boxSizing: 'border-box', display: 'flex', flexDirection: 'row', alignItems: 'center', gap: 20 }}&gt;&#13;&#10;      &lt;Box style={{ width: 96, flexShrink: 0 }}&gt;&#13;&#10;        &lt;Text style={{ fontSize: 16, color: '#FBAF16', fontWeight: 'bold', fontFamily: 'Microsoft YaHei, sans-serif' }}&gt;推进建议&lt;/Text&gt;&#13;&#10;      &lt;/Box&gt;&#13;&#10;      &lt;Box style={{ width: 1, height: 60, background: 'rgba(255,255,255,0.25)' }} /&gt;&#13;&#10;      &lt;Text style={{ fontSize: 16, color: '#FFFFFF', fontFamily: 'Microsoft YaHei, sans-serif', lineHeight: 1.6 }}&gt;&#13;&#10;        总体判据符合&quot;系统论证层&quot;，未触发生态开放度预警线与红线。建议以我行 AI 工程化行动计划为抓手，在完成架构适配专项与合规预审后进入系统论证阶段；推进节奏按&quot;完善基建 → 系统论证 → 择机确立品类&quot;三步走。&#13;&#10;      &lt;/Text&gt;&#13;&#10;    &lt;/Box&gt;&#13;&#10;&#13;&#10;    &lt;Box style={{ display: 'flex', justifyContent: 'space-between', alignItems: 'center', marginTop: 'auto', paddingTop: 8, borderTop: '1px solid rgba(255,255,255,0.3)' }}&gt;&#13;&#10;      &lt;Text style={{ fontSize: 14, color: '#FFFFFF', fontFamily: 'Arial Unicode MS, Arial, sans-serif' }}&gt;依据《决策智能平台（DIP）技术前沿专题研究报告（2026年8月）》执行摘要整理&lt;/Text&gt;&#13;&#10;      &lt;Text style={{ fontSize: 14, color: '#FFFFFF', fontFamily: 'Arial, sans-serif' }}&gt;03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图片 1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533400" y="323850"/>
            <a:ext cx="11125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01 · </a:t>
            </a:r>
            <a:r>
              <a:rPr lang="zh-CN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执行摘要</a:t>
            </a:r>
            <a:endParaRPr lang="zh-CN" sz="1125" spc="75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533400" y="552450"/>
            <a:ext cx="111252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DIP 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整体画像：价值高、窗口在、须付出治理与适配成本</a:t>
            </a:r>
            <a:endParaRPr lang="zh-CN" sz="22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圆角矩形 119"/>
          <p:cNvSpPr/>
          <p:nvPr/>
        </p:nvSpPr>
        <p:spPr>
          <a:xfrm>
            <a:off x="533400" y="107632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121" name="圆角矩形 120"/>
          <p:cNvSpPr/>
          <p:nvPr/>
        </p:nvSpPr>
        <p:spPr>
          <a:xfrm>
            <a:off x="533400" y="1323975"/>
            <a:ext cx="1762125" cy="1104900"/>
          </a:xfrm>
          <a:prstGeom prst="roundRect">
            <a:avLst>
              <a:gd name="adj" fmla="val 3448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22" name="任意多边形 121"/>
          <p:cNvSpPr/>
          <p:nvPr/>
        </p:nvSpPr>
        <p:spPr>
          <a:xfrm>
            <a:off x="533400" y="1323975"/>
            <a:ext cx="1762125" cy="1104900"/>
          </a:xfrm>
          <a:custGeom>
            <a:avLst/>
            <a:gdLst/>
            <a:ahLst/>
            <a:cxnLst/>
            <a:pathLst>
              <a:path w="185" h="116">
                <a:moveTo>
                  <a:pt x="181" y="0"/>
                </a:moveTo>
                <a:cubicBezTo>
                  <a:pt x="183" y="0"/>
                  <a:pt x="185" y="2"/>
                  <a:pt x="185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181" y="0"/>
                </a:lnTo>
                <a:close/>
              </a:path>
            </a:pathLst>
          </a:custGeom>
          <a:solidFill>
            <a:srgbClr val="0A1950"/>
          </a:solidFill>
        </p:spPr>
        <p:txBody>
          <a:bodyPr/>
          <a:p/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1057275" y="145732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技术成熟度</a:t>
            </a:r>
            <a:endParaRPr lang="zh-CN" sz="112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1304925" y="1628775"/>
            <a:ext cx="219075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0A1950"/>
                </a:solidFill>
                <a:latin typeface="Arial" panose="020B0604020202020204"/>
                <a:ea typeface="Arial" panose="020B0604020202020204"/>
              </a:rPr>
              <a:t>4</a:t>
            </a:r>
            <a:endParaRPr lang="en-US" sz="3000" b="1">
              <a:solidFill>
                <a:srgbClr val="0A195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952500" y="2162175"/>
            <a:ext cx="9239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TRL 7 · 2-5</a:t>
            </a:r>
            <a:r>
              <a:rPr lang="zh-CN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年主流</a:t>
            </a:r>
            <a:endParaRPr lang="zh-CN" sz="9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圆角矩形 125"/>
          <p:cNvSpPr/>
          <p:nvPr/>
        </p:nvSpPr>
        <p:spPr>
          <a:xfrm>
            <a:off x="2409825" y="1323975"/>
            <a:ext cx="1762125" cy="1104900"/>
          </a:xfrm>
          <a:prstGeom prst="roundRect">
            <a:avLst>
              <a:gd name="adj" fmla="val 3448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27" name="任意多边形 126"/>
          <p:cNvSpPr/>
          <p:nvPr/>
        </p:nvSpPr>
        <p:spPr>
          <a:xfrm>
            <a:off x="2409825" y="1323975"/>
            <a:ext cx="1762125" cy="1104900"/>
          </a:xfrm>
          <a:custGeom>
            <a:avLst/>
            <a:gdLst/>
            <a:ahLst/>
            <a:cxnLst/>
            <a:pathLst>
              <a:path w="185" h="116">
                <a:moveTo>
                  <a:pt x="181" y="0"/>
                </a:moveTo>
                <a:cubicBezTo>
                  <a:pt x="183" y="0"/>
                  <a:pt x="185" y="2"/>
                  <a:pt x="185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181" y="0"/>
                </a:lnTo>
                <a:close/>
              </a:path>
            </a:pathLst>
          </a:custGeom>
          <a:solidFill>
            <a:srgbClr val="0A1950"/>
          </a:solidFill>
        </p:spPr>
        <p:txBody>
          <a:bodyPr/>
          <a:p/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2933700" y="145732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战略匹配度</a:t>
            </a:r>
            <a:endParaRPr lang="zh-CN" sz="112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3181350" y="1628775"/>
            <a:ext cx="219075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0A1950"/>
                </a:solidFill>
                <a:latin typeface="Arial" panose="020B0604020202020204"/>
                <a:ea typeface="Arial" panose="020B0604020202020204"/>
              </a:rPr>
              <a:t>4</a:t>
            </a:r>
            <a:endParaRPr lang="en-US" sz="3000" b="1">
              <a:solidFill>
                <a:srgbClr val="0A195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2952750" y="2162175"/>
            <a:ext cx="685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方向高度同向</a:t>
            </a:r>
            <a:endParaRPr lang="zh-CN" sz="9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4276725" y="1323975"/>
            <a:ext cx="1762125" cy="1104900"/>
          </a:xfrm>
          <a:prstGeom prst="roundRect">
            <a:avLst>
              <a:gd name="adj" fmla="val 3448"/>
            </a:avLst>
          </a:prstGeom>
          <a:solidFill>
            <a:srgbClr val="FDF3F3"/>
          </a:solidFill>
        </p:spPr>
        <p:txBody>
          <a:bodyPr/>
          <a:p/>
        </p:txBody>
      </p:sp>
      <p:sp>
        <p:nvSpPr>
          <p:cNvPr id="132" name="任意多边形 131"/>
          <p:cNvSpPr/>
          <p:nvPr/>
        </p:nvSpPr>
        <p:spPr>
          <a:xfrm>
            <a:off x="4276725" y="1323975"/>
            <a:ext cx="1762125" cy="1104900"/>
          </a:xfrm>
          <a:custGeom>
            <a:avLst/>
            <a:gdLst/>
            <a:ahLst/>
            <a:cxnLst/>
            <a:pathLst>
              <a:path w="185" h="116">
                <a:moveTo>
                  <a:pt x="181" y="0"/>
                </a:moveTo>
                <a:cubicBezTo>
                  <a:pt x="183" y="0"/>
                  <a:pt x="185" y="2"/>
                  <a:pt x="185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181" y="0"/>
                </a:lnTo>
                <a:close/>
              </a:path>
            </a:pathLst>
          </a:custGeom>
          <a:solidFill>
            <a:srgbClr val="E60000"/>
          </a:solidFill>
        </p:spPr>
        <p:txBody>
          <a:bodyPr/>
          <a:p/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4800600" y="145732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价值贡献度</a:t>
            </a:r>
            <a:endParaRPr lang="zh-CN" sz="112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5048250" y="1628775"/>
            <a:ext cx="219075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E60000"/>
                </a:solidFill>
                <a:latin typeface="Arial" panose="020B0604020202020204"/>
                <a:ea typeface="Arial" panose="020B0604020202020204"/>
              </a:rPr>
              <a:t>5</a:t>
            </a:r>
            <a:endParaRPr lang="en-US" sz="3000" b="1">
              <a:solidFill>
                <a:srgbClr val="E6000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4762500" y="2162175"/>
            <a:ext cx="8001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多场景量化实证</a:t>
            </a:r>
            <a:endParaRPr lang="zh-CN" sz="9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圆角矩形 135"/>
          <p:cNvSpPr/>
          <p:nvPr/>
        </p:nvSpPr>
        <p:spPr>
          <a:xfrm>
            <a:off x="6153150" y="1323975"/>
            <a:ext cx="1762125" cy="1104900"/>
          </a:xfrm>
          <a:prstGeom prst="roundRect">
            <a:avLst>
              <a:gd name="adj" fmla="val 3448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37" name="任意多边形 136"/>
          <p:cNvSpPr/>
          <p:nvPr/>
        </p:nvSpPr>
        <p:spPr>
          <a:xfrm>
            <a:off x="6153150" y="1323975"/>
            <a:ext cx="1762125" cy="1104900"/>
          </a:xfrm>
          <a:custGeom>
            <a:avLst/>
            <a:gdLst/>
            <a:ahLst/>
            <a:cxnLst/>
            <a:pathLst>
              <a:path w="185" h="116">
                <a:moveTo>
                  <a:pt x="181" y="0"/>
                </a:moveTo>
                <a:cubicBezTo>
                  <a:pt x="183" y="0"/>
                  <a:pt x="185" y="2"/>
                  <a:pt x="185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181" y="0"/>
                </a:lnTo>
                <a:close/>
              </a:path>
            </a:pathLst>
          </a:custGeom>
          <a:solidFill>
            <a:srgbClr val="78AAF5"/>
          </a:solidFill>
        </p:spPr>
        <p:txBody>
          <a:bodyPr/>
          <a:p/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6677025" y="145732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引入可行度</a:t>
            </a:r>
            <a:endParaRPr lang="zh-CN" sz="112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6924675" y="1628775"/>
            <a:ext cx="219075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05377D"/>
                </a:solidFill>
                <a:latin typeface="Arial" panose="020B0604020202020204"/>
                <a:ea typeface="Arial" panose="020B0604020202020204"/>
              </a:rPr>
              <a:t>3</a:t>
            </a:r>
            <a:endParaRPr lang="en-US" sz="3000" b="1">
              <a:solidFill>
                <a:srgbClr val="05377D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6753225" y="2162175"/>
            <a:ext cx="571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落地有门槛</a:t>
            </a:r>
            <a:endParaRPr lang="zh-CN" sz="9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圆角矩形 140"/>
          <p:cNvSpPr/>
          <p:nvPr/>
        </p:nvSpPr>
        <p:spPr>
          <a:xfrm>
            <a:off x="8029575" y="1323975"/>
            <a:ext cx="1762125" cy="1104900"/>
          </a:xfrm>
          <a:prstGeom prst="roundRect">
            <a:avLst>
              <a:gd name="adj" fmla="val 3448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42" name="任意多边形 141"/>
          <p:cNvSpPr/>
          <p:nvPr/>
        </p:nvSpPr>
        <p:spPr>
          <a:xfrm>
            <a:off x="8029575" y="1323975"/>
            <a:ext cx="1762125" cy="1104900"/>
          </a:xfrm>
          <a:custGeom>
            <a:avLst/>
            <a:gdLst/>
            <a:ahLst/>
            <a:cxnLst/>
            <a:pathLst>
              <a:path w="185" h="116">
                <a:moveTo>
                  <a:pt x="181" y="0"/>
                </a:moveTo>
                <a:cubicBezTo>
                  <a:pt x="183" y="0"/>
                  <a:pt x="185" y="2"/>
                  <a:pt x="185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181" y="0"/>
                </a:lnTo>
                <a:close/>
              </a:path>
            </a:pathLst>
          </a:custGeom>
          <a:solidFill>
            <a:srgbClr val="78AAF5"/>
          </a:solidFill>
        </p:spPr>
        <p:txBody>
          <a:bodyPr/>
          <a:p/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8553450" y="145732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战略紧迫度</a:t>
            </a:r>
            <a:endParaRPr lang="zh-CN" sz="112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8801100" y="1628775"/>
            <a:ext cx="219075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05377D"/>
                </a:solidFill>
                <a:latin typeface="Arial" panose="020B0604020202020204"/>
                <a:ea typeface="Arial" panose="020B0604020202020204"/>
              </a:rPr>
              <a:t>3</a:t>
            </a:r>
            <a:endParaRPr lang="en-US" sz="3000" b="1">
              <a:solidFill>
                <a:srgbClr val="05377D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8629650" y="2162175"/>
            <a:ext cx="571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窗口期明确</a:t>
            </a:r>
            <a:endParaRPr lang="zh-CN" sz="9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圆角矩形 145"/>
          <p:cNvSpPr/>
          <p:nvPr/>
        </p:nvSpPr>
        <p:spPr>
          <a:xfrm>
            <a:off x="9896475" y="1323975"/>
            <a:ext cx="1762125" cy="1104900"/>
          </a:xfrm>
          <a:prstGeom prst="roundRect">
            <a:avLst>
              <a:gd name="adj" fmla="val 3448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47" name="任意多边形 146"/>
          <p:cNvSpPr/>
          <p:nvPr/>
        </p:nvSpPr>
        <p:spPr>
          <a:xfrm>
            <a:off x="9896475" y="1323975"/>
            <a:ext cx="1762125" cy="1104900"/>
          </a:xfrm>
          <a:custGeom>
            <a:avLst/>
            <a:gdLst/>
            <a:ahLst/>
            <a:cxnLst/>
            <a:pathLst>
              <a:path w="185" h="116">
                <a:moveTo>
                  <a:pt x="181" y="0"/>
                </a:moveTo>
                <a:cubicBezTo>
                  <a:pt x="183" y="0"/>
                  <a:pt x="185" y="2"/>
                  <a:pt x="185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181" y="0"/>
                </a:lnTo>
                <a:close/>
              </a:path>
            </a:pathLst>
          </a:custGeom>
          <a:solidFill>
            <a:srgbClr val="78AAF5"/>
          </a:solidFill>
        </p:spPr>
        <p:txBody>
          <a:bodyPr/>
          <a:p/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10420350" y="1457325"/>
            <a:ext cx="714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生态开放度</a:t>
            </a:r>
            <a:endParaRPr lang="zh-CN" sz="112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10668000" y="1628775"/>
            <a:ext cx="219075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05377D"/>
                </a:solidFill>
                <a:latin typeface="Arial" panose="020B0604020202020204"/>
                <a:ea typeface="Arial" panose="020B0604020202020204"/>
              </a:rPr>
              <a:t>3</a:t>
            </a:r>
            <a:endParaRPr lang="en-US" sz="3000" b="1">
              <a:solidFill>
                <a:srgbClr val="05377D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10382250" y="2162175"/>
            <a:ext cx="8001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开放与专有并存</a:t>
            </a:r>
            <a:endParaRPr lang="zh-CN" sz="9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圆角矩形 150"/>
          <p:cNvSpPr/>
          <p:nvPr/>
        </p:nvSpPr>
        <p:spPr>
          <a:xfrm>
            <a:off x="533400" y="2609850"/>
            <a:ext cx="3609975" cy="2057400"/>
          </a:xfrm>
          <a:prstGeom prst="roundRect">
            <a:avLst>
              <a:gd name="adj" fmla="val 2778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52" name="任意多边形 151"/>
          <p:cNvSpPr/>
          <p:nvPr/>
        </p:nvSpPr>
        <p:spPr>
          <a:xfrm>
            <a:off x="533400" y="2609850"/>
            <a:ext cx="3609975" cy="2057400"/>
          </a:xfrm>
          <a:custGeom>
            <a:avLst/>
            <a:gdLst/>
            <a:ahLst/>
            <a:cxnLst/>
            <a:pathLst>
              <a:path w="379" h="216">
                <a:moveTo>
                  <a:pt x="373" y="0"/>
                </a:moveTo>
                <a:cubicBezTo>
                  <a:pt x="376" y="0"/>
                  <a:pt x="379" y="2"/>
                  <a:pt x="379" y="5"/>
                </a:cubicBezTo>
                <a:cubicBezTo>
                  <a:pt x="378" y="4"/>
                  <a:pt x="377" y="3"/>
                  <a:pt x="376" y="3"/>
                </a:cubicBezTo>
                <a:lnTo>
                  <a:pt x="3" y="3"/>
                </a:lnTo>
                <a:cubicBezTo>
                  <a:pt x="2" y="3"/>
                  <a:pt x="0" y="4"/>
                  <a:pt x="0" y="5"/>
                </a:cubicBezTo>
                <a:cubicBezTo>
                  <a:pt x="0" y="2"/>
                  <a:pt x="3" y="0"/>
                  <a:pt x="6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E60000"/>
          </a:solidFill>
        </p:spPr>
        <p:txBody>
          <a:bodyPr/>
          <a:p/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685800" y="2743200"/>
            <a:ext cx="3305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60000"/>
                </a:solidFill>
                <a:latin typeface="微软雅黑" panose="020B0503020204020204" charset="-122"/>
                <a:ea typeface="微软雅黑" panose="020B0503020204020204" charset="-122"/>
              </a:rPr>
              <a:t>价值贡献度最高</a:t>
            </a:r>
            <a:r>
              <a:rPr lang="en-US" sz="1350" b="1">
                <a:solidFill>
                  <a:srgbClr val="E60000"/>
                </a:solidFill>
                <a:latin typeface="微软雅黑" panose="020B0503020204020204" charset="-122"/>
                <a:ea typeface="微软雅黑" panose="020B0503020204020204" charset="-122"/>
              </a:rPr>
              <a:t> · 5</a:t>
            </a:r>
            <a:r>
              <a:rPr lang="zh-CN" sz="1350" b="1">
                <a:solidFill>
                  <a:srgbClr val="E6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zh-CN" sz="1350" b="1">
              <a:solidFill>
                <a:srgbClr val="E6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685800" y="3028950"/>
            <a:ext cx="3305175" cy="1104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多场景量化验证。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FICO×HSBC UK 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案例显示：月均消费提升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15%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、活跃率提升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个百分点、钱包份额提升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个百分点，且未增加坏账风险——最直观的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ROI 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论证样本。</a:t>
            </a:r>
            <a:endParaRPr lang="zh-CN" sz="112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圆角矩形 154"/>
          <p:cNvSpPr/>
          <p:nvPr/>
        </p:nvSpPr>
        <p:spPr>
          <a:xfrm>
            <a:off x="4295775" y="2609850"/>
            <a:ext cx="3600450" cy="2057400"/>
          </a:xfrm>
          <a:prstGeom prst="roundRect">
            <a:avLst>
              <a:gd name="adj" fmla="val 2778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56" name="任意多边形 155"/>
          <p:cNvSpPr/>
          <p:nvPr/>
        </p:nvSpPr>
        <p:spPr>
          <a:xfrm>
            <a:off x="4295775" y="2609850"/>
            <a:ext cx="3600450" cy="2057400"/>
          </a:xfrm>
          <a:custGeom>
            <a:avLst/>
            <a:gdLst/>
            <a:ahLst/>
            <a:cxnLst/>
            <a:pathLst>
              <a:path w="378" h="216">
                <a:moveTo>
                  <a:pt x="372" y="0"/>
                </a:moveTo>
                <a:cubicBezTo>
                  <a:pt x="375" y="0"/>
                  <a:pt x="378" y="2"/>
                  <a:pt x="378" y="5"/>
                </a:cubicBezTo>
                <a:cubicBezTo>
                  <a:pt x="377" y="4"/>
                  <a:pt x="376" y="3"/>
                  <a:pt x="375" y="3"/>
                </a:cubicBezTo>
                <a:lnTo>
                  <a:pt x="3" y="3"/>
                </a:lnTo>
                <a:cubicBezTo>
                  <a:pt x="2" y="3"/>
                  <a:pt x="0" y="4"/>
                  <a:pt x="0" y="5"/>
                </a:cubicBezTo>
                <a:cubicBezTo>
                  <a:pt x="0" y="2"/>
                  <a:pt x="3" y="0"/>
                  <a:pt x="6" y="0"/>
                </a:cubicBezTo>
                <a:lnTo>
                  <a:pt x="372" y="0"/>
                </a:lnTo>
                <a:close/>
              </a:path>
            </a:pathLst>
          </a:custGeom>
          <a:solidFill>
            <a:srgbClr val="0A1950"/>
          </a:solidFill>
        </p:spPr>
        <p:txBody>
          <a:bodyPr/>
          <a:p/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4448175" y="2743200"/>
            <a:ext cx="3295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技术成熟度</a:t>
            </a:r>
            <a:r>
              <a:rPr lang="en-US" sz="13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 · 4</a:t>
            </a:r>
            <a:r>
              <a:rPr lang="zh-CN" sz="13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zh-CN" sz="13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4448175" y="3028950"/>
            <a:ext cx="329565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Gartner 2025 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DIP 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定位为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转型型技术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，预计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2-5 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年内进入主流应用（渗透率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5%-20%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）；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TRL 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处于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级，多个行业已有生产级部署案例。</a:t>
            </a:r>
            <a:endParaRPr lang="zh-CN" sz="112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8048625" y="2609850"/>
            <a:ext cx="3609975" cy="2057400"/>
          </a:xfrm>
          <a:prstGeom prst="roundRect">
            <a:avLst>
              <a:gd name="adj" fmla="val 2778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60" name="任意多边形 159"/>
          <p:cNvSpPr/>
          <p:nvPr/>
        </p:nvSpPr>
        <p:spPr>
          <a:xfrm>
            <a:off x="8048625" y="2609850"/>
            <a:ext cx="3609975" cy="2057400"/>
          </a:xfrm>
          <a:custGeom>
            <a:avLst/>
            <a:gdLst/>
            <a:ahLst/>
            <a:cxnLst/>
            <a:pathLst>
              <a:path w="379" h="216">
                <a:moveTo>
                  <a:pt x="373" y="0"/>
                </a:moveTo>
                <a:cubicBezTo>
                  <a:pt x="376" y="0"/>
                  <a:pt x="379" y="2"/>
                  <a:pt x="379" y="5"/>
                </a:cubicBezTo>
                <a:cubicBezTo>
                  <a:pt x="378" y="4"/>
                  <a:pt x="377" y="3"/>
                  <a:pt x="376" y="3"/>
                </a:cubicBezTo>
                <a:lnTo>
                  <a:pt x="3" y="3"/>
                </a:lnTo>
                <a:cubicBezTo>
                  <a:pt x="2" y="3"/>
                  <a:pt x="0" y="4"/>
                  <a:pt x="0" y="5"/>
                </a:cubicBezTo>
                <a:cubicBezTo>
                  <a:pt x="0" y="2"/>
                  <a:pt x="3" y="0"/>
                  <a:pt x="6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0A1950"/>
          </a:solidFill>
        </p:spPr>
        <p:txBody>
          <a:bodyPr/>
          <a:p/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8201025" y="2743200"/>
            <a:ext cx="3305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战略匹配度</a:t>
            </a:r>
            <a:r>
              <a:rPr lang="en-US" sz="13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 · 4</a:t>
            </a:r>
            <a:r>
              <a:rPr lang="zh-CN" sz="13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zh-CN" sz="13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8201025" y="3028950"/>
            <a:ext cx="330517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与我行数智化战略主线、数字风控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数字运营、大风控体系及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工程化行动计划高度同向；但行内未点名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DIP 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品类，决策能力暂呈点状分布。</a:t>
            </a:r>
            <a:endParaRPr lang="zh-CN" sz="112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圆角矩形 162"/>
          <p:cNvSpPr/>
          <p:nvPr/>
        </p:nvSpPr>
        <p:spPr>
          <a:xfrm>
            <a:off x="533400" y="4791075"/>
            <a:ext cx="11125200" cy="952500"/>
          </a:xfrm>
          <a:prstGeom prst="roundRect">
            <a:avLst>
              <a:gd name="adj" fmla="val 6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42950" y="5172075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BAF16"/>
                </a:solidFill>
                <a:latin typeface="微软雅黑" panose="020B0503020204020204" charset="-122"/>
                <a:ea typeface="微软雅黑" panose="020B0503020204020204" charset="-122"/>
              </a:rPr>
              <a:t>推进建议</a:t>
            </a:r>
            <a:endParaRPr lang="zh-CN" sz="1200" b="1">
              <a:solidFill>
                <a:srgbClr val="FBA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1847850" y="4981575"/>
            <a:ext cx="9525" cy="5715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2047875" y="4972050"/>
            <a:ext cx="94011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总体判据符合</a:t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系统论证层</a:t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，未触发生态开放度预警线与红线。建议以我行</a:t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工程化行动计划为抓手，在完成架构适配专项与合规预审后进入系统论证阶段；推进节奏按</a:t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完善基建</a:t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系统论证</a:t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择机确立品类</a:t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三步走。</a:t>
            </a:r>
            <a:endParaRPr 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任意多边形 166"/>
          <p:cNvSpPr/>
          <p:nvPr/>
        </p:nvSpPr>
        <p:spPr>
          <a:xfrm>
            <a:off x="533400" y="6419850"/>
            <a:ext cx="11125200" cy="257175"/>
          </a:xfrm>
          <a:custGeom>
            <a:avLst/>
            <a:gdLst/>
            <a:ahLst/>
            <a:cxnLst/>
            <a:pathLst>
              <a:path w="1168" h="27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</p:spPr>
        <p:txBody>
          <a:bodyPr/>
          <a:p/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533400" y="6505575"/>
            <a:ext cx="48672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依据《决策智能平台（</a:t>
            </a:r>
            <a:r>
              <a:rPr lang="en-US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DIP</a:t>
            </a:r>
            <a:r>
              <a:rPr lang="zh-CN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）技术前沿专题研究报告（</a:t>
            </a:r>
            <a:r>
              <a:rPr lang="en-US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2026</a:t>
            </a:r>
            <a:r>
              <a:rPr lang="zh-CN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年</a:t>
            </a:r>
            <a:r>
              <a:rPr lang="en-US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8</a:t>
            </a:r>
            <a:r>
              <a:rPr lang="zh-CN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月）》执行摘要整理</a:t>
            </a:r>
            <a:endParaRPr lang="zh-CN" sz="1050">
              <a:solidFill>
                <a:srgbClr val="FFFFFF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11506200" y="6505575"/>
            <a:ext cx="152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03</a:t>
            </a:r>
            <a:endParaRPr lang="en-US" sz="105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" name="" descr="&lt;Slide&gt;&#13;&#10;  &lt;Image src=&quot;assets/bg_content.png&quot; style={{ position: 'absolute', left: 0, top: 0, width: 1280, height: 720, objectFit: 'fill', zIndex: -1 }} /&gt;&#13;&#10;  &lt;Box style={{ width: 1280, height: 720, padding: '34px 56px 20px 56px', boxSizing: 'border-box', display: 'flex', flexDirection: 'column' }}&gt;&#13;&#10;    &lt;Text style={{ fontSize: 15, color: '#0850B4', fontFamily: 'Microsoft YaHei, sans-serif', letterSpacing: 1 }}&gt;02 · 背景与现状&lt;/Text&gt;&#13;&#10;    &lt;Text style={{ fontSize: 30, color: '#0A1950', fontWeight: 'bold', fontFamily: 'Microsoft YaHei, sans-serif', marginTop: 6, lineHeight: 1.25 }}&gt;&#13;&#10;      问题变多、工具变强、规矩变严——三重力量把&quot;决策智能化&quot;推为必答题&#13;&#10;    &lt;/Text&gt;&#13;&#10;    &lt;Box style={{ width: 64, height: 4, background: '#0A1950', borderRadius: 2, marginTop: 10, marginBottom: 18 }} /&gt;&#13;&#10;&#13;&#10;    &lt;Box style={{ display: 'flex', flexDirection: 'row', gap: 28, height: 500 }}&gt;&#13;&#10;      &lt;Box style={{ width: 620, display: 'flex', flexDirection: 'column' }}&gt;&#13;&#10;        &lt;Text style={{ fontSize: 17, color: '#0850B4', fontWeight: 'bold', fontFamily: 'Microsoft YaHei, sans-serif', marginBottom: 12 }}&gt;三大驱动力&lt;/Text&gt;&#13;&#10;&#13;&#10;        &lt;Box style={{ display: 'flex', flexDirection: 'row', gap: 12, alignItems: 'flex-start', marginBottom: 14 }}&gt;&#13;&#10;          &lt;Box style={{ width: 28, height: 28, background: '#0A1950', borderRadius: 14, display: 'flex', alignItems: 'center', justifyContent: 'center', flexShrink: 0 }}&gt;&#13;&#10;            &lt;Text style={{ fontSize: 15, color: '#FFFFFF', fontWeight: 'bold', fontFamily: 'Arial, sans-serif' }}&gt;1&lt;/Text&gt;&#13;&#10;          &lt;/Box&gt;&#13;&#10;          &lt;Box style={{ display: 'flex', flexDirection: 'column', gap: 2 }}&gt;&#13;&#10;            &lt;Text style={{ fontSize: 18, color: '#0A1950', fontWeight: 'bold', fontFamily: 'Microsoft YaHei, sans-serif' }}&gt;决策复杂度急剧上升&lt;/Text&gt;&#13;&#10;            &lt;Text style={{ fontSize: 14, color: '#595959', fontFamily: 'Microsoft YaHei, sans-serif', lineHeight: 1.5 }}&gt;决策变量呈指数级增长，传统经验驱动方式难以应对高频、多维、动态的决策场景&lt;/Text&gt;&#13;&#10;          &lt;/Box&gt;&#13;&#10;        &lt;/Box&gt;&#13;&#10;&#13;&#10;        &lt;Box style={{ display: 'flex', flexDirection: 'row', gap: 12, alignItems: 'flex-start', marginBottom: 14 }}&gt;&#13;&#10;          &lt;Box style={{ width: 28, height: 28, background: '#0A1950', borderRadius: 14, display: 'flex', alignItems: 'center', justifyContent: 'center', flexShrink: 0 }}&gt;&#13;&#10;            &lt;Text style={{ fontSize: 15, color: '#FFFFFF', fontWeight: 'bold', fontFamily: 'Arial, sans-serif' }}&gt;2&lt;/Text&gt;&#13;&#10;          &lt;/Box&gt;&#13;&#10;          &lt;Box style={{ display: 'flex', flexDirection: 'column', gap: 2 }}&gt;&#13;&#10;            &lt;Text style={{ fontSize: 18, color: '#0A1950', fontWeight: 'bold', fontFamily: 'Microsoft YaHei, sans-serif' }}&gt;AI 大模型能力跃升&lt;/Text&gt;&#13;&#10;            &lt;Text style={{ fontSize: 14, color: '#595959', fontFamily: 'Microsoft YaHei, sans-serif', lineHeight: 1.5 }}&gt;生成式 AI 与大语言模型在语义理解、模式识别上取得突破，提供强大底层技术支撑&lt;/Text&gt;&#13;&#10;          &lt;/Box&gt;&#13;&#10;        &lt;/Box&gt;&#13;&#10;&#13;&#10;        &lt;Box style={{ display: 'flex', flexDirection: 'row', gap: 12, alignItems: 'flex-start', marginBottom: 22 }}&gt;&#13;&#10;          &lt;Box style={{ width: 28, height: 28, background: '#0A1950', borderRadius: 14, display: 'flex', alignItems: 'center', justifyContent: 'center', flexShrink: 0 }}&gt;&#13;&#10;            &lt;Text style={{ fontSize: 15, color: '#FFFFFF', fontWeight: 'bold', fontFamily: 'Arial, sans-serif' }}&gt;3&lt;/Text&gt;&#13;&#10;          &lt;/Box&gt;&#13;&#10;          &lt;Box style={{ display: 'flex', flexDirection: 'column', gap: 2 }}&gt;&#13;&#10;            &lt;Text style={{ fontSize: 18, color: '#0A1950', fontWeight: 'bold', fontFamily: 'Microsoft YaHei, sans-serif' }}&gt;监管要求趋严&lt;/Text&gt;&#13;&#10;            &lt;Text style={{ fontSize: 14, color: '#595959', fontFamily: 'Microsoft YaHei, sans-serif', lineHeight: 1.5 }}&gt;金融、医疗等行业对决策可解释性、公平性要求提升，倒逼建立可审计、可追溯机制&lt;/Text&gt;&#13;&#10;          &lt;/Box&gt;&#13;&#10;        &lt;/Box&gt;&#13;&#10;&#13;&#10;        &lt;Text style={{ fontSize: 17, color: '#0850B4', fontWeight: 'bold', fontFamily: 'Microsoft YaHei, sans-serif', marginBottom: 4 }}&gt;四类失效机制&lt;/Text&gt;&#13;&#10;        &lt;Text style={{ fontSize: 14, color: '#595959', fontFamily: 'Microsoft YaHei, sans-serif', marginBottom: 12 }}&gt;传统决策支持体系已现系统性失效，共同特征是链路&quot;断点&quot;&lt;/Text&gt;&#13;&#10;&#13;&#10;        &lt;Box style={{ display: 'flex', flexDirection: 'row', gap: 10, marginBottom: 10 }}&gt;&#13;&#10;          &lt;Box style={{ flex: 1, background: '#F7F9FC', borderLeft: '3px solid #E60000', borderRadius: 4, padding: '10px 12px', boxSizing: 'border-box' }}&gt;&#13;&#10;            &lt;Text style={{ fontSize: 15, color: '#0A1950', fontWeight: 'bold', fontFamily: 'Microsoft YaHei, sans-serif' }}&gt;数据孤岛&lt;/Text&gt;&#13;&#10;            &lt;Text style={{ fontSize: 12, color: '#595959', fontFamily: 'Microsoft YaHei, sans-serif', marginTop: 2 }}&gt;多源数据难实时融合&lt;/Text&gt;&#13;&#10;          &lt;/Box&gt;&#13;&#10;          &lt;Box style={{ flex: 1, background: '#F7F9FC', borderLeft: '3px solid #E60000', borderRadius: 4, padding: '10px 12px', boxSizing: 'border-box' }}&gt;&#13;&#10;            &lt;Text style={{ fontSize: 15, color: '#0A1950', fontWeight: 'bold', fontFamily: 'Microsoft YaHei, sans-serif' }}&gt;模型黑盒&lt;/Text&gt;&#13;&#10;            &lt;Text style={{ fontSize: 12, color: '#595959', fontFamily: 'Microsoft YaHei, sans-serif', marginTop: 2 }}&gt;缺乏可解释性、难审计&lt;/Text&gt;&#13;&#10;          &lt;/Box&gt;&#13;&#10;        &lt;/Box&gt;&#13;&#10;&#13;&#10;        &lt;Box style={{ display: 'flex', flexDirection: 'row', gap: 10 }}&gt;&#13;&#10;          &lt;Box style={{ flex: 1, background: '#F7F9FC', borderLeft: '3px solid #E60000', borderRadius: 4, padding: '10px 12px', boxSizing: 'border-box' }}&gt;&#13;&#10;            &lt;Text style={{ fontSize: 15, color: '#0A1950', fontWeight: 'bold', fontFamily: 'Microsoft YaHei, sans-serif' }}&gt;反馈滞后&lt;/Text&gt;&#13;&#10;            &lt;Text style={{ fontSize: 12, color: '#595959', fontFamily: 'Microsoft YaHei, sans-serif', marginTop: 2 }}&gt;效果评估周期长，难闭环&lt;/Text&gt;&#13;&#10;          &lt;/Box&gt;&#13;&#10;          &lt;Box style={{ flex: 1, background: '#F7F9FC', borderLeft: '3px solid #E60000', borderRadius: 4, padding: '10px 12px', boxSizing: 'border-box' }}&gt;&#13;&#10;            &lt;Text style={{ fontSize: 15, color: '#0A1950', fontWeight: 'bold', fontFamily: 'Microsoft YaHei, sans-serif' }}&gt;人工瓶颈&lt;/Text&gt;&#13;&#10;            &lt;Text style={{ fontSize: 12, color: '#595959', fontFamily: 'Microsoft YaHei, sans-serif', marginTop: 2 }}&gt;依赖专家经验，难规模化&lt;/Text&gt;&#13;&#10;          &lt;/Box&gt;&#13;&#10;        &lt;/Box&gt;&#13;&#10;      &lt;/Box&gt;&#13;&#10;&#13;&#10;      &lt;Box style={{ width: 520, display: 'flex', flexDirection: 'column' }}&gt;&#13;&#10;        &lt;Box style={{ border: '1px solid #E7E6E6', borderRadius: 6, padding: 8, boxSizing: 'border-box' }}&gt;&#13;&#10;          &lt;Image src=&quot;assets/image1.png&quot; style={{ width: 502, height: 278, objectFit: 'contain' }} /&gt;&#13;&#10;        &lt;/Box&gt;&#13;&#10;        &lt;Text style={{ fontSize: 15, color: '#414141', fontFamily: 'Microsoft YaHei, sans-serif', lineHeight: 1.6, marginTop: 12 }}&gt;&#13;&#10;          据 SNS Insider，2025 年全球决策智能（DI）市场规模约 &lt;span style={{ color: '#E60000', fontWeight: 'bold' }}&gt;170 亿美元&lt;/span&gt;，预计 2035 年达 &lt;span style={{ color: '#E60000', fontWeight: 'bold' }}&gt;889.8 亿美元&lt;/span&gt;，复合年增长率 &lt;span style={{ color: '#E60000', fontWeight: 'bold' }}&gt;18.0%&lt;/span&gt;。&#13;&#10;        &lt;/Text&gt;&#13;&#10;        &lt;Text style={{ fontSize: 13, color: '#595959', fontFamily: 'Microsoft YaHei, sans-serif', lineHeight: 1.5, marginTop: 8 }}&gt;&#13;&#10;          Fortune Business Insights 口径：2024 年 167.9 亿美元 → 2032 年 577.5 亿美元，CAGR 16.9%。两家机构对&quot;未来十年近两成高增速&quot;判断一致。&#13;&#10;        &lt;/Text&gt;&#13;&#10;      &lt;/Box&gt;&#13;&#10;    &lt;/Box&gt;&#13;&#10;&#13;&#10;    &lt;Box style={{ display: 'flex', justifyContent: 'space-between', alignItems: 'center', marginTop: 'auto', paddingTop: 8, borderTop: '1px solid rgba(255,255,255,0.3)' }}&gt;&#13;&#10;      &lt;Text style={{ fontSize: 14, color: '#FFFFFF', fontFamily: 'Arial Unicode MS, Arial, sans-serif' }}&gt;Source: SNS Insider, Decision Intelligence Market 2025-2035; Fortune Business Insights&lt;/Text&gt;&#13;&#10;      &lt;Text style={{ fontSize: 14, color: '#FFFFFF', fontFamily: 'Arial, sans-serif' }}&gt;04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图片 1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533400" y="323850"/>
            <a:ext cx="11125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02 · </a:t>
            </a:r>
            <a:r>
              <a:rPr lang="zh-CN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背景与现状</a:t>
            </a:r>
            <a:endParaRPr lang="zh-CN" sz="1125" spc="75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533400" y="552450"/>
            <a:ext cx="111252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问题变多、工具变强、规矩变严——三重力量把</a:t>
            </a: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决策智能化</a:t>
            </a: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推为必答题</a:t>
            </a:r>
            <a:endParaRPr lang="zh-CN" sz="22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圆角矩形 173"/>
          <p:cNvSpPr/>
          <p:nvPr/>
        </p:nvSpPr>
        <p:spPr>
          <a:xfrm>
            <a:off x="533400" y="107632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533400" y="1285875"/>
            <a:ext cx="5905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三大驱动力</a:t>
            </a:r>
            <a:endParaRPr lang="zh-CN" sz="1275" b="1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圆角矩形 175"/>
          <p:cNvSpPr/>
          <p:nvPr/>
        </p:nvSpPr>
        <p:spPr>
          <a:xfrm>
            <a:off x="533400" y="16002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628650" y="1647825"/>
            <a:ext cx="85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1</a:t>
            </a:r>
            <a:endParaRPr lang="en-US" sz="1125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914400" y="1600200"/>
            <a:ext cx="4800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决策复杂度急剧上升</a:t>
            </a:r>
            <a:endParaRPr lang="zh-CN" sz="13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914400" y="1828800"/>
            <a:ext cx="48006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决策变量呈指数级增长，传统经验驱动方式难以应对高频、多维、动态的决策场景</a:t>
            </a:r>
            <a:endParaRPr lang="zh-CN" sz="10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533400" y="22098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628650" y="2257425"/>
            <a:ext cx="85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2</a:t>
            </a:r>
            <a:endParaRPr lang="en-US" sz="1125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914400" y="2209800"/>
            <a:ext cx="48863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3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大模型能力跃升</a:t>
            </a:r>
            <a:endParaRPr lang="zh-CN" sz="13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914400" y="2438400"/>
            <a:ext cx="48863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生成式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与大语言模型在语义理解、模式识别上取得突破，提供强大底层技术支撑</a:t>
            </a:r>
            <a:endParaRPr lang="zh-CN" sz="10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533400" y="28194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628650" y="2867025"/>
            <a:ext cx="85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3</a:t>
            </a:r>
            <a:endParaRPr lang="en-US" sz="1125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914400" y="2819400"/>
            <a:ext cx="4933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监管要求趋严</a:t>
            </a:r>
            <a:endParaRPr lang="zh-CN" sz="13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914400" y="3048000"/>
            <a:ext cx="49339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金融、医疗等行业对决策可解释性、公平性要求提升，倒逼建立可审计、可追溯机制</a:t>
            </a:r>
            <a:endParaRPr lang="zh-CN" sz="10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533400" y="3505200"/>
            <a:ext cx="5905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四类失效机制</a:t>
            </a:r>
            <a:endParaRPr lang="zh-CN" sz="1275" b="1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533400" y="3743325"/>
            <a:ext cx="5905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传统决策支持体系已现系统性失效，共同特征是链路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断点</a:t>
            </a:r>
            <a:r>
              <a:rPr lang="en-US" sz="105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05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圆角矩形 189"/>
          <p:cNvSpPr/>
          <p:nvPr/>
        </p:nvSpPr>
        <p:spPr>
          <a:xfrm>
            <a:off x="561975" y="4019550"/>
            <a:ext cx="2905125" cy="523875"/>
          </a:xfrm>
          <a:prstGeom prst="roundRect">
            <a:avLst>
              <a:gd name="adj" fmla="val 7273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91" name="任意多边形 190"/>
          <p:cNvSpPr/>
          <p:nvPr/>
        </p:nvSpPr>
        <p:spPr>
          <a:xfrm>
            <a:off x="561975" y="4019550"/>
            <a:ext cx="2905125" cy="523875"/>
          </a:xfrm>
          <a:custGeom>
            <a:avLst/>
            <a:gdLst/>
            <a:ahLst/>
            <a:cxnLst/>
            <a:pathLst>
              <a:path w="305" h="5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54"/>
                </a:lnTo>
                <a:cubicBezTo>
                  <a:pt x="3" y="54"/>
                  <a:pt x="3" y="55"/>
                  <a:pt x="4" y="55"/>
                </a:cubicBezTo>
                <a:cubicBezTo>
                  <a:pt x="2" y="55"/>
                  <a:pt x="0" y="53"/>
                  <a:pt x="0" y="5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E60000"/>
          </a:solidFill>
        </p:spPr>
        <p:txBody>
          <a:bodyPr/>
          <a:p/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676275" y="4114800"/>
            <a:ext cx="2647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数据孤岛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676275" y="4305300"/>
            <a:ext cx="2647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多源数据难实时融合</a:t>
            </a:r>
            <a:endParaRPr lang="zh-CN" sz="9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圆角矩形 193"/>
          <p:cNvSpPr/>
          <p:nvPr/>
        </p:nvSpPr>
        <p:spPr>
          <a:xfrm>
            <a:off x="3562350" y="4019550"/>
            <a:ext cx="2905125" cy="523875"/>
          </a:xfrm>
          <a:prstGeom prst="roundRect">
            <a:avLst>
              <a:gd name="adj" fmla="val 7273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95" name="任意多边形 194"/>
          <p:cNvSpPr/>
          <p:nvPr/>
        </p:nvSpPr>
        <p:spPr>
          <a:xfrm>
            <a:off x="3562350" y="4019550"/>
            <a:ext cx="2905125" cy="523875"/>
          </a:xfrm>
          <a:custGeom>
            <a:avLst/>
            <a:gdLst/>
            <a:ahLst/>
            <a:cxnLst/>
            <a:pathLst>
              <a:path w="305" h="5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54"/>
                </a:lnTo>
                <a:cubicBezTo>
                  <a:pt x="3" y="54"/>
                  <a:pt x="3" y="55"/>
                  <a:pt x="4" y="55"/>
                </a:cubicBezTo>
                <a:cubicBezTo>
                  <a:pt x="2" y="55"/>
                  <a:pt x="0" y="53"/>
                  <a:pt x="0" y="5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E60000"/>
          </a:solidFill>
        </p:spPr>
        <p:txBody>
          <a:bodyPr/>
          <a:p/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3676650" y="4114800"/>
            <a:ext cx="2647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模型黑盒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3676650" y="4305300"/>
            <a:ext cx="2647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缺乏可解释性、难审计</a:t>
            </a:r>
            <a:endParaRPr lang="zh-CN" sz="9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圆角矩形 197"/>
          <p:cNvSpPr/>
          <p:nvPr/>
        </p:nvSpPr>
        <p:spPr>
          <a:xfrm>
            <a:off x="561975" y="4638675"/>
            <a:ext cx="2905125" cy="523875"/>
          </a:xfrm>
          <a:prstGeom prst="roundRect">
            <a:avLst>
              <a:gd name="adj" fmla="val 7273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99" name="任意多边形 198"/>
          <p:cNvSpPr/>
          <p:nvPr/>
        </p:nvSpPr>
        <p:spPr>
          <a:xfrm>
            <a:off x="561975" y="4638675"/>
            <a:ext cx="2905125" cy="523875"/>
          </a:xfrm>
          <a:custGeom>
            <a:avLst/>
            <a:gdLst/>
            <a:ahLst/>
            <a:cxnLst/>
            <a:pathLst>
              <a:path w="305" h="5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54"/>
                </a:lnTo>
                <a:cubicBezTo>
                  <a:pt x="3" y="54"/>
                  <a:pt x="3" y="55"/>
                  <a:pt x="4" y="55"/>
                </a:cubicBezTo>
                <a:cubicBezTo>
                  <a:pt x="2" y="55"/>
                  <a:pt x="0" y="53"/>
                  <a:pt x="0" y="5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E60000"/>
          </a:solidFill>
        </p:spPr>
        <p:txBody>
          <a:bodyPr/>
          <a:p/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676275" y="4733925"/>
            <a:ext cx="2647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反馈滞后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676275" y="4924425"/>
            <a:ext cx="2647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效果评估周期长，难闭环</a:t>
            </a:r>
            <a:endParaRPr lang="zh-CN" sz="9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圆角矩形 201"/>
          <p:cNvSpPr/>
          <p:nvPr/>
        </p:nvSpPr>
        <p:spPr>
          <a:xfrm>
            <a:off x="3562350" y="4638675"/>
            <a:ext cx="2905125" cy="523875"/>
          </a:xfrm>
          <a:prstGeom prst="roundRect">
            <a:avLst>
              <a:gd name="adj" fmla="val 7273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203" name="任意多边形 202"/>
          <p:cNvSpPr/>
          <p:nvPr/>
        </p:nvSpPr>
        <p:spPr>
          <a:xfrm>
            <a:off x="3562350" y="4638675"/>
            <a:ext cx="2905125" cy="523875"/>
          </a:xfrm>
          <a:custGeom>
            <a:avLst/>
            <a:gdLst/>
            <a:ahLst/>
            <a:cxnLst/>
            <a:pathLst>
              <a:path w="305" h="5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54"/>
                </a:lnTo>
                <a:cubicBezTo>
                  <a:pt x="3" y="54"/>
                  <a:pt x="3" y="55"/>
                  <a:pt x="4" y="55"/>
                </a:cubicBezTo>
                <a:cubicBezTo>
                  <a:pt x="2" y="55"/>
                  <a:pt x="0" y="53"/>
                  <a:pt x="0" y="5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E60000"/>
          </a:solidFill>
        </p:spPr>
        <p:txBody>
          <a:bodyPr/>
          <a:p/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3676650" y="4733925"/>
            <a:ext cx="2647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人工瓶颈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3676650" y="4924425"/>
            <a:ext cx="2647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依赖专家经验，难规模化</a:t>
            </a:r>
            <a:endParaRPr lang="zh-CN" sz="9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圆角矩形 205"/>
          <p:cNvSpPr/>
          <p:nvPr/>
        </p:nvSpPr>
        <p:spPr>
          <a:xfrm>
            <a:off x="6705600" y="1285875"/>
            <a:ext cx="4953000" cy="2800350"/>
          </a:xfrm>
          <a:prstGeom prst="roundRect">
            <a:avLst>
              <a:gd name="adj" fmla="val 2041"/>
            </a:avLst>
          </a:prstGeom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pic>
        <p:nvPicPr>
          <p:cNvPr id="207" name="图片 206"/>
          <p:cNvPicPr>
            <a:picLocks noChangeAspect="1"/>
          </p:cNvPicPr>
          <p:nvPr/>
        </p:nvPicPr>
        <p:blipFill>
          <a:blip r:embed="rId2"/>
          <a:srcRect t="120" b="120"/>
          <a:stretch>
            <a:fillRect/>
          </a:stretch>
        </p:blipFill>
        <p:spPr>
          <a:xfrm>
            <a:off x="6781800" y="1362075"/>
            <a:ext cx="4781550" cy="2647950"/>
          </a:xfrm>
          <a:prstGeom prst="rect">
            <a:avLst/>
          </a:prstGeom>
        </p:spPr>
      </p:pic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6705600" y="4200525"/>
            <a:ext cx="49530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据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SNS Insider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2025 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年全球决策智能（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DI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）市场规模约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25" b="1">
                <a:solidFill>
                  <a:srgbClr val="E60000"/>
                </a:solidFill>
                <a:latin typeface="微软雅黑" panose="020B0503020204020204" charset="-122"/>
                <a:ea typeface="微软雅黑" panose="020B0503020204020204" charset="-122"/>
              </a:rPr>
              <a:t>170 </a:t>
            </a:r>
            <a:r>
              <a:rPr lang="zh-CN" sz="1125" b="1">
                <a:solidFill>
                  <a:srgbClr val="E60000"/>
                </a:solidFill>
                <a:latin typeface="微软雅黑" panose="020B0503020204020204" charset="-122"/>
                <a:ea typeface="微软雅黑" panose="020B0503020204020204" charset="-122"/>
              </a:rPr>
              <a:t>亿美元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，预计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2035 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年达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25" b="1">
                <a:solidFill>
                  <a:srgbClr val="E60000"/>
                </a:solidFill>
                <a:latin typeface="微软雅黑" panose="020B0503020204020204" charset="-122"/>
                <a:ea typeface="微软雅黑" panose="020B0503020204020204" charset="-122"/>
              </a:rPr>
              <a:t>889.8 </a:t>
            </a:r>
            <a:r>
              <a:rPr lang="zh-CN" sz="1125" b="1">
                <a:solidFill>
                  <a:srgbClr val="E60000"/>
                </a:solidFill>
                <a:latin typeface="微软雅黑" panose="020B0503020204020204" charset="-122"/>
                <a:ea typeface="微软雅黑" panose="020B0503020204020204" charset="-122"/>
              </a:rPr>
              <a:t>亿美元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，复合年增长率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25" b="1">
                <a:solidFill>
                  <a:srgbClr val="E60000"/>
                </a:solidFill>
                <a:latin typeface="微软雅黑" panose="020B0503020204020204" charset="-122"/>
                <a:ea typeface="微软雅黑" panose="020B0503020204020204" charset="-122"/>
              </a:rPr>
              <a:t>18.0%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6705600" y="4829175"/>
            <a:ext cx="49530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Fortune Business Insights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口径：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2024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167.9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亿美元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→ 2032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577.5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亿美元，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CAGR 16.9%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。两家机构对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未来十年近两成高增速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判断一致。</a:t>
            </a:r>
            <a:endParaRPr lang="zh-CN" sz="975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任意多边形 209"/>
          <p:cNvSpPr/>
          <p:nvPr/>
        </p:nvSpPr>
        <p:spPr>
          <a:xfrm>
            <a:off x="533400" y="6419850"/>
            <a:ext cx="11125200" cy="257175"/>
          </a:xfrm>
          <a:custGeom>
            <a:avLst/>
            <a:gdLst/>
            <a:ahLst/>
            <a:cxnLst/>
            <a:pathLst>
              <a:path w="1168" h="27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533400" y="6505575"/>
            <a:ext cx="52292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Source: SNS Insider, Decision Intelligence Market 2025-2035; Fortune Business Insights</a:t>
            </a:r>
            <a:endParaRPr lang="en-US" sz="1050">
              <a:solidFill>
                <a:srgbClr val="FFFFFF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1506200" y="6505575"/>
            <a:ext cx="152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04</a:t>
            </a:r>
            <a:endParaRPr lang="en-US" sz="105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" descr="&lt;Slide&gt;&#13;&#10;  &lt;Image src=&quot;assets/bg_content.png&quot; style={{ position: 'absolute', left: 0, top: 0, width: 1280, height: 720, objectFit: 'fill', zIndex: -1 }} /&gt;&#13;&#10;  &lt;Box style={{ width: 1280, height: 720, padding: '34px 56px 20px 56px', boxSizing: 'border-box', display: 'flex', flexDirection: 'column' }}&gt;&#13;&#10;    &lt;Text style={{ fontSize: 15, color: '#0850B4', fontFamily: 'Microsoft YaHei, sans-serif', letterSpacing: 1 }}&gt;03 · 技术解析&lt;/Text&gt;&#13;&#10;    &lt;Text style={{ fontSize: 30, color: '#0A1950', fontWeight: 'bold', fontFamily: 'Microsoft YaHei, sans-serif', marginTop: 6, lineHeight: 1.25 }}&gt;&#13;&#10;      DIP ＝ 决策科学 × 数据科学 × AI 的端到端架构，四项核心要素缺一不可&#13;&#10;    &lt;/Text&gt;&#13;&#10;    &lt;Box style={{ width: 64, height: 4, background: '#0A1950', borderRadius: 2, marginTop: 10, marginBottom: 18 }} /&gt;&#13;&#10;&#13;&#10;    &lt;Box style={{ display: 'flex', flexDirection: 'row', gap: 28, height: 506 }}&gt;&#13;&#10;      &lt;Box style={{ width: 537, display: 'flex', flexDirection: 'column' }}&gt;&#13;&#10;        &lt;Box style={{ background: '#F7F9FC', borderLeft: '4px solid #0A1950', borderRadius: 4, padding: '12px 16px', boxSizing: 'border-box', marginBottom: 18 }}&gt;&#13;&#10;          &lt;Text style={{ fontSize: 15, color: '#414141', fontFamily: 'Microsoft YaHei, sans-serif', lineHeight: 1.6 }}&gt;&#13;&#10;            DIP 是一种将决策科学、数据科学与人工智能深度融合的技术架构体系，旨在构建从数据洞察到决策执行的端到端能力。它不是一个具体模型，而是&quot;把决策系统化&quot;的方法与平台。&#13;&#10;          &lt;/Text&gt;&#13;&#10;        &lt;/Box&gt;&#13;&#10;&#13;&#10;        &lt;Text style={{ fontSize: 17, color: '#0850B4', fontWeight: 'bold', fontFamily: 'Microsoft YaHei, sans-serif', marginBottom: 12 }}&gt;四项核心要素&lt;/Text&gt;&#13;&#10;&#13;&#10;        &lt;Box style={{ display: 'flex', flexDirection: 'row', gap: 12, marginBottom: 12 }}&gt;&#13;&#10;          &lt;Box style={{ flex: 1, border: '1px solid #E7E6E6', borderTop: '3px solid #0A1950', borderRadius: 5, padding: '12px 14px', boxSizing: 'border-box', height: 118 }}&gt;&#13;&#10;            &lt;Text style={{ fontSize: 17, color: '#0A1950', fontWeight: 'bold', fontFamily: 'Microsoft YaHei, sans-serif' }}&gt;因果推断&lt;/Text&gt;&#13;&#10;            &lt;Text style={{ fontSize: 13, color: '#0850B4', fontFamily: 'Microsoft YaHei, sans-serif', marginTop: 2 }}&gt;回答&quot;为什么&quot;&lt;/Text&gt;&#13;&#10;            &lt;Text style={{ fontSize: 12.5, color: '#595959', fontFamily: 'Microsoft YaHei, sans-serif', lineHeight: 1.5, marginTop: 6 }}&gt;识别因果关系而非仅相关关系，剥离混杂因素，提升可解释性与可靠性&lt;/Text&gt;&#13;&#10;          &lt;/Box&gt;&#13;&#10;          &lt;Box style={{ flex: 1, border: '1px solid #E7E6E6', borderTop: '3px solid #0A1950', borderRadius: 5, padding: '12px 14px', boxSizing: 'border-box', height: 118 }}&gt;&#13;&#10;            &lt;Text style={{ fontSize: 17, color: '#0A1950', fontWeight: 'bold', fontFamily: 'Microsoft YaHei, sans-serif' }}&gt;优化算法&lt;/Text&gt;&#13;&#10;            &lt;Text style={{ fontSize: 13, color: '#0850B4', fontFamily: 'Microsoft YaHei, sans-serif', marginTop: 2 }}&gt;回答&quot;怎么做最好&quot;&lt;/Text&gt;&#13;&#10;            &lt;Text style={{ fontSize: 12.5, color: '#595959', fontFamily: 'Microsoft YaHei, sans-serif', lineHeight: 1.5, marginTop: 6 }}&gt;在合规、成本、收益、时效等多约束下寻找最优或近似最优决策方案&lt;/Text&gt;&#13;&#10;          &lt;/Box&gt;&#13;&#10;        &lt;/Box&gt;&#13;&#10;&#13;&#10;        &lt;Box style={{ display: 'flex', flexDirection: 'row', gap: 12 }}&gt;&#13;&#10;          &lt;Box style={{ flex: 1, border: '1px solid #E7E6E6', borderTop: '3px solid #0A1950', borderRadius: 5, padding: '12px 14px', boxSizing: 'border-box', height: 118 }}&gt;&#13;&#10;            &lt;Text style={{ fontSize: 17, color: '#0A1950', fontWeight: 'bold', fontFamily: 'Microsoft YaHei, sans-serif' }}&gt;反馈闭环&lt;/Text&gt;&#13;&#10;            &lt;Text style={{ fontSize: 13, color: '#0850B4', fontFamily: 'Microsoft YaHei, sans-serif', marginTop: 2 }}&gt;&quot;越用越准&quot;&lt;/Text&gt;&#13;&#10;            &lt;Text style={{ fontSize: 12.5, color: '#595959', fontFamily: 'Microsoft YaHei, sans-serif', lineHeight: 1.5, marginTop: 6 }}&gt;执行结果实时回馈模型，&quot;执行→观测→学习→再执行&quot;持续逼近真最优&lt;/Text&gt;&#13;&#10;          &lt;/Box&gt;&#13;&#10;          &lt;Box style={{ flex: 1, border: '1px solid #E7E6E6', borderTop: '3px solid #0A1950', borderRadius: 5, padding: '12px 14px', boxSizing: 'border-box', height: 118 }}&gt;&#13;&#10;            &lt;Text style={{ fontSize: 17, color: '#0A1950', fontWeight: 'bold', fontFamily: 'Microsoft YaHei, sans-serif' }}&gt;可视化决策流&lt;/Text&gt;&#13;&#10;            &lt;Text style={{ fontSize: 13, color: '#0850B4', fontFamily: 'Microsoft YaHei, sans-serif', marginTop: 2 }}&gt;&quot;看得见、审得清&quot;&lt;/Text&gt;&#13;&#10;            &lt;Text style={{ fontSize: 12.5, color: '#595959', fontFamily: 'Microsoft YaHei, sans-serif', lineHeight: 1.5, marginTop: 6 }}&gt;决策逻辑图形化呈现，依据一目了然、审计路径全程可追溯&lt;/Text&gt;&#13;&#10;          &lt;/Box&gt;&#13;&#10;        &lt;/Box&gt;&#13;&#10;      &lt;/Box&gt;&#13;&#10;&#13;&#10;      &lt;Box style={{ width: 603, display: 'flex', flexDirection: 'column' }}&gt;&#13;&#10;        &lt;Box style={{ border: '1px solid #E7E6E6', borderRadius: 6, padding: 8, boxSizing: 'border-box' }}&gt;&#13;&#10;          &lt;Image src=&quot;assets/image2.png&quot; style={{ width: 585, height: 366, objectFit: 'contain' }} /&gt;&#13;&#10;        &lt;/Box&gt;&#13;&#10;        &lt;Text style={{ fontSize: 14, color: '#414141', fontFamily: 'Microsoft YaHei, sans-serif', lineHeight: 1.6, marginTop: 12 }}&gt;&#13;&#10;          &lt;span style={{ color: '#0A1950', fontWeight: 'bold' }}&gt;四层技术架构：&lt;/span&gt;数据层 → 模型层 → 决策引擎层 → 反馈层，层层作为下一层输入源，逻辑自洽。&#13;&#10;        &lt;/Text&gt;&#13;&#10;        &lt;Text style={{ fontSize: 13, color: '#595959', fontFamily: 'Microsoft YaHei, sans-serif', lineHeight: 1.5, marginTop: 8 }}&gt;&#13;&#10;          与四层技术架构互补的是&quot;五层能力架构&quot;——决策建模层 · 智能层 · 仿真层 · 执行层 · 治理层；DIP 强调&quot;复合性 AI&quot;：机器学习 + 规则引擎 + 运筹优化 + 大语言模型。&#13;&#10;        &lt;/Text&gt;&#13;&#10;      &lt;/Box&gt;&#13;&#10;    &lt;/Box&gt;&#13;&#10;&#13;&#10;    &lt;Box style={{ display: 'flex', justifyContent: 'space-between', alignItems: 'center', marginTop: 'auto', paddingTop: 8, borderTop: '1px solid rgba(255,255,255,0.3)' }}&gt;&#13;&#10;      &lt;Text style={{ fontSize: 14, color: '#FFFFFF', fontFamily: 'Arial Unicode MS, Arial, sans-serif' }}&gt;Source：本报告第三章；图3-1 依据本报告第三章第二节构建&lt;/Text&gt;&#13;&#10;      &lt;Text style={{ fontSize: 14, color: '#FFFFFF', fontFamily: 'Arial, sans-serif' }}&gt;05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图片 2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4130"/>
            <a:ext cx="12192000" cy="6858000"/>
          </a:xfrm>
          <a:prstGeom prst="rect">
            <a:avLst/>
          </a:prstGeom>
        </p:spPr>
      </p:pic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533400" y="323850"/>
            <a:ext cx="11125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技术解析</a:t>
            </a:r>
            <a:endParaRPr lang="zh-CN" sz="1125" spc="75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533400" y="552450"/>
            <a:ext cx="111252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DIP 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＝</a:t>
            </a: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决策科学</a:t>
            </a: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数据科学</a:t>
            </a: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 × AI 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的端到端架构，四项核心要素缺一不可</a:t>
            </a:r>
            <a:endParaRPr lang="zh-CN" sz="22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圆角矩形 216"/>
          <p:cNvSpPr/>
          <p:nvPr/>
        </p:nvSpPr>
        <p:spPr>
          <a:xfrm>
            <a:off x="533400" y="107632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218" name="圆角矩形 217"/>
          <p:cNvSpPr/>
          <p:nvPr/>
        </p:nvSpPr>
        <p:spPr>
          <a:xfrm>
            <a:off x="571500" y="1285875"/>
            <a:ext cx="5114925" cy="1057275"/>
          </a:xfrm>
          <a:prstGeom prst="roundRect">
            <a:avLst>
              <a:gd name="adj" fmla="val 3604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219" name="任意多边形 218"/>
          <p:cNvSpPr/>
          <p:nvPr/>
        </p:nvSpPr>
        <p:spPr>
          <a:xfrm>
            <a:off x="571500" y="1285875"/>
            <a:ext cx="5114925" cy="1057275"/>
          </a:xfrm>
          <a:custGeom>
            <a:avLst/>
            <a:gdLst/>
            <a:ahLst/>
            <a:cxnLst/>
            <a:pathLst>
              <a:path w="537" h="111">
                <a:moveTo>
                  <a:pt x="4" y="111"/>
                </a:moveTo>
                <a:cubicBezTo>
                  <a:pt x="2" y="111"/>
                  <a:pt x="0" y="109"/>
                  <a:pt x="0" y="10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1"/>
                </a:lnTo>
                <a:close/>
              </a:path>
            </a:pathLst>
          </a:custGeom>
          <a:solidFill>
            <a:srgbClr val="0A1950"/>
          </a:solidFill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723900" y="1400175"/>
            <a:ext cx="477202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DIP 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是一种将决策科学、数据科学与人工智能深度融合的技术架构体系，旨在构建从数据洞察到决策执行的端到端能力。它不是一个具体模型，而是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把决策系统化</a:t>
            </a:r>
            <a:r>
              <a:rPr lang="en-US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的方法与平台。</a:t>
            </a:r>
            <a:endParaRPr lang="zh-CN" sz="112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533400" y="2514600"/>
            <a:ext cx="51149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四项核心要素</a:t>
            </a:r>
            <a:endParaRPr lang="zh-CN" sz="1275" b="1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圆角矩形 221"/>
          <p:cNvSpPr/>
          <p:nvPr/>
        </p:nvSpPr>
        <p:spPr>
          <a:xfrm>
            <a:off x="533400" y="2857500"/>
            <a:ext cx="2505075" cy="1095375"/>
          </a:xfrm>
          <a:prstGeom prst="roundRect">
            <a:avLst>
              <a:gd name="adj" fmla="val 4348"/>
            </a:avLst>
          </a:prstGeom>
        </p:spPr>
        <p:txBody>
          <a:bodyPr/>
          <a:p/>
        </p:txBody>
      </p:sp>
      <p:sp>
        <p:nvSpPr>
          <p:cNvPr id="223" name="任意多边形 222"/>
          <p:cNvSpPr/>
          <p:nvPr/>
        </p:nvSpPr>
        <p:spPr>
          <a:xfrm>
            <a:off x="533400" y="2857500"/>
            <a:ext cx="2505075" cy="1095375"/>
          </a:xfrm>
          <a:custGeom>
            <a:avLst/>
            <a:gdLst/>
            <a:ahLst/>
            <a:cxnLst/>
            <a:pathLst>
              <a:path w="263" h="115">
                <a:moveTo>
                  <a:pt x="258" y="0"/>
                </a:moveTo>
                <a:cubicBezTo>
                  <a:pt x="261" y="0"/>
                  <a:pt x="263" y="2"/>
                  <a:pt x="263" y="4"/>
                </a:cubicBezTo>
                <a:cubicBezTo>
                  <a:pt x="263" y="4"/>
                  <a:pt x="262" y="3"/>
                  <a:pt x="261" y="3"/>
                </a:cubicBezTo>
                <a:lnTo>
                  <a:pt x="2" y="3"/>
                </a:lnTo>
                <a:cubicBezTo>
                  <a:pt x="1" y="3"/>
                  <a:pt x="0" y="4"/>
                  <a:pt x="0" y="5"/>
                </a:cubicBezTo>
                <a:cubicBezTo>
                  <a:pt x="0" y="2"/>
                  <a:pt x="2" y="0"/>
                  <a:pt x="5" y="0"/>
                </a:cubicBezTo>
                <a:lnTo>
                  <a:pt x="258" y="0"/>
                </a:lnTo>
                <a:close/>
              </a:path>
            </a:pathLst>
          </a:custGeom>
          <a:solidFill>
            <a:srgbClr val="0A1950"/>
          </a:solidFill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666750" y="2971800"/>
            <a:ext cx="2238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因果推断</a:t>
            </a:r>
            <a:endParaRPr lang="zh-CN" sz="127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666750" y="3190875"/>
            <a:ext cx="2238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回答</a:t>
            </a:r>
            <a:r>
              <a:rPr lang="en-US" sz="9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为什么</a:t>
            </a:r>
            <a:r>
              <a:rPr lang="en-US" sz="9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75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666750" y="3400425"/>
            <a:ext cx="2238375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识别因果关系而非仅相关关系，剥离混杂因素，提升可解释性与可靠性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3152775" y="2857500"/>
            <a:ext cx="2495550" cy="1095375"/>
          </a:xfrm>
          <a:prstGeom prst="roundRect">
            <a:avLst>
              <a:gd name="adj" fmla="val 4348"/>
            </a:avLst>
          </a:prstGeom>
        </p:spPr>
        <p:txBody>
          <a:bodyPr/>
          <a:p/>
        </p:txBody>
      </p:sp>
      <p:sp>
        <p:nvSpPr>
          <p:cNvPr id="228" name="任意多边形 227"/>
          <p:cNvSpPr/>
          <p:nvPr/>
        </p:nvSpPr>
        <p:spPr>
          <a:xfrm>
            <a:off x="3152775" y="2857500"/>
            <a:ext cx="2495550" cy="1095375"/>
          </a:xfrm>
          <a:custGeom>
            <a:avLst/>
            <a:gdLst/>
            <a:ahLst/>
            <a:cxnLst/>
            <a:pathLst>
              <a:path w="262" h="115">
                <a:moveTo>
                  <a:pt x="257" y="0"/>
                </a:moveTo>
                <a:cubicBezTo>
                  <a:pt x="260" y="0"/>
                  <a:pt x="262" y="2"/>
                  <a:pt x="262" y="4"/>
                </a:cubicBezTo>
                <a:cubicBezTo>
                  <a:pt x="262" y="4"/>
                  <a:pt x="261" y="3"/>
                  <a:pt x="260" y="3"/>
                </a:cubicBezTo>
                <a:lnTo>
                  <a:pt x="2" y="3"/>
                </a:lnTo>
                <a:cubicBezTo>
                  <a:pt x="1" y="3"/>
                  <a:pt x="0" y="4"/>
                  <a:pt x="0" y="5"/>
                </a:cubicBezTo>
                <a:cubicBezTo>
                  <a:pt x="0" y="2"/>
                  <a:pt x="2" y="0"/>
                  <a:pt x="5" y="0"/>
                </a:cubicBezTo>
                <a:lnTo>
                  <a:pt x="257" y="0"/>
                </a:lnTo>
                <a:close/>
              </a:path>
            </a:pathLst>
          </a:custGeom>
          <a:solidFill>
            <a:srgbClr val="0A1950"/>
          </a:solidFill>
        </p:spPr>
        <p:txBody>
          <a:bodyPr/>
          <a:p/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3286125" y="2971800"/>
            <a:ext cx="2228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优化算法</a:t>
            </a:r>
            <a:endParaRPr lang="zh-CN" sz="127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3286125" y="3190875"/>
            <a:ext cx="2228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回答</a:t>
            </a:r>
            <a:r>
              <a:rPr lang="en-US" sz="9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怎么做最好</a:t>
            </a:r>
            <a:r>
              <a:rPr lang="en-US" sz="9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75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3286125" y="3400425"/>
            <a:ext cx="22288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在合规、成本、收益、时效等多约束下寻找最优或近似最优决策方案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" name="圆角矩形 231"/>
          <p:cNvSpPr/>
          <p:nvPr/>
        </p:nvSpPr>
        <p:spPr>
          <a:xfrm>
            <a:off x="533400" y="4095750"/>
            <a:ext cx="2505075" cy="1095375"/>
          </a:xfrm>
          <a:prstGeom prst="roundRect">
            <a:avLst>
              <a:gd name="adj" fmla="val 4348"/>
            </a:avLst>
          </a:prstGeom>
        </p:spPr>
        <p:txBody>
          <a:bodyPr/>
          <a:p/>
        </p:txBody>
      </p:sp>
      <p:sp>
        <p:nvSpPr>
          <p:cNvPr id="233" name="任意多边形 232"/>
          <p:cNvSpPr/>
          <p:nvPr/>
        </p:nvSpPr>
        <p:spPr>
          <a:xfrm>
            <a:off x="533400" y="4095750"/>
            <a:ext cx="2505075" cy="1095375"/>
          </a:xfrm>
          <a:custGeom>
            <a:avLst/>
            <a:gdLst/>
            <a:ahLst/>
            <a:cxnLst/>
            <a:pathLst>
              <a:path w="263" h="115">
                <a:moveTo>
                  <a:pt x="258" y="0"/>
                </a:moveTo>
                <a:cubicBezTo>
                  <a:pt x="261" y="0"/>
                  <a:pt x="263" y="2"/>
                  <a:pt x="263" y="4"/>
                </a:cubicBezTo>
                <a:cubicBezTo>
                  <a:pt x="263" y="4"/>
                  <a:pt x="262" y="3"/>
                  <a:pt x="261" y="3"/>
                </a:cubicBezTo>
                <a:lnTo>
                  <a:pt x="2" y="3"/>
                </a:lnTo>
                <a:cubicBezTo>
                  <a:pt x="1" y="3"/>
                  <a:pt x="0" y="4"/>
                  <a:pt x="0" y="5"/>
                </a:cubicBezTo>
                <a:cubicBezTo>
                  <a:pt x="0" y="2"/>
                  <a:pt x="2" y="0"/>
                  <a:pt x="5" y="0"/>
                </a:cubicBezTo>
                <a:lnTo>
                  <a:pt x="258" y="0"/>
                </a:lnTo>
                <a:close/>
              </a:path>
            </a:pathLst>
          </a:custGeom>
          <a:solidFill>
            <a:srgbClr val="0A1950"/>
          </a:solidFill>
        </p:spPr>
        <p:txBody>
          <a:bodyPr/>
          <a:p/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66750" y="4210050"/>
            <a:ext cx="2238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反馈闭环</a:t>
            </a:r>
            <a:endParaRPr lang="zh-CN" sz="127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666750" y="4429125"/>
            <a:ext cx="2238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越用越准</a:t>
            </a:r>
            <a:r>
              <a:rPr lang="en-US" sz="9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75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666750" y="4638675"/>
            <a:ext cx="2238375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执行结果实时回馈模型，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执行→观测→学习→再执行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持续逼近真最优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圆角矩形 236"/>
          <p:cNvSpPr/>
          <p:nvPr/>
        </p:nvSpPr>
        <p:spPr>
          <a:xfrm>
            <a:off x="3152775" y="4095750"/>
            <a:ext cx="2495550" cy="1095375"/>
          </a:xfrm>
          <a:prstGeom prst="roundRect">
            <a:avLst>
              <a:gd name="adj" fmla="val 4348"/>
            </a:avLst>
          </a:prstGeom>
        </p:spPr>
        <p:txBody>
          <a:bodyPr/>
          <a:p/>
        </p:txBody>
      </p:sp>
      <p:sp>
        <p:nvSpPr>
          <p:cNvPr id="238" name="任意多边形 237"/>
          <p:cNvSpPr/>
          <p:nvPr/>
        </p:nvSpPr>
        <p:spPr>
          <a:xfrm>
            <a:off x="3152775" y="4095750"/>
            <a:ext cx="2495550" cy="1095375"/>
          </a:xfrm>
          <a:custGeom>
            <a:avLst/>
            <a:gdLst/>
            <a:ahLst/>
            <a:cxnLst/>
            <a:pathLst>
              <a:path w="262" h="115">
                <a:moveTo>
                  <a:pt x="257" y="0"/>
                </a:moveTo>
                <a:cubicBezTo>
                  <a:pt x="260" y="0"/>
                  <a:pt x="262" y="2"/>
                  <a:pt x="262" y="4"/>
                </a:cubicBezTo>
                <a:cubicBezTo>
                  <a:pt x="262" y="4"/>
                  <a:pt x="261" y="3"/>
                  <a:pt x="260" y="3"/>
                </a:cubicBezTo>
                <a:lnTo>
                  <a:pt x="2" y="3"/>
                </a:lnTo>
                <a:cubicBezTo>
                  <a:pt x="1" y="3"/>
                  <a:pt x="0" y="4"/>
                  <a:pt x="0" y="5"/>
                </a:cubicBezTo>
                <a:cubicBezTo>
                  <a:pt x="0" y="2"/>
                  <a:pt x="2" y="0"/>
                  <a:pt x="5" y="0"/>
                </a:cubicBezTo>
                <a:lnTo>
                  <a:pt x="257" y="0"/>
                </a:lnTo>
                <a:close/>
              </a:path>
            </a:pathLst>
          </a:custGeom>
          <a:solidFill>
            <a:srgbClr val="0A1950"/>
          </a:solidFill>
        </p:spPr>
        <p:txBody>
          <a:bodyPr/>
          <a:p/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3286125" y="4210050"/>
            <a:ext cx="2228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可视化决策流</a:t>
            </a:r>
            <a:endParaRPr lang="zh-CN" sz="127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3286125" y="4429125"/>
            <a:ext cx="2228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看得见、审得清</a:t>
            </a:r>
            <a:r>
              <a:rPr lang="en-US" sz="9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975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3286125" y="4638675"/>
            <a:ext cx="22288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决策逻辑图形化呈现，依据一目了然、审计路径全程可追溯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圆角矩形 241"/>
          <p:cNvSpPr/>
          <p:nvPr/>
        </p:nvSpPr>
        <p:spPr>
          <a:xfrm>
            <a:off x="5915025" y="1285875"/>
            <a:ext cx="5743575" cy="3638550"/>
          </a:xfrm>
          <a:prstGeom prst="roundRect">
            <a:avLst>
              <a:gd name="adj" fmla="val 1571"/>
            </a:avLst>
          </a:prstGeom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pic>
        <p:nvPicPr>
          <p:cNvPr id="243" name="图片 242"/>
          <p:cNvPicPr>
            <a:picLocks noChangeAspect="1"/>
          </p:cNvPicPr>
          <p:nvPr/>
        </p:nvPicPr>
        <p:blipFill>
          <a:blip r:embed="rId2"/>
          <a:srcRect t="4417" b="4417"/>
          <a:stretch>
            <a:fillRect/>
          </a:stretch>
        </p:blipFill>
        <p:spPr>
          <a:xfrm>
            <a:off x="5991225" y="1362075"/>
            <a:ext cx="5572125" cy="3486150"/>
          </a:xfrm>
          <a:prstGeom prst="rect">
            <a:avLst/>
          </a:prstGeom>
        </p:spPr>
      </p:pic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5915025" y="5038725"/>
            <a:ext cx="57435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四层技术架构：</a:t>
            </a:r>
            <a:r>
              <a:rPr lang="zh-CN" sz="105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r>
              <a:rPr lang="en-US" sz="105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模型层</a:t>
            </a:r>
            <a:r>
              <a:rPr lang="en-US" sz="105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决策引擎层</a:t>
            </a:r>
            <a:r>
              <a:rPr lang="en-US" sz="105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反馈层，层层作为下一层输入源，逻辑自洽。</a:t>
            </a:r>
            <a:endParaRPr lang="zh-CN" sz="105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5915025" y="5491480"/>
            <a:ext cx="5743575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五层能力架构</a:t>
            </a:r>
            <a:r>
              <a:rPr lang="en-US" sz="975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决策建模层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智能层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仿真层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执行层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治理层；</a:t>
            </a:r>
            <a:endParaRPr lang="zh-CN" sz="975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DIP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强调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复合性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AI"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：机器学习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规则引擎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运筹优化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大语言模型。</a:t>
            </a:r>
            <a:endParaRPr lang="zh-CN" sz="975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任意多边形 245"/>
          <p:cNvSpPr/>
          <p:nvPr/>
        </p:nvSpPr>
        <p:spPr>
          <a:xfrm>
            <a:off x="533400" y="6419850"/>
            <a:ext cx="11125200" cy="257175"/>
          </a:xfrm>
          <a:custGeom>
            <a:avLst/>
            <a:gdLst/>
            <a:ahLst/>
            <a:cxnLst/>
            <a:pathLst>
              <a:path w="1168" h="27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</p:spPr>
        <p:txBody>
          <a:bodyPr/>
          <a:p/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533400" y="6505575"/>
            <a:ext cx="3590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Source</a:t>
            </a:r>
            <a:r>
              <a:rPr lang="zh-CN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：本报告第三章；图</a:t>
            </a:r>
            <a:r>
              <a:rPr lang="en-US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3-1 </a:t>
            </a:r>
            <a:r>
              <a:rPr lang="zh-CN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依据本报告第三章第二节构建</a:t>
            </a:r>
            <a:endParaRPr lang="zh-CN" sz="1050">
              <a:solidFill>
                <a:srgbClr val="FFFFFF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11506200" y="6505575"/>
            <a:ext cx="152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05</a:t>
            </a:r>
            <a:endParaRPr lang="en-US" sz="105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" descr="&lt;Slide&gt;&#13;&#10;  &lt;Image src=&quot;assets/bg_content.png&quot; style={{ position: 'absolute', left: 0, top: 0, width: 1280, height: 720, objectFit: 'fill', zIndex: -1 }} /&gt;&#13;&#10;  &lt;Box style={{ width: 1280, height: 720, padding: '34px 56px 20px 56px', boxSizing: 'border-box', display: 'flex', flexDirection: 'column' }}&gt;&#13;&#10;    &lt;Text style={{ fontSize: 15, color: '#0850B4', fontFamily: 'Microsoft YaHei, sans-serif', letterSpacing: 1 }}&gt;03 · 技术解析&lt;/Text&gt;&#13;&#10;    &lt;Text style={{ fontSize: 30, color: '#0A1950', fontWeight: 'bold', fontFamily: 'Microsoft YaHei, sans-serif', marginTop: 6, lineHeight: 1.25 }}&gt;&#13;&#10;      DIP ＝ 决策科学 × 数据科学 × AI 的端到端架构，四项核心要素缺一不可&#13;&#10;    &lt;/Text&gt;&#13;&#10;    &lt;Box style={{ width: 64, height: 4, background: '#0A1950', borderRadius: 2, marginTop: 10, marginBottom: 18 }} /&gt;&#13;&#10;&#13;&#10;    &lt;Box style={{ display: 'flex', flexDirection: 'row', gap: 28, height: 506 }}&gt;&#13;&#10;      &lt;Box style={{ width: 537, display: 'flex', flexDirection: 'column' }}&gt;&#13;&#10;        &lt;Box style={{ background: '#F7F9FC', borderLeft: '4px solid #0A1950', borderRadius: 4, padding: '12px 16px', boxSizing: 'border-box', marginBottom: 18 }}&gt;&#13;&#10;          &lt;Text style={{ fontSize: 15, color: '#414141', fontFamily: 'Microsoft YaHei, sans-serif', lineHeight: 1.6 }}&gt;&#13;&#10;            DIP 是一种将决策科学、数据科学与人工智能深度融合的技术架构体系，旨在构建从数据洞察到决策执行的端到端能力。它不是一个具体模型，而是&quot;把决策系统化&quot;的方法与平台。&#13;&#10;          &lt;/Text&gt;&#13;&#10;        &lt;/Box&gt;&#13;&#10;&#13;&#10;        &lt;Text style={{ fontSize: 17, color: '#0850B4', fontWeight: 'bold', fontFamily: 'Microsoft YaHei, sans-serif', marginBottom: 12 }}&gt;四项核心要素&lt;/Text&gt;&#13;&#10;&#13;&#10;        &lt;Box style={{ display: 'flex', flexDirection: 'row', gap: 12, marginBottom: 12 }}&gt;&#13;&#10;          &lt;Box style={{ flex: 1, border: '1px solid #E7E6E6', borderTop: '3px solid #0A1950', borderRadius: 5, padding: '12px 14px', boxSizing: 'border-box', height: 118 }}&gt;&#13;&#10;            &lt;Text style={{ fontSize: 17, color: '#0A1950', fontWeight: 'bold', fontFamily: 'Microsoft YaHei, sans-serif' }}&gt;因果推断&lt;/Text&gt;&#13;&#10;            &lt;Text style={{ fontSize: 13, color: '#0850B4', fontFamily: 'Microsoft YaHei, sans-serif', marginTop: 2 }}&gt;回答&quot;为什么&quot;&lt;/Text&gt;&#13;&#10;            &lt;Text style={{ fontSize: 12.5, color: '#595959', fontFamily: 'Microsoft YaHei, sans-serif', lineHeight: 1.5, marginTop: 6 }}&gt;识别因果关系而非仅相关关系，剥离混杂因素，提升可解释性与可靠性&lt;/Text&gt;&#13;&#10;          &lt;/Box&gt;&#13;&#10;          &lt;Box style={{ flex: 1, border: '1px solid #E7E6E6', borderTop: '3px solid #0A1950', borderRadius: 5, padding: '12px 14px', boxSizing: 'border-box', height: 118 }}&gt;&#13;&#10;            &lt;Text style={{ fontSize: 17, color: '#0A1950', fontWeight: 'bold', fontFamily: 'Microsoft YaHei, sans-serif' }}&gt;优化算法&lt;/Text&gt;&#13;&#10;            &lt;Text style={{ fontSize: 13, color: '#0850B4', fontFamily: 'Microsoft YaHei, sans-serif', marginTop: 2 }}&gt;回答&quot;怎么做最好&quot;&lt;/Text&gt;&#13;&#10;            &lt;Text style={{ fontSize: 12.5, color: '#595959', fontFamily: 'Microsoft YaHei, sans-serif', lineHeight: 1.5, marginTop: 6 }}&gt;在合规、成本、收益、时效等多约束下寻找最优或近似最优决策方案&lt;/Text&gt;&#13;&#10;          &lt;/Box&gt;&#13;&#10;        &lt;/Box&gt;&#13;&#10;&#13;&#10;        &lt;Box style={{ display: 'flex', flexDirection: 'row', gap: 12 }}&gt;&#13;&#10;          &lt;Box style={{ flex: 1, border: '1px solid #E7E6E6', borderTop: '3px solid #0A1950', borderRadius: 5, padding: '12px 14px', boxSizing: 'border-box', height: 118 }}&gt;&#13;&#10;            &lt;Text style={{ fontSize: 17, color: '#0A1950', fontWeight: 'bold', fontFamily: 'Microsoft YaHei, sans-serif' }}&gt;反馈闭环&lt;/Text&gt;&#13;&#10;            &lt;Text style={{ fontSize: 13, color: '#0850B4', fontFamily: 'Microsoft YaHei, sans-serif', marginTop: 2 }}&gt;&quot;越用越准&quot;&lt;/Text&gt;&#13;&#10;            &lt;Text style={{ fontSize: 12.5, color: '#595959', fontFamily: 'Microsoft YaHei, sans-serif', lineHeight: 1.5, marginTop: 6 }}&gt;执行结果实时回馈模型，&quot;执行→观测→学习→再执行&quot;持续逼近真最优&lt;/Text&gt;&#13;&#10;          &lt;/Box&gt;&#13;&#10;          &lt;Box style={{ flex: 1, border: '1px solid #E7E6E6', borderTop: '3px solid #0A1950', borderRadius: 5, padding: '12px 14px', boxSizing: 'border-box', height: 118 }}&gt;&#13;&#10;            &lt;Text style={{ fontSize: 17, color: '#0A1950', fontWeight: 'bold', fontFamily: 'Microsoft YaHei, sans-serif' }}&gt;可视化决策流&lt;/Text&gt;&#13;&#10;            &lt;Text style={{ fontSize: 13, color: '#0850B4', fontFamily: 'Microsoft YaHei, sans-serif', marginTop: 2 }}&gt;&quot;看得见、审得清&quot;&lt;/Text&gt;&#13;&#10;            &lt;Text style={{ fontSize: 12.5, color: '#595959', fontFamily: 'Microsoft YaHei, sans-serif', lineHeight: 1.5, marginTop: 6 }}&gt;决策逻辑图形化呈现，依据一目了然、审计路径全程可追溯&lt;/Text&gt;&#13;&#10;          &lt;/Box&gt;&#13;&#10;        &lt;/Box&gt;&#13;&#10;      &lt;/Box&gt;&#13;&#10;&#13;&#10;      &lt;Box style={{ width: 603, display: 'flex', flexDirection: 'column' }}&gt;&#13;&#10;        &lt;Box style={{ border: '1px solid #E7E6E6', borderRadius: 6, padding: 8, boxSizing: 'border-box' }}&gt;&#13;&#10;          &lt;Image src=&quot;assets/image2.png&quot; style={{ width: 585, height: 366, objectFit: 'contain' }} /&gt;&#13;&#10;        &lt;/Box&gt;&#13;&#10;        &lt;Text style={{ fontSize: 14, color: '#414141', fontFamily: 'Microsoft YaHei, sans-serif', lineHeight: 1.6, marginTop: 12 }}&gt;&#13;&#10;          &lt;span style={{ color: '#0A1950', fontWeight: 'bold' }}&gt;四层技术架构：&lt;/span&gt;数据层 → 模型层 → 决策引擎层 → 反馈层，层层作为下一层输入源，逻辑自洽。&#13;&#10;        &lt;/Text&gt;&#13;&#10;        &lt;Text style={{ fontSize: 13, color: '#595959', fontFamily: 'Microsoft YaHei, sans-serif', lineHeight: 1.5, marginTop: 8 }}&gt;&#13;&#10;          与四层技术架构互补的是&quot;五层能力架构&quot;——决策建模层 · 智能层 · 仿真层 · 执行层 · 治理层；DIP 强调&quot;复合性 AI&quot;：机器学习 + 规则引擎 + 运筹优化 + 大语言模型。&#13;&#10;        &lt;/Text&gt;&#13;&#10;      &lt;/Box&gt;&#13;&#10;    &lt;/Box&gt;&#13;&#10;&#13;&#10;    &lt;Box style={{ display: 'flex', justifyContent: 'space-between', alignItems: 'center', marginTop: 'auto', paddingTop: 8, borderTop: '1px solid rgba(255,255,255,0.3)' }}&gt;&#13;&#10;      &lt;Text style={{ fontSize: 14, color: '#FFFFFF', fontFamily: 'Arial Unicode MS, Arial, sans-serif' }}&gt;Source：本报告第三章；图3-1 依据本报告第三章第二节构建&lt;/Text&gt;&#13;&#10;      &lt;Text style={{ fontSize: 14, color: '#FFFFFF', fontFamily: 'Arial, sans-serif' }}&gt;05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图片 2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4130"/>
            <a:ext cx="12192000" cy="6858000"/>
          </a:xfrm>
          <a:prstGeom prst="rect">
            <a:avLst/>
          </a:prstGeom>
        </p:spPr>
      </p:pic>
      <p:pic>
        <p:nvPicPr>
          <p:cNvPr id="351" name="图片 3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4130"/>
            <a:ext cx="12192000" cy="6858000"/>
          </a:xfrm>
          <a:prstGeom prst="rect">
            <a:avLst/>
          </a:prstGeom>
        </p:spPr>
      </p:pic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533400" y="323850"/>
            <a:ext cx="11125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技术解析（二）·</a:t>
            </a:r>
            <a:r>
              <a:rPr lang="en-US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机制与演进</a:t>
            </a:r>
            <a:endParaRPr lang="zh-CN" sz="1125" spc="75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533400" y="552450"/>
            <a:ext cx="111252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复合性</a:t>
            </a: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是核心机制，技术成熟度进入快速上升期</a:t>
            </a:r>
            <a:endParaRPr lang="zh-CN" sz="22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4" name="圆角矩形 353"/>
          <p:cNvSpPr/>
          <p:nvPr/>
        </p:nvSpPr>
        <p:spPr>
          <a:xfrm>
            <a:off x="533400" y="107632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355" name="圆角矩形 354"/>
          <p:cNvSpPr/>
          <p:nvPr/>
        </p:nvSpPr>
        <p:spPr>
          <a:xfrm>
            <a:off x="571500" y="1247775"/>
            <a:ext cx="11125200" cy="447675"/>
          </a:xfrm>
          <a:prstGeom prst="roundRect">
            <a:avLst>
              <a:gd name="adj" fmla="val 8511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356" name="任意多边形 355"/>
          <p:cNvSpPr/>
          <p:nvPr/>
        </p:nvSpPr>
        <p:spPr>
          <a:xfrm>
            <a:off x="571500" y="1247775"/>
            <a:ext cx="11125200" cy="447675"/>
          </a:xfrm>
          <a:custGeom>
            <a:avLst/>
            <a:gdLst/>
            <a:ahLst/>
            <a:cxnLst/>
            <a:pathLst>
              <a:path w="1168" h="47">
                <a:moveTo>
                  <a:pt x="4" y="47"/>
                </a:moveTo>
                <a:cubicBezTo>
                  <a:pt x="2" y="47"/>
                  <a:pt x="0" y="45"/>
                  <a:pt x="0" y="4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7"/>
                </a:lnTo>
                <a:close/>
              </a:path>
            </a:pathLst>
          </a:custGeom>
          <a:solidFill>
            <a:srgbClr val="0A1950"/>
          </a:solidFill>
        </p:spPr>
        <p:txBody>
          <a:bodyPr/>
          <a:p/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723900" y="1343025"/>
            <a:ext cx="10782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9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复合性</a:t>
            </a:r>
            <a:r>
              <a:rPr lang="en-US" sz="109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 AI</a:t>
            </a:r>
            <a:r>
              <a:rPr lang="zh-CN" sz="109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sz="109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以机器学习</a:t>
            </a:r>
            <a:r>
              <a:rPr lang="en-US" sz="109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9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深度学习为底座，叠加规则引擎保证合规可控，运筹优化求解最优方案，大语言模型增强语义理解与交互——四类能力互补，而非单一模型。</a:t>
            </a:r>
            <a:endParaRPr lang="zh-CN" sz="109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圆角矩形 357"/>
          <p:cNvSpPr/>
          <p:nvPr/>
        </p:nvSpPr>
        <p:spPr>
          <a:xfrm>
            <a:off x="381000" y="2524125"/>
            <a:ext cx="5428615" cy="3200400"/>
          </a:xfrm>
          <a:prstGeom prst="roundRect">
            <a:avLst>
              <a:gd name="adj" fmla="val 1786"/>
            </a:avLst>
          </a:prstGeom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533400" y="557212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1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图</a:t>
            </a:r>
            <a:r>
              <a:rPr lang="en-US" sz="101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3-3 </a:t>
            </a:r>
            <a:r>
              <a:rPr lang="zh-CN" sz="101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银行决策系统三层混合</a:t>
            </a:r>
            <a:r>
              <a:rPr lang="en-US" sz="101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 DIP </a:t>
            </a:r>
            <a:r>
              <a:rPr lang="zh-CN" sz="101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框架：</a:t>
            </a:r>
            <a:endParaRPr lang="zh-CN" sz="101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101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数据接入层</a:t>
            </a:r>
            <a:r>
              <a:rPr lang="en-US" sz="101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1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智能决策层（复合性</a:t>
            </a:r>
            <a:r>
              <a:rPr lang="en-US" sz="101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AI</a:t>
            </a:r>
            <a:r>
              <a:rPr lang="zh-CN" sz="101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）→</a:t>
            </a:r>
            <a:r>
              <a:rPr lang="en-US" sz="101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1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执行反馈层，落地于银行业务中台。</a:t>
            </a:r>
            <a:endParaRPr lang="zh-CN" sz="101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5886450" y="6038850"/>
            <a:ext cx="561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图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3-5 Gartner 2026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企业架构技术成熟度曲线：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DIP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位于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转型型技术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上升段，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2-5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年内进入主流。</a:t>
            </a:r>
            <a:endParaRPr lang="zh-CN" sz="975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7" name="任意多边形 366"/>
          <p:cNvSpPr/>
          <p:nvPr/>
        </p:nvSpPr>
        <p:spPr>
          <a:xfrm>
            <a:off x="533400" y="6419850"/>
            <a:ext cx="11125200" cy="257175"/>
          </a:xfrm>
          <a:custGeom>
            <a:avLst/>
            <a:gdLst/>
            <a:ahLst/>
            <a:cxnLst/>
            <a:pathLst>
              <a:path w="1168" h="27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11506200" y="6505575"/>
            <a:ext cx="152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06</a:t>
            </a:r>
            <a:endParaRPr lang="en-US" sz="105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pic>
        <p:nvPicPr>
          <p:cNvPr id="100" name="fig" descr="fi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91795" y="2657158"/>
            <a:ext cx="5353050" cy="2986405"/>
          </a:xfrm>
          <a:prstGeom prst="rect">
            <a:avLst/>
          </a:prstGeom>
        </p:spPr>
      </p:pic>
      <p:pic>
        <p:nvPicPr>
          <p:cNvPr id="11" name="fig" descr="fi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43000" y="1609725"/>
            <a:ext cx="9277350" cy="904875"/>
          </a:xfrm>
          <a:prstGeom prst="rect">
            <a:avLst/>
          </a:prstGeom>
        </p:spPr>
      </p:pic>
      <p:pic>
        <p:nvPicPr>
          <p:cNvPr id="2" name="图片 16" descr="c86ec37bc41b1556bc345c209cb306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100" y="2499360"/>
            <a:ext cx="5778500" cy="353949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279515" y="3935095"/>
            <a:ext cx="1060450" cy="222250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" descr="&lt;Slide&gt;&#13;&#10;  &lt;Image src=&quot;assets/bg_content.png&quot; style={{ position: 'absolute', left: 0, top: 0, width: 1280, height: 720, objectFit: 'fill', zIndex: -1 }} /&gt;&#13;&#10;  &lt;Box style={{ width: 1280, height: 720, padding: '34px 56px 20px 56px', boxSizing: 'border-box', display: 'flex', flexDirection: 'column' }}&gt;&#13;&#10;    &lt;Text style={{ fontSize: 15, color: '#0850B4', fontFamily: 'Microsoft YaHei, sans-serif', letterSpacing: 1 }}&gt;04 · 应用场景与价值实证&lt;/Text&gt;&#13;&#10;    &lt;Text style={{ fontSize: 30, color: '#0A1950', fontWeight: 'bold', fontFamily: 'Microsoft YaHei, sans-serif', marginTop: 6, lineHeight: 1.25 }}&gt;&#13;&#10;      四大场景、两条主线：决策质量（风险 · 营销）与决策效率（运营 · 合规）&#13;&#10;    &lt;/Text&gt;&#13;&#10;    &lt;Box style={{ width: 64, height: 4, background: '#0A1950', borderRadius: 2, marginTop: 10, marginBottom: 18 }} /&gt;&#13;&#10;&#13;&#10;    &lt;Box style={{ display: 'flex', flexDirection: 'row', gap: 24, height: 500 }}&gt;&#13;&#10;      &lt;Box style={{ width: 692, display: 'flex', flexDirection: 'column' }}&gt;&#13;&#10;        &lt;Text style={{ fontSize: 17, color: '#0850B4', fontWeight: 'bold', fontFamily: 'Microsoft YaHei, sans-serif', marginBottom: 12 }}&gt;四大核心场景&lt;/Text&gt;&#13;&#10;&#13;&#10;        &lt;Box style={{ display: 'flex', flexDirection: 'row', gap: 12, marginBottom: 12 }}&gt;&#13;&#10;          &lt;Box style={{ width: 340, height: 216, background: '#F7F9FC', borderRadius: 6, borderTop: '3px solid #0A1950', padding: '12px 16px', boxSizing: 'border-box' }}&gt;&#13;&#10;            &lt;Text style={{ fontSize: 17, color: '#0A1950', fontWeight: 'bold', fontFamily: 'Microsoft YaHei, sans-serif' }}&gt;风险管理&lt;/Text&gt;&#13;&#10;            &lt;Box style={{ width: 26, height: 3, background: '#E60000', borderRadius: 2, marginTop: 6, marginBottom: 8 }} /&gt;&#13;&#10;            &lt;Box style={{ display: 'flex', flexDirection: 'column', gap: 7 }}&gt;&#13;&#10;              &lt;Text style={{ fontSize: 13, color: '#414141', fontFamily: 'Microsoft YaHei, sans-serif', lineHeight: 1.45 }}&gt;· 智能信贷审批：因果穿透&quot;评分高但实质高危&quot;客户&lt;/Text&gt;&#13;&#10;              &lt;Text style={{ fontSize: 13, color: '#414141', fontFamily: 'Microsoft YaHei, sans-serif', lineHeight: 1.45 }}&gt;· 实时交易反欺诈：规则＋模型双轨，毫秒级拦截&lt;/Text&gt;&#13;&#10;              &lt;Text style={{ fontSize: 13, color: '#414141', fontFamily: 'Microsoft YaHei, sans-serif', lineHeight: 1.45 }}&gt;· 反洗钱团伙识别：知识图谱沿交易网络识别&lt;/Text&gt;&#13;&#10;            &lt;/Box&gt;&#13;&#10;          &lt;/Box&gt;&#13;&#10;          &lt;Box style={{ width: 340, height: 216, background: '#F7F9FC', borderRadius: 6, borderTop: '3px solid #0A1950', padding: '12px 16px', boxSizing: 'border-box' }}&gt;&#13;&#10;            &lt;Text style={{ fontSize: 17, color: '#0A1950', fontWeight: 'bold', fontFamily: 'Microsoft YaHei, sans-serif' }}&gt;营销决策&lt;/Text&gt;&#13;&#10;            &lt;Box style={{ width: 26, height: 3, background: '#E60000', borderRadius: 2, marginTop: 6, marginBottom: 8 }} /&gt;&#13;&#10;            &lt;Box style={{ display: 'flex', flexDirection: 'column', gap: 7 }}&gt;&#13;&#10;              &lt;Text style={{ fontSize: 13, color: '#414141', fontFamily: 'Microsoft YaHei, sans-serif', lineHeight: 1.45 }}&gt;· 客户分层与经营激活：小步试跑、按反馈放大&lt;/Text&gt;&#13;&#10;              &lt;Text style={{ fontSize: 13, color: '#414141', fontFamily: 'Microsoft YaHei, sans-serif', lineHeight: 1.45 }}&gt;· 个性化产品与权益推荐：边试边学提升转化&lt;/Text&gt;&#13;&#10;              &lt;Text style={{ fontSize: 13, color: '#414141', fontFamily: 'Microsoft YaHei, sans-serif', lineHeight: 1.45 }}&gt;· 动态定价与额度配置：运筹优化、合规寻优&lt;/Text&gt;&#13;&#10;            &lt;/Box&gt;&#13;&#10;          &lt;/Box&gt;&#13;&#10;        &lt;/Box&gt;&#13;&#10;&#13;&#10;        &lt;Box style={{ display: 'flex', flexDirection: 'row', gap: 12 }}&gt;&#13;&#10;          &lt;Box style={{ width: 340, height: 216, background: '#F7F9FC', borderRadius: 6, borderTop: '3px solid #05377D', padding: '12px 16px', boxSizing: 'border-box' }}&gt;&#13;&#10;            &lt;Text style={{ fontSize: 17, color: '#0A1950', fontWeight: 'bold', fontFamily: 'Microsoft YaHei, sans-serif' }}&gt;运营优化&lt;/Text&gt;&#13;&#10;            &lt;Box style={{ width: 26, height: 3, background: '#0F6EF0', borderRadius: 2, marginTop: 6, marginBottom: 8 }} /&gt;&#13;&#10;            &lt;Box style={{ display: 'flex', flexDirection: 'column', gap: 7 }}&gt;&#13;&#10;              &lt;Text style={{ fontSize: 13, color: '#414141', fontFamily: 'Microsoft YaHei, sans-serif', lineHeight: 1.45 }}&gt;· 网点与客服智能排班：多约束求解近似最优&lt;/Text&gt;&#13;&#10;              &lt;Text style={{ fontSize: 13, color: '#414141', fontFamily: 'Microsoft YaHei, sans-serif', lineHeight: 1.45 }}&gt;· 信用卡催收渠道分配：回收率与成本寻优&lt;/Text&gt;&#13;&#10;              &lt;Text style={{ fontSize: 13, color: '#414141', fontFamily: 'Microsoft YaHei, sans-serif', lineHeight: 1.45 }}&gt;· 网点布点与资源调配：低风险、见效快，POC 首选&lt;/Text&gt;&#13;&#10;            &lt;/Box&gt;&#13;&#10;          &lt;/Box&gt;&#13;&#10;          &lt;Box style={{ width: 340, height: 216, background: '#F7F9FC', borderRadius: 6, borderTop: '3px solid #05377D', padding: '12px 16px', boxSizing: 'border-box' }}&gt;&#13;&#10;            &lt;Text style={{ fontSize: 17, color: '#0A1950', fontWeight: 'bold', fontFamily: 'Microsoft YaHei, sans-serif' }}&gt;合规审计&lt;/Text&gt;&#13;&#10;            &lt;Box style={{ width: 26, height: 3, background: '#0F6EF0', borderRadius: 2, marginTop: 6, marginBottom: 8 }} /&gt;&#13;&#10;            &lt;Box style={{ display: 'flex', flexDirection: 'column', gap: 7 }}&gt;&#13;&#10;              &lt;Text style={{ fontSize: 13, color: '#414141', fontFamily: 'Microsoft YaHei, sans-serif', lineHeight: 1.45 }}&gt;· 监管报告自动生成：模板自动组装与校验&lt;/Text&gt;&#13;&#10;              &lt;Text style={{ fontSize: 13, color: '#414141', fontFamily: 'Microsoft YaHei, sans-serif', lineHeight: 1.45 }}&gt;· 可疑交易报告：带完整依据链供审核提交&lt;/Text&gt;&#13;&#10;              &lt;Text style={{ fontSize: 13, color: '#414141', fontFamily: 'Microsoft YaHei, sans-serif', lineHeight: 1.45 }}&gt;· 消保与算法合规核查：全过程留痕、可追溯&lt;/Text&gt;&#13;&#10;            &lt;/Box&gt;&#13;&#10;          &lt;/Box&gt;&#13;&#10;        &lt;/Box&gt;&#13;&#10;      &lt;/Box&gt;&#13;&#10;&#13;&#10;      &lt;Box style={{ width: 452, display: 'flex', flexDirection: 'column' }}&gt;&#13;&#10;        &lt;Box style={{ border: '1px solid #E7E6E6', borderRadius: 6, padding: 8, boxSizing: 'border-box' }}&gt;&#13;&#10;          &lt;Image src=&quot;assets/image7.png&quot; style={{ width: 434, height: 250, objectFit: 'contain' }} /&gt;&#13;&#10;        &lt;/Box&gt;&#13;&#10;        &lt;Text style={{ fontSize: 13, color: '#595959', fontFamily: 'Microsoft YaHei, sans-serif', lineHeight: 1.5, marginTop: 8 }}&gt;&#13;&#10;          图4-1 分场景效益三档测算（保守 / 中性 / 乐观）&#13;&#10;        &lt;/Text&gt;&#13;&#10;        &lt;Box style={{ marginTop: 12, background: '#F7F9FC', borderRadius: 6, padding: '12px 14px', boxSizing: 'border-box' }}&gt;&#13;&#10;          &lt;Text style={{ fontSize: 14, color: '#0A1950', fontWeight: 'bold', fontFamily: 'Microsoft YaHei, sans-serif' }}&gt;两条价值主线&lt;/Text&gt;&#13;&#10;          &lt;Text style={{ fontSize: 13, color: '#414141', fontFamily: 'Microsoft YaHei, sans-serif', lineHeight: 1.55, marginTop: 4 }}&gt;&#13;&#10;            决策质量（风险 · 营销）＋ 决策效率（运营 · 合规）&#13;&#10;          &lt;/Text&gt;&#13;&#10;          &lt;Text style={{ fontSize: 14, color: '#0A1950', fontWeight: 'bold', fontFamily: 'Microsoft YaHei, sans-serif', marginTop: 8 }}&gt;建议切入顺序&lt;/Text&gt;&#13;&#10;          &lt;Text style={{ fontSize: 13, color: '#414141', fontFamily: 'Microsoft YaHei, sans-serif', lineHeight: 1.55, marginTop: 4 }}&gt;&#13;&#10;            运营优化（低风险 POC）→ 营销 → 信贷（高合规敏感）&#13;&#10;          &lt;/Text&gt;&#13;&#10;        &lt;/Box&gt;&#13;&#10;      &lt;/Box&gt;&#13;&#10;    &lt;/Box&gt;&#13;&#10;&#13;&#10;    &lt;Box style={{ display: 'flex', justifyContent: 'space-between', alignItems: 'center', marginTop: 'auto', paddingTop: 8, borderTop: '1px solid rgba(255,255,255,0.3)' }}&gt;&#13;&#10;      &lt;Text style={{ fontSize: 14, color: '#FFFFFF', fontFamily: 'Arial Unicode MS, Arial, sans-serif' }}&gt;Source: 本报告第四章；SNS Insider；FICO × HSBC UK&lt;/Text&gt;&#13;&#10;      &lt;Text style={{ fontSize: 14, color: '#FFFFFF', fontFamily: 'Arial, sans-serif' }}&gt;06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图片 2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533400" y="323850"/>
            <a:ext cx="11125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04 · </a:t>
            </a:r>
            <a:r>
              <a:rPr lang="zh-CN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应用场景与价值实证</a:t>
            </a:r>
            <a:endParaRPr lang="zh-CN" sz="1125" spc="75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533400" y="552450"/>
            <a:ext cx="111252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四大场景、两条主线：决策质量（风险</a:t>
            </a: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营销）与决策效率（运营</a:t>
            </a: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合规）</a:t>
            </a:r>
            <a:endParaRPr lang="zh-CN" sz="22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圆角矩形 252"/>
          <p:cNvSpPr/>
          <p:nvPr/>
        </p:nvSpPr>
        <p:spPr>
          <a:xfrm>
            <a:off x="533400" y="107632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533400" y="1285875"/>
            <a:ext cx="6591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四大核心场景</a:t>
            </a:r>
            <a:endParaRPr lang="zh-CN" sz="1275" b="1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圆角矩形 254"/>
          <p:cNvSpPr/>
          <p:nvPr/>
        </p:nvSpPr>
        <p:spPr>
          <a:xfrm>
            <a:off x="533400" y="1628775"/>
            <a:ext cx="3238500" cy="2028825"/>
          </a:xfrm>
          <a:prstGeom prst="roundRect">
            <a:avLst>
              <a:gd name="adj" fmla="val 2817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256" name="任意多边形 255"/>
          <p:cNvSpPr/>
          <p:nvPr/>
        </p:nvSpPr>
        <p:spPr>
          <a:xfrm>
            <a:off x="533400" y="1628775"/>
            <a:ext cx="3238500" cy="2028825"/>
          </a:xfrm>
          <a:custGeom>
            <a:avLst/>
            <a:gdLst/>
            <a:ahLst/>
            <a:cxnLst/>
            <a:pathLst>
              <a:path w="340" h="213">
                <a:moveTo>
                  <a:pt x="334" y="0"/>
                </a:moveTo>
                <a:cubicBezTo>
                  <a:pt x="337" y="0"/>
                  <a:pt x="340" y="2"/>
                  <a:pt x="340" y="5"/>
                </a:cubicBezTo>
                <a:cubicBezTo>
                  <a:pt x="339" y="4"/>
                  <a:pt x="338" y="3"/>
                  <a:pt x="337" y="3"/>
                </a:cubicBezTo>
                <a:lnTo>
                  <a:pt x="3" y="3"/>
                </a:lnTo>
                <a:cubicBezTo>
                  <a:pt x="2" y="3"/>
                  <a:pt x="0" y="4"/>
                  <a:pt x="0" y="5"/>
                </a:cubicBezTo>
                <a:cubicBezTo>
                  <a:pt x="0" y="2"/>
                  <a:pt x="3" y="0"/>
                  <a:pt x="6" y="0"/>
                </a:cubicBezTo>
                <a:lnTo>
                  <a:pt x="334" y="0"/>
                </a:lnTo>
                <a:close/>
              </a:path>
            </a:pathLst>
          </a:custGeom>
          <a:solidFill>
            <a:srgbClr val="0A1950"/>
          </a:solidFill>
        </p:spPr>
        <p:txBody>
          <a:bodyPr/>
          <a:p/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685800" y="1743075"/>
            <a:ext cx="2933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风险管理</a:t>
            </a:r>
            <a:endParaRPr lang="zh-CN" sz="127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圆角矩形 257"/>
          <p:cNvSpPr/>
          <p:nvPr/>
        </p:nvSpPr>
        <p:spPr>
          <a:xfrm>
            <a:off x="685800" y="2000250"/>
            <a:ext cx="247650" cy="28575"/>
          </a:xfrm>
          <a:prstGeom prst="roundRect">
            <a:avLst>
              <a:gd name="adj" fmla="val 66667"/>
            </a:avLst>
          </a:prstGeom>
          <a:solidFill>
            <a:srgbClr val="E60000"/>
          </a:solidFill>
        </p:spPr>
        <p:txBody>
          <a:bodyPr/>
          <a:p/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685800" y="2105025"/>
            <a:ext cx="29337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智能信贷审批：因果穿透</a:t>
            </a: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评分高但实质高危</a:t>
            </a: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客户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685800" y="2390775"/>
            <a:ext cx="29337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实时交易反欺诈：规则＋模型双轨，毫秒级拦截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85800" y="2676525"/>
            <a:ext cx="29337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反洗钱团伙识别：知识图谱沿交易网络识别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圆角矩形 261"/>
          <p:cNvSpPr/>
          <p:nvPr/>
        </p:nvSpPr>
        <p:spPr>
          <a:xfrm>
            <a:off x="3886200" y="1628775"/>
            <a:ext cx="3238500" cy="2028825"/>
          </a:xfrm>
          <a:prstGeom prst="roundRect">
            <a:avLst>
              <a:gd name="adj" fmla="val 2817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263" name="任意多边形 262"/>
          <p:cNvSpPr/>
          <p:nvPr/>
        </p:nvSpPr>
        <p:spPr>
          <a:xfrm>
            <a:off x="3886200" y="1628775"/>
            <a:ext cx="3238500" cy="2028825"/>
          </a:xfrm>
          <a:custGeom>
            <a:avLst/>
            <a:gdLst/>
            <a:ahLst/>
            <a:cxnLst/>
            <a:pathLst>
              <a:path w="340" h="213">
                <a:moveTo>
                  <a:pt x="334" y="0"/>
                </a:moveTo>
                <a:cubicBezTo>
                  <a:pt x="337" y="0"/>
                  <a:pt x="340" y="2"/>
                  <a:pt x="340" y="5"/>
                </a:cubicBezTo>
                <a:cubicBezTo>
                  <a:pt x="339" y="4"/>
                  <a:pt x="338" y="3"/>
                  <a:pt x="337" y="3"/>
                </a:cubicBezTo>
                <a:lnTo>
                  <a:pt x="3" y="3"/>
                </a:lnTo>
                <a:cubicBezTo>
                  <a:pt x="2" y="3"/>
                  <a:pt x="0" y="4"/>
                  <a:pt x="0" y="5"/>
                </a:cubicBezTo>
                <a:cubicBezTo>
                  <a:pt x="0" y="2"/>
                  <a:pt x="3" y="0"/>
                  <a:pt x="6" y="0"/>
                </a:cubicBezTo>
                <a:lnTo>
                  <a:pt x="334" y="0"/>
                </a:lnTo>
                <a:close/>
              </a:path>
            </a:pathLst>
          </a:custGeom>
          <a:solidFill>
            <a:srgbClr val="0A1950"/>
          </a:solidFill>
        </p:spPr>
        <p:txBody>
          <a:bodyPr/>
          <a:p/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4038600" y="1743075"/>
            <a:ext cx="2933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营销决策</a:t>
            </a:r>
            <a:endParaRPr lang="zh-CN" sz="127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4038600" y="2000250"/>
            <a:ext cx="247650" cy="28575"/>
          </a:xfrm>
          <a:prstGeom prst="roundRect">
            <a:avLst>
              <a:gd name="adj" fmla="val 66667"/>
            </a:avLst>
          </a:prstGeom>
          <a:solidFill>
            <a:srgbClr val="E60000"/>
          </a:solidFill>
        </p:spPr>
        <p:txBody>
          <a:bodyPr/>
          <a:p/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4038600" y="2105025"/>
            <a:ext cx="29337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客户分层与经营激活：小步试跑、按反馈放大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4038600" y="2390775"/>
            <a:ext cx="29337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个性化产品与权益推荐：边试边学提升转化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4038600" y="2676525"/>
            <a:ext cx="29337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动态定价与额度配置：运筹优化、合规寻优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圆角矩形 268"/>
          <p:cNvSpPr/>
          <p:nvPr/>
        </p:nvSpPr>
        <p:spPr>
          <a:xfrm>
            <a:off x="533400" y="3800475"/>
            <a:ext cx="3238500" cy="2028825"/>
          </a:xfrm>
          <a:prstGeom prst="roundRect">
            <a:avLst>
              <a:gd name="adj" fmla="val 2817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270" name="任意多边形 269"/>
          <p:cNvSpPr/>
          <p:nvPr/>
        </p:nvSpPr>
        <p:spPr>
          <a:xfrm>
            <a:off x="533400" y="3800475"/>
            <a:ext cx="3238500" cy="2028825"/>
          </a:xfrm>
          <a:custGeom>
            <a:avLst/>
            <a:gdLst/>
            <a:ahLst/>
            <a:cxnLst/>
            <a:pathLst>
              <a:path w="340" h="213">
                <a:moveTo>
                  <a:pt x="334" y="0"/>
                </a:moveTo>
                <a:cubicBezTo>
                  <a:pt x="337" y="0"/>
                  <a:pt x="340" y="2"/>
                  <a:pt x="340" y="5"/>
                </a:cubicBezTo>
                <a:cubicBezTo>
                  <a:pt x="339" y="4"/>
                  <a:pt x="338" y="3"/>
                  <a:pt x="337" y="3"/>
                </a:cubicBezTo>
                <a:lnTo>
                  <a:pt x="3" y="3"/>
                </a:lnTo>
                <a:cubicBezTo>
                  <a:pt x="2" y="3"/>
                  <a:pt x="0" y="4"/>
                  <a:pt x="0" y="5"/>
                </a:cubicBezTo>
                <a:cubicBezTo>
                  <a:pt x="0" y="2"/>
                  <a:pt x="3" y="0"/>
                  <a:pt x="6" y="0"/>
                </a:cubicBezTo>
                <a:lnTo>
                  <a:pt x="334" y="0"/>
                </a:lnTo>
                <a:close/>
              </a:path>
            </a:pathLst>
          </a:custGeom>
          <a:solidFill>
            <a:srgbClr val="05377D"/>
          </a:solidFill>
        </p:spPr>
        <p:txBody>
          <a:bodyPr/>
          <a:p/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685800" y="3914775"/>
            <a:ext cx="2933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运营优化</a:t>
            </a:r>
            <a:endParaRPr lang="zh-CN" sz="127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圆角矩形 271"/>
          <p:cNvSpPr/>
          <p:nvPr/>
        </p:nvSpPr>
        <p:spPr>
          <a:xfrm>
            <a:off x="685800" y="4171950"/>
            <a:ext cx="247650" cy="28575"/>
          </a:xfrm>
          <a:prstGeom prst="roundRect">
            <a:avLst>
              <a:gd name="adj" fmla="val 66667"/>
            </a:avLst>
          </a:prstGeom>
          <a:solidFill>
            <a:srgbClr val="0F6EF0"/>
          </a:solidFill>
        </p:spPr>
        <p:txBody>
          <a:bodyPr/>
          <a:p/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685800" y="4276725"/>
            <a:ext cx="29337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网点与客服智能排班：多约束求解近似最优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685800" y="4562475"/>
            <a:ext cx="29337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信用卡催收渠道分配：回收率与成本寻优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685800" y="4848225"/>
            <a:ext cx="29337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网点布点与资源调配：低风险、见效快，</a:t>
            </a: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POC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首选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圆角矩形 275"/>
          <p:cNvSpPr/>
          <p:nvPr/>
        </p:nvSpPr>
        <p:spPr>
          <a:xfrm>
            <a:off x="3886200" y="3800475"/>
            <a:ext cx="3238500" cy="2028825"/>
          </a:xfrm>
          <a:prstGeom prst="roundRect">
            <a:avLst>
              <a:gd name="adj" fmla="val 2817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277" name="任意多边形 276"/>
          <p:cNvSpPr/>
          <p:nvPr/>
        </p:nvSpPr>
        <p:spPr>
          <a:xfrm>
            <a:off x="3886200" y="3800475"/>
            <a:ext cx="3238500" cy="2028825"/>
          </a:xfrm>
          <a:custGeom>
            <a:avLst/>
            <a:gdLst/>
            <a:ahLst/>
            <a:cxnLst/>
            <a:pathLst>
              <a:path w="340" h="213">
                <a:moveTo>
                  <a:pt x="334" y="0"/>
                </a:moveTo>
                <a:cubicBezTo>
                  <a:pt x="337" y="0"/>
                  <a:pt x="340" y="2"/>
                  <a:pt x="340" y="5"/>
                </a:cubicBezTo>
                <a:cubicBezTo>
                  <a:pt x="339" y="4"/>
                  <a:pt x="338" y="3"/>
                  <a:pt x="337" y="3"/>
                </a:cubicBezTo>
                <a:lnTo>
                  <a:pt x="3" y="3"/>
                </a:lnTo>
                <a:cubicBezTo>
                  <a:pt x="2" y="3"/>
                  <a:pt x="0" y="4"/>
                  <a:pt x="0" y="5"/>
                </a:cubicBezTo>
                <a:cubicBezTo>
                  <a:pt x="0" y="2"/>
                  <a:pt x="3" y="0"/>
                  <a:pt x="6" y="0"/>
                </a:cubicBezTo>
                <a:lnTo>
                  <a:pt x="334" y="0"/>
                </a:lnTo>
                <a:close/>
              </a:path>
            </a:pathLst>
          </a:custGeom>
          <a:solidFill>
            <a:srgbClr val="05377D"/>
          </a:solidFill>
        </p:spPr>
        <p:txBody>
          <a:bodyPr/>
          <a:p/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4038600" y="3914775"/>
            <a:ext cx="2933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合规审计</a:t>
            </a:r>
            <a:endParaRPr lang="zh-CN" sz="127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" name="圆角矩形 278"/>
          <p:cNvSpPr/>
          <p:nvPr/>
        </p:nvSpPr>
        <p:spPr>
          <a:xfrm>
            <a:off x="4038600" y="4171950"/>
            <a:ext cx="247650" cy="28575"/>
          </a:xfrm>
          <a:prstGeom prst="roundRect">
            <a:avLst>
              <a:gd name="adj" fmla="val 66667"/>
            </a:avLst>
          </a:prstGeom>
          <a:solidFill>
            <a:srgbClr val="0F6EF0"/>
          </a:solidFill>
        </p:spPr>
        <p:txBody>
          <a:bodyPr/>
          <a:p/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4038600" y="4276725"/>
            <a:ext cx="29337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监管报告自动生成：模板自动组装与校验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4038600" y="4562475"/>
            <a:ext cx="29337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可疑交易报告：带完整依据链供审核提交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4038600" y="4848225"/>
            <a:ext cx="29337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消保与算法合规核查：全过程留痕、可追溯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圆角矩形 282"/>
          <p:cNvSpPr/>
          <p:nvPr/>
        </p:nvSpPr>
        <p:spPr>
          <a:xfrm>
            <a:off x="7353300" y="1285875"/>
            <a:ext cx="4305300" cy="2533650"/>
          </a:xfrm>
          <a:prstGeom prst="roundRect">
            <a:avLst>
              <a:gd name="adj" fmla="val 2256"/>
            </a:avLst>
          </a:prstGeom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pic>
        <p:nvPicPr>
          <p:cNvPr id="284" name="图片 283"/>
          <p:cNvPicPr>
            <a:picLocks noChangeAspect="1"/>
          </p:cNvPicPr>
          <p:nvPr/>
        </p:nvPicPr>
        <p:blipFill>
          <a:blip r:embed="rId2"/>
          <a:srcRect l="165" r="165"/>
          <a:stretch>
            <a:fillRect/>
          </a:stretch>
        </p:blipFill>
        <p:spPr>
          <a:xfrm>
            <a:off x="7429500" y="1362075"/>
            <a:ext cx="4133850" cy="2381250"/>
          </a:xfrm>
          <a:prstGeom prst="rect">
            <a:avLst/>
          </a:prstGeom>
        </p:spPr>
      </p:pic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7353300" y="3895725"/>
            <a:ext cx="4305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图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4-1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分场景效益三档测算（保守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中性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乐观）</a:t>
            </a:r>
            <a:endParaRPr lang="zh-CN" sz="975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7353300" y="4238625"/>
            <a:ext cx="4305300" cy="1181100"/>
          </a:xfrm>
          <a:prstGeom prst="roundRect">
            <a:avLst>
              <a:gd name="adj" fmla="val 4839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7486650" y="4352925"/>
            <a:ext cx="4038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两条价值主线</a:t>
            </a:r>
            <a:endParaRPr lang="zh-CN" sz="10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7486650" y="4552950"/>
            <a:ext cx="40386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决策质量（风险</a:t>
            </a: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营销）＋</a:t>
            </a: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决策效率（运营</a:t>
            </a: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合规）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7486650" y="4867275"/>
            <a:ext cx="4038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建议切入顺序</a:t>
            </a:r>
            <a:endParaRPr lang="zh-CN" sz="10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7486650" y="5067300"/>
            <a:ext cx="40386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运营优化（低风险</a:t>
            </a: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POC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）→</a:t>
            </a: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营销</a:t>
            </a: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信贷（高合规敏感）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1506200" y="6505575"/>
            <a:ext cx="152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07</a:t>
            </a:r>
            <a:endParaRPr lang="en-US" sz="105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" name="" descr="&lt;Slide&gt;&#13;&#10;  &lt;Image src=&quot;assets/bg_content.png&quot; style={{ position: 'absolute', left: 0, top: 0, width: 1280, height: 720, objectFit: 'fill', zIndex: -1 }} /&gt;&#13;&#10;  &lt;Box style={{ width: 1280, height: 720, padding: '34px 56px 20px 56px', boxSizing: 'border-box', display: 'flex', flexDirection: 'column' }}&gt;&#13;&#10;    &lt;Text style={{ fontSize: 15, color: '#0850B4', fontFamily: 'Microsoft YaHei, sans-serif', letterSpacing: 1 }}&gt;05 · 风险与挑战&lt;/Text&gt;&#13;&#10;    &lt;Text style={{ fontSize: 30, color: '#0A1950', fontWeight: 'bold', fontFamily: 'Microsoft YaHei, sans-serif', marginTop: 6, lineHeight: 1.25 }}&gt;&#13;&#10;      五类风险总体可控，但须前置治理资源：三条合规底线 + 两类优先项&#13;&#10;    &lt;/Text&gt;&#13;&#10;    &lt;Box style={{ width: 64, height: 4, background: '#0A1950', borderRadius: 2, marginTop: 10, marginBottom: 18 }} /&gt;&#13;&#10;&#13;&#10;    &lt;Box style={{ display: 'flex', flexDirection: 'row', gap: 26, height: 500 }}&gt;&#13;&#10;      &lt;Box style={{ width: 596, display: 'flex', flexDirection: 'column' }}&gt;&#13;&#10;        &lt;Text style={{ fontSize: 17, color: '#0850B4', fontWeight: 'bold', fontFamily: 'Microsoft YaHei, sans-serif', marginBottom: 12 }}&gt;三条合规底线&lt;/Text&gt;&#13;&#10;&#13;&#10;        &lt;Box style={{ background: '#F7F9FC', borderRadius: 5, padding: '12px 16px', boxSizing: 'border-box', marginBottom: 10, borderLeft: '4px solid #E60000' }}&gt;&#13;&#10;          &lt;Text style={{ fontSize: 16, color: '#0A1950', fontWeight: 'bold', fontFamily: 'Microsoft YaHei, sans-serif' }}&gt;《数据安全法》&lt;/Text&gt;&#13;&#10;          &lt;Text style={{ fontSize: 13, color: '#595959', fontFamily: 'Microsoft YaHei, sans-serif', marginTop: 4, lineHeight: 1.5 }}&gt;涉及个人金融信息的，需满足数据本地化、最小必要原则&lt;/Text&gt;&#13;&#10;        &lt;/Box&gt;&#13;&#10;        &lt;Box style={{ background: '#F7F9FC', borderRadius: 5, padding: '12px 16px', boxSizing: 'border-box', marginBottom: 10, borderLeft: '4px solid #E60000' }}&gt;&#13;&#10;          &lt;Text style={{ fontSize: 16, color: '#0A1950', fontWeight: 'bold', fontFamily: 'Microsoft YaHei, sans-serif' }}&gt;《个人信息保护法》&lt;/Text&gt;&#13;&#10;          &lt;Text style={{ fontSize: 13, color: '#595959', fontFamily: 'Microsoft YaHei, sans-serif', marginTop: 4, lineHeight: 1.5 }}&gt;自动化决策需保障个人信息主体的知情权与拒绝权&lt;/Text&gt;&#13;&#10;        &lt;/Box&gt;&#13;&#10;        &lt;Box style={{ background: '#F7F9FC', borderRadius: 5, padding: '12px 16px', boxSizing: 'border-box', marginBottom: 20, borderLeft: '4px solid #E60000' }}&gt;&#13;&#10;          &lt;Text style={{ fontSize: 16, color: '#0A1950', fontWeight: 'bold', fontFamily: 'Microsoft YaHei, sans-serif' }}&gt;《商业银行互联网贷款管理暂行办法》&lt;/Text&gt;&#13;&#10;          &lt;Text style={{ fontSize: 13, color: '#595959', fontFamily: 'Microsoft YaHei, sans-serif', marginTop: 4, lineHeight: 1.5 }}&gt;模型决策需具备可解释性，不得存在歧视性偏差&lt;/Text&gt;&#13;&#10;        &lt;/Box&gt;&#13;&#10;&#13;&#10;        &lt;Text style={{ fontSize: 17, color: '#0850B4', fontWeight: 'bold', fontFamily: 'Microsoft YaHei, sans-serif', marginBottom: 4 }}&gt;引入可行度 3 分（短板原则）&lt;/Text&gt;&#13;&#10;        &lt;Text style={{ fontSize: 13, color: '#595959', fontFamily: 'Microsoft YaHei, sans-serif', marginBottom: 10 }}&gt;三道门槛：架构改造、合规评估、人才建设&lt;/Text&gt;&#13;&#10;        &lt;Box style={{ display: 'flex', flexDirection: 'row', gap: 10 }}&gt;&#13;&#10;          &lt;Box style={{ flex: 1, border: '1px solid #E7E6E6', borderTop: '3px solid #78AAF5', borderRadius: 5, padding: '10px 6px', boxSizing: 'border-box', display: 'flex', flexDirection: 'column', alignItems: 'center' }}&gt;&#13;&#10;            &lt;Text style={{ fontSize: 13, color: '#414141', fontFamily: 'Microsoft YaHei, sans-serif' }}&gt;架构改造&lt;/Text&gt;&#13;&#10;            &lt;Text style={{ fontSize: 26, color: '#05377D', fontWeight: 'bold', fontFamily: 'Arial, sans-serif' }}&gt;3&lt;/Text&gt;&#13;&#10;          &lt;/Box&gt;&#13;&#10;          &lt;Box style={{ flex: 1, border: '1px solid #E7E6E6', borderTop: '3px solid #78AAF5', borderRadius: 5, padding: '10px 6px', boxSizing: 'border-box', display: 'flex', flexDirection: 'column', alignItems: 'center' }}&gt;&#13;&#10;            &lt;Text style={{ fontSize: 13, color: '#414141', fontFamily: 'Microsoft YaHei, sans-serif' }}&gt;合规风险&lt;/Text&gt;&#13;&#10;            &lt;Text style={{ fontSize: 26, color: '#05377D', fontWeight: 'bold', fontFamily: 'Arial, sans-serif' }}&gt;3&lt;/Text&gt;&#13;&#10;          &lt;/Box&gt;&#13;&#10;          &lt;Box style={{ flex: 1, border: '1px solid #E7E6E6', borderTop: '3px solid #80C242', borderRadius: 5, padding: '10px 6px', boxSizing: 'border-box', display: 'flex', flexDirection: 'column', alignItems: 'center' }}&gt;&#13;&#10;            &lt;Text style={{ fontSize: 13, color: '#414141', fontFamily: 'Microsoft YaHei, sans-serif' }}&gt;安全风险&lt;/Text&gt;&#13;&#10;            &lt;Text style={{ fontSize: 26, color: '#2E7D32', fontWeight: 'bold', fontFamily: 'Arial, sans-serif' }}&gt;4&lt;/Text&gt;&#13;&#10;          &lt;/Box&gt;&#13;&#10;          &lt;Box style={{ flex: 1, border: '1px solid #E7E6E6', borderTop: '3px solid #78AAF5', borderRadius: 5, padding: '10px 6px', boxSizing: 'border-box', display: 'flex', flexDirection: 'column', alignItems: 'center' }}&gt;&#13;&#10;            &lt;Text style={{ fontSize: 13, color: '#414141', fontFamily: 'Microsoft YaHei, sans-serif' }}&gt;人才门槛&lt;/Text&gt;&#13;&#10;            &lt;Text style={{ fontSize: 26, color: '#05377D', fontWeight: 'bold', fontFamily: 'Arial, sans-serif' }}&gt;3&lt;/Text&gt;&#13;&#10;          &lt;/Box&gt;&#13;&#10;        &lt;/Box&gt;&#13;&#10;      &lt;/Box&gt;&#13;&#10;&#13;&#10;      &lt;Box style={{ width: 546, display: 'flex', flexDirection: 'column' }}&gt;&#13;&#10;        &lt;Text style={{ fontSize: 17, color: '#0850B4', fontWeight: 'bold', fontFamily: 'Microsoft YaHei, sans-serif', marginBottom: 12 }}&gt;五类主要风险（按概率 × 影响）&lt;/Text&gt;&#13;&#10;&#13;&#10;        &lt;Box style={{ background: '#F7F9FC', borderRadius: 5, padding: '14px 16px', boxSizing: 'border-box', marginBottom: 10 }}&gt;&#13;&#10;          &lt;Box style={{ display: 'flex', flexDirection: 'row', alignItems: 'center', gap: 12 }}&gt;&#13;&#10;            &lt;Text style={{ flex: 1, fontSize: 15, color: '#0A1950', fontWeight: 'bold', fontFamily: 'Microsoft YaHei, sans-serif' }}&gt;数据出境合规风险&lt;/Text&gt;&#13;&#10;            &lt;Box style={{ width: 66, background: '#FFF8EC', border: '1px solid #FBAF16', borderRadius: 11, padding: '2px 0', display: 'flex', justifyContent: 'center' }}&gt;&lt;Text style={{ fontSize: 12, color: '#A15C00', fontFamily: 'Microsoft YaHei, sans-serif' }}&gt;概率中&lt;/Text&gt;&lt;/Box&gt;&#13;&#10;            &lt;Box style={{ width: 66, background: '#FDF3F3', border: '1px solid #E60000', borderRadius: 11, padding: '2px 0', display: 'flex', justifyContent: 'center' }}&gt;&lt;Text style={{ fontSize: 12, color: '#E60000', fontFamily: 'Microsoft YaHei, sans-serif' }}&gt;影响高&lt;/Text&gt;&lt;/Box&gt;&#13;&#10;          &lt;/Box&gt;&#13;&#10;          &lt;Text style={{ fontSize: 12.5, color: '#595959', fontFamily: 'Microsoft YaHei, sans-serif', marginTop: 6 }}&gt;应对：优先国产替代；出境前完成安全评估&lt;/Text&gt;&#13;&#10;        &lt;/Box&gt;&#13;&#10;&#13;&#10;        &lt;Box style={{ background: '#F7F9FC', borderRadius: 5, padding: '14px 16px', boxSizing: 'border-box', marginBottom: 10 }}&gt;&#13;&#10;          &lt;Box style={{ display: 'flex', flexDirection: 'row', alignItems: 'center', gap: 12 }}&gt;&#13;&#10;            &lt;Text style={{ flex: 1, fontSize: 15, color: '#0A1950', fontWeight: 'bold', fontFamily: 'Microsoft YaHei, sans-serif' }}&gt;模型可解释性不足&lt;/Text&gt;&#13;&#10;            &lt;Box style={{ width: 66, background: '#FDF3F3', border: '1px solid #E60000', borderRadius: 11, padding: '2px 0', display: 'flex', justifyContent: 'center' }}&gt;&lt;Text style={{ fontSize: 12, color: '#E60000', fontFamily: 'Microsoft YaHei, sans-serif' }}&gt;概率高&lt;/Text&gt;&lt;/Box&gt;&#13;&#10;            &lt;Box style={{ width: 66, background: '#FFF8EC', border: '1px solid #FBAF16', borderRadius: 11, padding: '2px 0', display: 'flex', justifyContent: 'center' }}&gt;&lt;Text style={{ fontSize: 12, color: '#A15C00', fontFamily: 'Microsoft YaHei, sans-serif' }}&gt;影响中&lt;/Text&gt;&lt;/Box&gt;&#13;&#10;          &lt;/Box&gt;&#13;&#10;          &lt;Text style={{ fontSize: 12.5, color: '#595959', fontFamily: 'Microsoft YaHei, sans-serif', marginTop: 6 }}&gt;应对：引入可解释 AI 框架；保留决策日志&lt;/Text&gt;&#13;&#10;        &lt;/Box&gt;&#13;&#10;&#13;&#10;        &lt;Box style={{ background: '#F7F9FC', borderRadius: 5, padding: '14px 16px', boxSizing: 'border-box', marginBottom: 10 }}&gt;&#13;&#10;          &lt;Box style={{ display: 'flex', flexDirection: 'row', alignItems: 'center', gap: 12 }}&gt;&#13;&#10;            &lt;Text style={{ flex: 1, fontSize: 15, color: '#0A1950', fontWeight: 'bold', fontFamily: 'Microsoft YaHei, sans-serif' }}&gt;供应商锁定风险&lt;/Text&gt;&#13;&#10;            &lt;Box style={{ width: 66, background: '#FFF8EC', border: '1px solid #FBAF16', borderRadius: 11, padding: '2px 0', display: 'flex', justifyContent: 'center' }}&gt;&lt;Text style={{ fontSize: 12, color: '#A15C00', fontFamily: 'Microsoft YaHei, sans-serif' }}&gt;概率中&lt;/Text&gt;&lt;/Box&gt;&#13;&#10;            &lt;Box style={{ width: 66, background: '#FFF8EC', border: '1px solid #FBAF16', borderRadius: 11, padding: '2px 0', display: 'flex', justifyContent: 'center' }}&gt;&lt;Text style={{ fontSize: 12, color: '#A15C00', fontFamily: 'Microsoft YaHei, sans-serif' }}&gt;影响中&lt;/Text&gt;&lt;/Box&gt;&#13;&#10;          &lt;/Box&gt;&#13;&#10;          &lt;Text style={{ fontSize: 12.5, color: '#595959', fontFamily: 'Microsoft YaHei, sans-serif', marginTop: 6 }}&gt;应对：采用开放标准；保留迁移能力&lt;/Text&gt;&#13;&#10;        &lt;/Box&gt;&#13;&#10;&#13;&#10;        &lt;Box style={{ background: '#F7F9FC', borderRadius: 5, padding: '14px 16px', boxSizing: 'border-box', marginBottom: 10 }}&gt;&#13;&#10;          &lt;Box style={{ display: 'flex', flexDirection: 'row', alignItems: 'center', gap: 12 }}&gt;&#13;&#10;            &lt;Text style={{ flex: 1, fontSize: 15, color: '#0A1950', fontWeight: 'bold', fontFamily: 'Microsoft YaHei, sans-serif' }}&gt;人才短缺风险&lt;/Text&gt;&#13;&#10;            &lt;Box style={{ width: 66, background: '#FDF3F3', border: '1px solid #E60000', borderRadius: 11, padding: '2px 0', display: 'flex', justifyContent: 'center' }}&gt;&lt;Text style={{ fontSize: 12, color: '#E60000', fontFamily: 'Microsoft YaHei, sans-serif' }}&gt;概率高&lt;/Text&gt;&lt;/Box&gt;&#13;&#10;            &lt;Box style={{ width: 66, background: '#FFF8EC', border: '1px solid #FBAF16', borderRadius: 11, padding: '2px 0', display: 'flex', justifyContent: 'center' }}&gt;&lt;Text style={{ fontSize: 12, color: '#A15C00', fontFamily: 'Microsoft YaHei, sans-serif' }}&gt;影响中&lt;/Text&gt;&lt;/Box&gt;&#13;&#10;          &lt;/Box&gt;&#13;&#10;          &lt;Text style={{ fontSize: 12.5, color: '#595959', fontFamily: 'Microsoft YaHei, sans-serif', marginTop: 6 }}&gt;应对：内部培训 + 外部引进双轨并行&lt;/Text&gt;&#13;&#10;        &lt;/Box&gt;&#13;&#10;&#13;&#10;        &lt;Box style={{ background: '#F7F9FC', borderRadius: 5, padding: '14px 16px', boxSizing: 'border-box' }}&gt;&#13;&#10;          &lt;Box style={{ display: 'flex', flexDirection: 'row', alignItems: 'center', gap: 12 }}&gt;&#13;&#10;            &lt;Text style={{ flex: 1, fontSize: 15, color: '#0A1950', fontWeight: 'bold', fontFamily: 'Microsoft YaHei, sans-serif' }}&gt;安全攻击面扩大&lt;/Text&gt;&#13;&#10;            &lt;Box style={{ width: 66, background: '#FFF8EC', border: '1px solid #FBAF16', borderRadius: 11, padding: '2px 0', display: 'flex', justifyContent: 'center' }}&gt;&lt;Text style={{ fontSize: 12, color: '#A15C00', fontFamily: 'Microsoft YaHei, sans-serif' }}&gt;概率中&lt;/Text&gt;&lt;/Box&gt;&#13;&#10;            &lt;Box style={{ width: 66, background: '#FDF3F3', border: '1px solid #E60000', borderRadius: 11, padding: '2px 0', display: 'flex', justifyContent: 'center' }}&gt;&lt;Text style={{ fontSize: 12, color: '#E60000', fontFamily: 'Microsoft YaHei, sans-serif' }}&gt;影响高&lt;/Text&gt;&lt;/Box&gt;&#13;&#10;          &lt;/Box&gt;&#13;&#10;          &lt;Text style={{ fontSize: 12.5, color: '#595959', fontFamily: 'Microsoft YaHei, sans-serif', marginTop: 6 }}&gt;应对：完善数据脱敏与访问控制&lt;/Text&gt;&#13;&#10;        &lt;/Box&gt;&#13;&#10;      &lt;/Box&gt;&#13;&#10;    &lt;/Box&gt;&#13;&#10;&#13;&#10;    &lt;Box style={{ display: 'flex', justifyContent: 'space-between', alignItems: 'center', marginTop: 'auto', paddingTop: 8, borderTop: '1px solid rgba(255,255,255,0.3)' }}&gt;&#13;&#10;      &lt;Text style={{ fontSize: 14, color: '#FFFFFF', fontFamily: 'Arial Unicode MS, Arial, sans-serif' }}&gt;Source: 本报告第五章；《数据安全法》《个人信息保护法》《商业银行互联网贷款管理暂行办法》&lt;/Text&gt;&#13;&#10;      &lt;Text style={{ fontSize: 14, color: '#FFFFFF', fontFamily: 'Arial, sans-serif' }}&gt;07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图片 2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533400" y="323850"/>
            <a:ext cx="11125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05 · </a:t>
            </a:r>
            <a:r>
              <a:rPr lang="zh-CN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风险与挑战</a:t>
            </a:r>
            <a:endParaRPr lang="zh-CN" sz="1125" spc="75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533400" y="552450"/>
            <a:ext cx="111252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五类风险总体可控，但须前置治理资源：三条合规底线</a:t>
            </a: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两类优先项</a:t>
            </a:r>
            <a:endParaRPr lang="zh-CN" sz="22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圆角矩形 297"/>
          <p:cNvSpPr/>
          <p:nvPr/>
        </p:nvSpPr>
        <p:spPr>
          <a:xfrm>
            <a:off x="533400" y="107632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533400" y="1285875"/>
            <a:ext cx="5676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三条合规底线</a:t>
            </a:r>
            <a:endParaRPr lang="zh-CN" sz="1275" b="1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" name="圆角矩形 299"/>
          <p:cNvSpPr/>
          <p:nvPr/>
        </p:nvSpPr>
        <p:spPr>
          <a:xfrm>
            <a:off x="571500" y="1600200"/>
            <a:ext cx="5676900" cy="685800"/>
          </a:xfrm>
          <a:prstGeom prst="roundRect">
            <a:avLst>
              <a:gd name="adj" fmla="val 6944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301" name="任意多边形 300"/>
          <p:cNvSpPr/>
          <p:nvPr/>
        </p:nvSpPr>
        <p:spPr>
          <a:xfrm>
            <a:off x="571500" y="1600200"/>
            <a:ext cx="5676900" cy="685800"/>
          </a:xfrm>
          <a:custGeom>
            <a:avLst/>
            <a:gdLst/>
            <a:ahLst/>
            <a:cxnLst/>
            <a:pathLst>
              <a:path w="596" h="72">
                <a:moveTo>
                  <a:pt x="5" y="0"/>
                </a:moveTo>
                <a:cubicBezTo>
                  <a:pt x="4" y="0"/>
                  <a:pt x="4" y="0"/>
                  <a:pt x="4" y="1"/>
                </a:cubicBezTo>
                <a:lnTo>
                  <a:pt x="4" y="71"/>
                </a:lnTo>
                <a:cubicBezTo>
                  <a:pt x="4" y="72"/>
                  <a:pt x="4" y="72"/>
                  <a:pt x="5" y="72"/>
                </a:cubicBezTo>
                <a:cubicBezTo>
                  <a:pt x="2" y="72"/>
                  <a:pt x="0" y="70"/>
                  <a:pt x="0" y="67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E60000"/>
          </a:solidFill>
        </p:spPr>
        <p:txBody>
          <a:bodyPr/>
          <a:p/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723900" y="1714500"/>
            <a:ext cx="5334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《数据安全法》</a:t>
            </a:r>
            <a:endParaRPr lang="zh-CN" sz="120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723900" y="1943100"/>
            <a:ext cx="5334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涉及个人金融信息的，需满足数据本地化、最小必要原则</a:t>
            </a:r>
            <a:endParaRPr lang="zh-CN" sz="975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圆角矩形 303"/>
          <p:cNvSpPr/>
          <p:nvPr/>
        </p:nvSpPr>
        <p:spPr>
          <a:xfrm>
            <a:off x="571500" y="2381250"/>
            <a:ext cx="5676900" cy="685800"/>
          </a:xfrm>
          <a:prstGeom prst="roundRect">
            <a:avLst>
              <a:gd name="adj" fmla="val 6944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305" name="任意多边形 304"/>
          <p:cNvSpPr/>
          <p:nvPr/>
        </p:nvSpPr>
        <p:spPr>
          <a:xfrm>
            <a:off x="571500" y="2381250"/>
            <a:ext cx="5676900" cy="685800"/>
          </a:xfrm>
          <a:custGeom>
            <a:avLst/>
            <a:gdLst/>
            <a:ahLst/>
            <a:cxnLst/>
            <a:pathLst>
              <a:path w="596" h="72">
                <a:moveTo>
                  <a:pt x="5" y="0"/>
                </a:moveTo>
                <a:cubicBezTo>
                  <a:pt x="4" y="0"/>
                  <a:pt x="4" y="0"/>
                  <a:pt x="4" y="1"/>
                </a:cubicBezTo>
                <a:lnTo>
                  <a:pt x="4" y="71"/>
                </a:lnTo>
                <a:cubicBezTo>
                  <a:pt x="4" y="72"/>
                  <a:pt x="4" y="72"/>
                  <a:pt x="5" y="72"/>
                </a:cubicBezTo>
                <a:cubicBezTo>
                  <a:pt x="2" y="72"/>
                  <a:pt x="0" y="70"/>
                  <a:pt x="0" y="67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E60000"/>
          </a:solidFill>
        </p:spPr>
        <p:txBody>
          <a:bodyPr/>
          <a:p/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723900" y="2495550"/>
            <a:ext cx="5334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《个人信息保护法》</a:t>
            </a:r>
            <a:endParaRPr lang="zh-CN" sz="120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723900" y="2724150"/>
            <a:ext cx="5334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自动化决策需保障个人信息主体的知情权与拒绝权</a:t>
            </a:r>
            <a:endParaRPr lang="zh-CN" sz="975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圆角矩形 307"/>
          <p:cNvSpPr/>
          <p:nvPr/>
        </p:nvSpPr>
        <p:spPr>
          <a:xfrm>
            <a:off x="571500" y="3162300"/>
            <a:ext cx="5676900" cy="685800"/>
          </a:xfrm>
          <a:prstGeom prst="roundRect">
            <a:avLst>
              <a:gd name="adj" fmla="val 6944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309" name="任意多边形 308"/>
          <p:cNvSpPr/>
          <p:nvPr/>
        </p:nvSpPr>
        <p:spPr>
          <a:xfrm>
            <a:off x="571500" y="3162300"/>
            <a:ext cx="5676900" cy="685800"/>
          </a:xfrm>
          <a:custGeom>
            <a:avLst/>
            <a:gdLst/>
            <a:ahLst/>
            <a:cxnLst/>
            <a:pathLst>
              <a:path w="596" h="72">
                <a:moveTo>
                  <a:pt x="5" y="0"/>
                </a:moveTo>
                <a:cubicBezTo>
                  <a:pt x="4" y="0"/>
                  <a:pt x="4" y="0"/>
                  <a:pt x="4" y="1"/>
                </a:cubicBezTo>
                <a:lnTo>
                  <a:pt x="4" y="71"/>
                </a:lnTo>
                <a:cubicBezTo>
                  <a:pt x="4" y="72"/>
                  <a:pt x="4" y="72"/>
                  <a:pt x="5" y="72"/>
                </a:cubicBezTo>
                <a:cubicBezTo>
                  <a:pt x="2" y="72"/>
                  <a:pt x="0" y="70"/>
                  <a:pt x="0" y="67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E60000"/>
          </a:solidFill>
        </p:spPr>
        <p:txBody>
          <a:bodyPr/>
          <a:p/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723900" y="3276600"/>
            <a:ext cx="5334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《商业银行互联网贷款管理暂行办法》</a:t>
            </a:r>
            <a:endParaRPr lang="zh-CN" sz="120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723900" y="3505200"/>
            <a:ext cx="5334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模型决策需具备可解释性，不得存在歧视性偏差</a:t>
            </a:r>
            <a:endParaRPr lang="zh-CN" sz="975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533400" y="4038600"/>
            <a:ext cx="5676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引入可行度</a:t>
            </a:r>
            <a:r>
              <a:rPr lang="en-US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分（短板原则）</a:t>
            </a:r>
            <a:endParaRPr lang="zh-CN" sz="1275" b="1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533400" y="4276725"/>
            <a:ext cx="5676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三道门槛：架构改造、合规评估、人才建设</a:t>
            </a:r>
            <a:endParaRPr lang="zh-CN" sz="975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圆角矩形 313"/>
          <p:cNvSpPr/>
          <p:nvPr/>
        </p:nvSpPr>
        <p:spPr>
          <a:xfrm>
            <a:off x="533400" y="4552950"/>
            <a:ext cx="1352550" cy="676275"/>
          </a:xfrm>
          <a:prstGeom prst="roundRect">
            <a:avLst>
              <a:gd name="adj" fmla="val 7042"/>
            </a:avLst>
          </a:prstGeom>
        </p:spPr>
        <p:txBody>
          <a:bodyPr/>
          <a:p/>
        </p:txBody>
      </p:sp>
      <p:sp>
        <p:nvSpPr>
          <p:cNvPr id="315" name="任意多边形 314"/>
          <p:cNvSpPr/>
          <p:nvPr/>
        </p:nvSpPr>
        <p:spPr>
          <a:xfrm>
            <a:off x="533400" y="4552950"/>
            <a:ext cx="1352550" cy="676275"/>
          </a:xfrm>
          <a:custGeom>
            <a:avLst/>
            <a:gdLst/>
            <a:ahLst/>
            <a:cxnLst/>
            <a:pathLst>
              <a:path w="142" h="71">
                <a:moveTo>
                  <a:pt x="137" y="0"/>
                </a:moveTo>
                <a:cubicBezTo>
                  <a:pt x="140" y="0"/>
                  <a:pt x="142" y="2"/>
                  <a:pt x="142" y="4"/>
                </a:cubicBezTo>
                <a:cubicBezTo>
                  <a:pt x="142" y="4"/>
                  <a:pt x="141" y="3"/>
                  <a:pt x="140" y="3"/>
                </a:cubicBezTo>
                <a:lnTo>
                  <a:pt x="2" y="3"/>
                </a:lnTo>
                <a:cubicBezTo>
                  <a:pt x="1" y="3"/>
                  <a:pt x="0" y="4"/>
                  <a:pt x="0" y="5"/>
                </a:cubicBezTo>
                <a:cubicBezTo>
                  <a:pt x="0" y="2"/>
                  <a:pt x="2" y="0"/>
                  <a:pt x="5" y="0"/>
                </a:cubicBezTo>
                <a:lnTo>
                  <a:pt x="137" y="0"/>
                </a:lnTo>
                <a:close/>
              </a:path>
            </a:pathLst>
          </a:custGeom>
          <a:solidFill>
            <a:srgbClr val="78AAF5"/>
          </a:solidFill>
        </p:spPr>
        <p:txBody>
          <a:bodyPr/>
          <a:p/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962025" y="464820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架构改造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1143000" y="4800600"/>
            <a:ext cx="1428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5377D"/>
                </a:solidFill>
                <a:latin typeface="Arial" panose="020B0604020202020204"/>
                <a:ea typeface="Arial" panose="020B0604020202020204"/>
              </a:rPr>
              <a:t>3</a:t>
            </a:r>
            <a:endParaRPr lang="en-US" sz="1950" b="1">
              <a:solidFill>
                <a:srgbClr val="05377D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18" name="圆角矩形 317"/>
          <p:cNvSpPr/>
          <p:nvPr/>
        </p:nvSpPr>
        <p:spPr>
          <a:xfrm>
            <a:off x="1981200" y="4552950"/>
            <a:ext cx="1343025" cy="676275"/>
          </a:xfrm>
          <a:prstGeom prst="roundRect">
            <a:avLst>
              <a:gd name="adj" fmla="val 7042"/>
            </a:avLst>
          </a:prstGeom>
        </p:spPr>
        <p:txBody>
          <a:bodyPr/>
          <a:p/>
        </p:txBody>
      </p:sp>
      <p:sp>
        <p:nvSpPr>
          <p:cNvPr id="319" name="任意多边形 318"/>
          <p:cNvSpPr/>
          <p:nvPr/>
        </p:nvSpPr>
        <p:spPr>
          <a:xfrm>
            <a:off x="1981200" y="4552950"/>
            <a:ext cx="1343025" cy="676275"/>
          </a:xfrm>
          <a:custGeom>
            <a:avLst/>
            <a:gdLst/>
            <a:ahLst/>
            <a:cxnLst/>
            <a:pathLst>
              <a:path w="141" h="71">
                <a:moveTo>
                  <a:pt x="136" y="0"/>
                </a:moveTo>
                <a:cubicBezTo>
                  <a:pt x="139" y="0"/>
                  <a:pt x="141" y="2"/>
                  <a:pt x="141" y="4"/>
                </a:cubicBezTo>
                <a:cubicBezTo>
                  <a:pt x="141" y="4"/>
                  <a:pt x="140" y="3"/>
                  <a:pt x="139" y="3"/>
                </a:cubicBezTo>
                <a:lnTo>
                  <a:pt x="2" y="3"/>
                </a:lnTo>
                <a:cubicBezTo>
                  <a:pt x="1" y="3"/>
                  <a:pt x="0" y="4"/>
                  <a:pt x="0" y="5"/>
                </a:cubicBezTo>
                <a:cubicBezTo>
                  <a:pt x="0" y="2"/>
                  <a:pt x="2" y="0"/>
                  <a:pt x="5" y="0"/>
                </a:cubicBezTo>
                <a:lnTo>
                  <a:pt x="136" y="0"/>
                </a:lnTo>
                <a:close/>
              </a:path>
            </a:pathLst>
          </a:custGeom>
          <a:solidFill>
            <a:srgbClr val="78AAF5"/>
          </a:solidFill>
        </p:spPr>
        <p:txBody>
          <a:bodyPr/>
          <a:p/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2409825" y="464820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合规风险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2581275" y="4800600"/>
            <a:ext cx="1428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5377D"/>
                </a:solidFill>
                <a:latin typeface="Arial" panose="020B0604020202020204"/>
                <a:ea typeface="Arial" panose="020B0604020202020204"/>
              </a:rPr>
              <a:t>3</a:t>
            </a:r>
            <a:endParaRPr lang="en-US" sz="1950" b="1">
              <a:solidFill>
                <a:srgbClr val="05377D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22" name="圆角矩形 321"/>
          <p:cNvSpPr/>
          <p:nvPr/>
        </p:nvSpPr>
        <p:spPr>
          <a:xfrm>
            <a:off x="3419475" y="4552950"/>
            <a:ext cx="1352550" cy="676275"/>
          </a:xfrm>
          <a:prstGeom prst="roundRect">
            <a:avLst>
              <a:gd name="adj" fmla="val 7042"/>
            </a:avLst>
          </a:prstGeom>
        </p:spPr>
        <p:txBody>
          <a:bodyPr/>
          <a:p/>
        </p:txBody>
      </p:sp>
      <p:sp>
        <p:nvSpPr>
          <p:cNvPr id="323" name="任意多边形 322"/>
          <p:cNvSpPr/>
          <p:nvPr/>
        </p:nvSpPr>
        <p:spPr>
          <a:xfrm>
            <a:off x="3419475" y="4552950"/>
            <a:ext cx="1352550" cy="676275"/>
          </a:xfrm>
          <a:custGeom>
            <a:avLst/>
            <a:gdLst/>
            <a:ahLst/>
            <a:cxnLst/>
            <a:pathLst>
              <a:path w="142" h="71">
                <a:moveTo>
                  <a:pt x="137" y="0"/>
                </a:moveTo>
                <a:cubicBezTo>
                  <a:pt x="140" y="0"/>
                  <a:pt x="142" y="2"/>
                  <a:pt x="142" y="4"/>
                </a:cubicBezTo>
                <a:cubicBezTo>
                  <a:pt x="142" y="4"/>
                  <a:pt x="141" y="3"/>
                  <a:pt x="140" y="3"/>
                </a:cubicBezTo>
                <a:lnTo>
                  <a:pt x="2" y="3"/>
                </a:lnTo>
                <a:cubicBezTo>
                  <a:pt x="1" y="3"/>
                  <a:pt x="0" y="4"/>
                  <a:pt x="0" y="5"/>
                </a:cubicBezTo>
                <a:cubicBezTo>
                  <a:pt x="0" y="2"/>
                  <a:pt x="2" y="0"/>
                  <a:pt x="5" y="0"/>
                </a:cubicBezTo>
                <a:lnTo>
                  <a:pt x="137" y="0"/>
                </a:lnTo>
                <a:close/>
              </a:path>
            </a:pathLst>
          </a:custGeom>
          <a:solidFill>
            <a:srgbClr val="80C242"/>
          </a:solidFill>
        </p:spPr>
        <p:txBody>
          <a:bodyPr/>
          <a:p/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3848100" y="464820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安全风险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4029075" y="4800600"/>
            <a:ext cx="1428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E7D32"/>
                </a:solidFill>
                <a:latin typeface="Arial" panose="020B0604020202020204"/>
                <a:ea typeface="Arial" panose="020B0604020202020204"/>
              </a:rPr>
              <a:t>4</a:t>
            </a:r>
            <a:endParaRPr lang="en-US" sz="1950" b="1">
              <a:solidFill>
                <a:srgbClr val="2E7D32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26" name="圆角矩形 325"/>
          <p:cNvSpPr/>
          <p:nvPr/>
        </p:nvSpPr>
        <p:spPr>
          <a:xfrm>
            <a:off x="4867275" y="4552950"/>
            <a:ext cx="1343025" cy="676275"/>
          </a:xfrm>
          <a:prstGeom prst="roundRect">
            <a:avLst>
              <a:gd name="adj" fmla="val 7042"/>
            </a:avLst>
          </a:prstGeom>
        </p:spPr>
        <p:txBody>
          <a:bodyPr/>
          <a:p/>
        </p:txBody>
      </p:sp>
      <p:sp>
        <p:nvSpPr>
          <p:cNvPr id="327" name="任意多边形 326"/>
          <p:cNvSpPr/>
          <p:nvPr/>
        </p:nvSpPr>
        <p:spPr>
          <a:xfrm>
            <a:off x="4867275" y="4552950"/>
            <a:ext cx="1343025" cy="676275"/>
          </a:xfrm>
          <a:custGeom>
            <a:avLst/>
            <a:gdLst/>
            <a:ahLst/>
            <a:cxnLst/>
            <a:pathLst>
              <a:path w="141" h="71">
                <a:moveTo>
                  <a:pt x="136" y="0"/>
                </a:moveTo>
                <a:cubicBezTo>
                  <a:pt x="139" y="0"/>
                  <a:pt x="141" y="2"/>
                  <a:pt x="141" y="4"/>
                </a:cubicBezTo>
                <a:cubicBezTo>
                  <a:pt x="141" y="4"/>
                  <a:pt x="140" y="3"/>
                  <a:pt x="139" y="3"/>
                </a:cubicBezTo>
                <a:lnTo>
                  <a:pt x="2" y="3"/>
                </a:lnTo>
                <a:cubicBezTo>
                  <a:pt x="1" y="3"/>
                  <a:pt x="0" y="4"/>
                  <a:pt x="0" y="5"/>
                </a:cubicBezTo>
                <a:cubicBezTo>
                  <a:pt x="0" y="2"/>
                  <a:pt x="2" y="0"/>
                  <a:pt x="5" y="0"/>
                </a:cubicBezTo>
                <a:lnTo>
                  <a:pt x="136" y="0"/>
                </a:lnTo>
                <a:close/>
              </a:path>
            </a:pathLst>
          </a:custGeom>
          <a:solidFill>
            <a:srgbClr val="78AAF5"/>
          </a:solidFill>
        </p:spPr>
        <p:txBody>
          <a:bodyPr/>
          <a:p/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5295900" y="464820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人才门槛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5467350" y="4800600"/>
            <a:ext cx="1428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5377D"/>
                </a:solidFill>
                <a:latin typeface="Arial" panose="020B0604020202020204"/>
                <a:ea typeface="Arial" panose="020B0604020202020204"/>
              </a:rPr>
              <a:t>3</a:t>
            </a:r>
            <a:endParaRPr lang="en-US" sz="1950" b="1">
              <a:solidFill>
                <a:srgbClr val="05377D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6457950" y="1285875"/>
            <a:ext cx="52006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五类主要风险（按概率</a:t>
            </a:r>
            <a:r>
              <a:rPr lang="en-US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影响）</a:t>
            </a:r>
            <a:endParaRPr lang="zh-CN" sz="1275" b="1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1" name="圆角矩形 330"/>
          <p:cNvSpPr/>
          <p:nvPr/>
        </p:nvSpPr>
        <p:spPr>
          <a:xfrm>
            <a:off x="6457950" y="1600200"/>
            <a:ext cx="5200650" cy="647700"/>
          </a:xfrm>
          <a:prstGeom prst="roundRect">
            <a:avLst>
              <a:gd name="adj" fmla="val 7353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6610350" y="1743075"/>
            <a:ext cx="3409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数据出境合规风险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3" name="圆角矩形 332"/>
          <p:cNvSpPr/>
          <p:nvPr/>
        </p:nvSpPr>
        <p:spPr>
          <a:xfrm>
            <a:off x="10134600" y="1733550"/>
            <a:ext cx="628650" cy="180975"/>
          </a:xfrm>
          <a:prstGeom prst="roundRect">
            <a:avLst>
              <a:gd name="adj" fmla="val 57895"/>
            </a:avLst>
          </a:prstGeom>
          <a:solidFill>
            <a:srgbClr val="FFF8EC"/>
          </a:solidFill>
          <a:ln w="12700">
            <a:solidFill>
              <a:srgbClr val="FBAF16"/>
            </a:solidFill>
            <a:prstDash val="solid"/>
          </a:ln>
        </p:spPr>
        <p:txBody>
          <a:bodyPr/>
          <a:p/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10277475" y="1752600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15C00"/>
                </a:solidFill>
                <a:latin typeface="微软雅黑" panose="020B0503020204020204" charset="-122"/>
                <a:ea typeface="微软雅黑" panose="020B0503020204020204" charset="-122"/>
              </a:rPr>
              <a:t>概率中</a:t>
            </a:r>
            <a:endParaRPr lang="zh-CN" sz="900">
              <a:solidFill>
                <a:srgbClr val="A15C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圆角矩形 334"/>
          <p:cNvSpPr/>
          <p:nvPr/>
        </p:nvSpPr>
        <p:spPr>
          <a:xfrm>
            <a:off x="10877550" y="1733550"/>
            <a:ext cx="628650" cy="180975"/>
          </a:xfrm>
          <a:prstGeom prst="roundRect">
            <a:avLst>
              <a:gd name="adj" fmla="val 57895"/>
            </a:avLst>
          </a:prstGeom>
          <a:solidFill>
            <a:srgbClr val="FDF3F3"/>
          </a:solidFill>
          <a:ln w="12700">
            <a:solidFill>
              <a:srgbClr val="E60000"/>
            </a:solidFill>
            <a:prstDash val="solid"/>
          </a:ln>
        </p:spPr>
        <p:txBody>
          <a:bodyPr/>
          <a:p/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11020425" y="1752600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60000"/>
                </a:solidFill>
                <a:latin typeface="微软雅黑" panose="020B0503020204020204" charset="-122"/>
                <a:ea typeface="微软雅黑" panose="020B0503020204020204" charset="-122"/>
              </a:rPr>
              <a:t>影响高</a:t>
            </a:r>
            <a:endParaRPr lang="zh-CN" sz="900">
              <a:solidFill>
                <a:srgbClr val="E6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6610350" y="1971675"/>
            <a:ext cx="48958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应对：优先国产替代；出境前完成安全评估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" name="圆角矩形 337"/>
          <p:cNvSpPr/>
          <p:nvPr/>
        </p:nvSpPr>
        <p:spPr>
          <a:xfrm>
            <a:off x="6457950" y="2343150"/>
            <a:ext cx="5200650" cy="647700"/>
          </a:xfrm>
          <a:prstGeom prst="roundRect">
            <a:avLst>
              <a:gd name="adj" fmla="val 7353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6610350" y="2486025"/>
            <a:ext cx="3409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模型可解释性不足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" name="圆角矩形 339"/>
          <p:cNvSpPr/>
          <p:nvPr/>
        </p:nvSpPr>
        <p:spPr>
          <a:xfrm>
            <a:off x="10134600" y="2476500"/>
            <a:ext cx="628650" cy="180975"/>
          </a:xfrm>
          <a:prstGeom prst="roundRect">
            <a:avLst>
              <a:gd name="adj" fmla="val 57895"/>
            </a:avLst>
          </a:prstGeom>
          <a:solidFill>
            <a:srgbClr val="FDF3F3"/>
          </a:solidFill>
          <a:ln w="12700">
            <a:solidFill>
              <a:srgbClr val="E60000"/>
            </a:solidFill>
            <a:prstDash val="solid"/>
          </a:ln>
        </p:spPr>
        <p:txBody>
          <a:bodyPr/>
          <a:p/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10277475" y="2495550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60000"/>
                </a:solidFill>
                <a:latin typeface="微软雅黑" panose="020B0503020204020204" charset="-122"/>
                <a:ea typeface="微软雅黑" panose="020B0503020204020204" charset="-122"/>
              </a:rPr>
              <a:t>概率高</a:t>
            </a:r>
            <a:endParaRPr lang="zh-CN" sz="900">
              <a:solidFill>
                <a:srgbClr val="E6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圆角矩形 341"/>
          <p:cNvSpPr/>
          <p:nvPr/>
        </p:nvSpPr>
        <p:spPr>
          <a:xfrm>
            <a:off x="10877550" y="2476500"/>
            <a:ext cx="628650" cy="180975"/>
          </a:xfrm>
          <a:prstGeom prst="roundRect">
            <a:avLst>
              <a:gd name="adj" fmla="val 57895"/>
            </a:avLst>
          </a:prstGeom>
          <a:solidFill>
            <a:srgbClr val="FFF8EC"/>
          </a:solidFill>
          <a:ln w="12700">
            <a:solidFill>
              <a:srgbClr val="FBAF16"/>
            </a:solidFill>
            <a:prstDash val="solid"/>
          </a:ln>
        </p:spPr>
        <p:txBody>
          <a:bodyPr/>
          <a:p/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11020425" y="2495550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15C00"/>
                </a:solidFill>
                <a:latin typeface="微软雅黑" panose="020B0503020204020204" charset="-122"/>
                <a:ea typeface="微软雅黑" panose="020B0503020204020204" charset="-122"/>
              </a:rPr>
              <a:t>影响中</a:t>
            </a:r>
            <a:endParaRPr lang="zh-CN" sz="900">
              <a:solidFill>
                <a:srgbClr val="A15C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6610350" y="2714625"/>
            <a:ext cx="48958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应对：引入可解释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框架；保留决策日志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5" name="圆角矩形 344"/>
          <p:cNvSpPr/>
          <p:nvPr/>
        </p:nvSpPr>
        <p:spPr>
          <a:xfrm>
            <a:off x="6457950" y="3086100"/>
            <a:ext cx="5200650" cy="647700"/>
          </a:xfrm>
          <a:prstGeom prst="roundRect">
            <a:avLst>
              <a:gd name="adj" fmla="val 7353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6610350" y="3228975"/>
            <a:ext cx="3409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供应商锁定风险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圆角矩形 346"/>
          <p:cNvSpPr/>
          <p:nvPr/>
        </p:nvSpPr>
        <p:spPr>
          <a:xfrm>
            <a:off x="10134600" y="3219450"/>
            <a:ext cx="628650" cy="180975"/>
          </a:xfrm>
          <a:prstGeom prst="roundRect">
            <a:avLst>
              <a:gd name="adj" fmla="val 57895"/>
            </a:avLst>
          </a:prstGeom>
          <a:solidFill>
            <a:srgbClr val="FFF8EC"/>
          </a:solidFill>
          <a:ln w="12700">
            <a:solidFill>
              <a:srgbClr val="FBAF16"/>
            </a:solidFill>
            <a:prstDash val="solid"/>
          </a:ln>
        </p:spPr>
        <p:txBody>
          <a:bodyPr/>
          <a:p/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10277475" y="3238500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15C00"/>
                </a:solidFill>
                <a:latin typeface="微软雅黑" panose="020B0503020204020204" charset="-122"/>
                <a:ea typeface="微软雅黑" panose="020B0503020204020204" charset="-122"/>
              </a:rPr>
              <a:t>概率中</a:t>
            </a:r>
            <a:endParaRPr lang="zh-CN" sz="900">
              <a:solidFill>
                <a:srgbClr val="A15C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9" name="圆角矩形 348"/>
          <p:cNvSpPr/>
          <p:nvPr/>
        </p:nvSpPr>
        <p:spPr>
          <a:xfrm>
            <a:off x="10877550" y="3219450"/>
            <a:ext cx="628650" cy="180975"/>
          </a:xfrm>
          <a:prstGeom prst="roundRect">
            <a:avLst>
              <a:gd name="adj" fmla="val 57895"/>
            </a:avLst>
          </a:prstGeom>
          <a:solidFill>
            <a:srgbClr val="FFF8EC"/>
          </a:solidFill>
          <a:ln w="12700">
            <a:solidFill>
              <a:srgbClr val="FBAF16"/>
            </a:solidFill>
            <a:prstDash val="solid"/>
          </a:ln>
        </p:spPr>
        <p:txBody>
          <a:bodyPr/>
          <a:p/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11020425" y="3238500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15C00"/>
                </a:solidFill>
                <a:latin typeface="微软雅黑" panose="020B0503020204020204" charset="-122"/>
                <a:ea typeface="微软雅黑" panose="020B0503020204020204" charset="-122"/>
              </a:rPr>
              <a:t>影响中</a:t>
            </a:r>
            <a:endParaRPr lang="zh-CN" sz="900">
              <a:solidFill>
                <a:srgbClr val="A15C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6610350" y="3457575"/>
            <a:ext cx="48958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应对：采用开放标准；保留迁移能力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圆角矩形 351"/>
          <p:cNvSpPr/>
          <p:nvPr/>
        </p:nvSpPr>
        <p:spPr>
          <a:xfrm>
            <a:off x="6457950" y="3829050"/>
            <a:ext cx="5200650" cy="647700"/>
          </a:xfrm>
          <a:prstGeom prst="roundRect">
            <a:avLst>
              <a:gd name="adj" fmla="val 7353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6610350" y="3971925"/>
            <a:ext cx="3409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人才短缺风险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4" name="圆角矩形 353"/>
          <p:cNvSpPr/>
          <p:nvPr/>
        </p:nvSpPr>
        <p:spPr>
          <a:xfrm>
            <a:off x="10134600" y="3962400"/>
            <a:ext cx="628650" cy="180975"/>
          </a:xfrm>
          <a:prstGeom prst="roundRect">
            <a:avLst>
              <a:gd name="adj" fmla="val 57895"/>
            </a:avLst>
          </a:prstGeom>
          <a:solidFill>
            <a:srgbClr val="FDF3F3"/>
          </a:solidFill>
          <a:ln w="12700">
            <a:solidFill>
              <a:srgbClr val="E60000"/>
            </a:solidFill>
            <a:prstDash val="solid"/>
          </a:ln>
        </p:spPr>
        <p:txBody>
          <a:bodyPr/>
          <a:p/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10277475" y="3981450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60000"/>
                </a:solidFill>
                <a:latin typeface="微软雅黑" panose="020B0503020204020204" charset="-122"/>
                <a:ea typeface="微软雅黑" panose="020B0503020204020204" charset="-122"/>
              </a:rPr>
              <a:t>概率高</a:t>
            </a:r>
            <a:endParaRPr lang="zh-CN" sz="900">
              <a:solidFill>
                <a:srgbClr val="E6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6" name="圆角矩形 355"/>
          <p:cNvSpPr/>
          <p:nvPr/>
        </p:nvSpPr>
        <p:spPr>
          <a:xfrm>
            <a:off x="10877550" y="3962400"/>
            <a:ext cx="628650" cy="180975"/>
          </a:xfrm>
          <a:prstGeom prst="roundRect">
            <a:avLst>
              <a:gd name="adj" fmla="val 57895"/>
            </a:avLst>
          </a:prstGeom>
          <a:solidFill>
            <a:srgbClr val="FFF8EC"/>
          </a:solidFill>
          <a:ln w="12700">
            <a:solidFill>
              <a:srgbClr val="FBAF16"/>
            </a:solidFill>
            <a:prstDash val="solid"/>
          </a:ln>
        </p:spPr>
        <p:txBody>
          <a:bodyPr/>
          <a:p/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11020425" y="3981450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15C00"/>
                </a:solidFill>
                <a:latin typeface="微软雅黑" panose="020B0503020204020204" charset="-122"/>
                <a:ea typeface="微软雅黑" panose="020B0503020204020204" charset="-122"/>
              </a:rPr>
              <a:t>影响中</a:t>
            </a:r>
            <a:endParaRPr lang="zh-CN" sz="900">
              <a:solidFill>
                <a:srgbClr val="A15C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6610350" y="4200525"/>
            <a:ext cx="48958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应对：内部培训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外部引进双轨并行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9" name="圆角矩形 358"/>
          <p:cNvSpPr/>
          <p:nvPr/>
        </p:nvSpPr>
        <p:spPr>
          <a:xfrm>
            <a:off x="6457950" y="4572000"/>
            <a:ext cx="5200650" cy="647700"/>
          </a:xfrm>
          <a:prstGeom prst="roundRect">
            <a:avLst>
              <a:gd name="adj" fmla="val 7353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6610350" y="4714875"/>
            <a:ext cx="3409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安全攻击面扩大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圆角矩形 360"/>
          <p:cNvSpPr/>
          <p:nvPr/>
        </p:nvSpPr>
        <p:spPr>
          <a:xfrm>
            <a:off x="10134600" y="4705350"/>
            <a:ext cx="628650" cy="180975"/>
          </a:xfrm>
          <a:prstGeom prst="roundRect">
            <a:avLst>
              <a:gd name="adj" fmla="val 57895"/>
            </a:avLst>
          </a:prstGeom>
          <a:solidFill>
            <a:srgbClr val="FFF8EC"/>
          </a:solidFill>
          <a:ln w="12700">
            <a:solidFill>
              <a:srgbClr val="FBAF16"/>
            </a:solidFill>
            <a:prstDash val="solid"/>
          </a:ln>
        </p:spPr>
        <p:txBody>
          <a:bodyPr/>
          <a:p/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10277475" y="4724400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15C00"/>
                </a:solidFill>
                <a:latin typeface="微软雅黑" panose="020B0503020204020204" charset="-122"/>
                <a:ea typeface="微软雅黑" panose="020B0503020204020204" charset="-122"/>
              </a:rPr>
              <a:t>概率中</a:t>
            </a:r>
            <a:endParaRPr lang="zh-CN" sz="900">
              <a:solidFill>
                <a:srgbClr val="A15C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3" name="圆角矩形 362"/>
          <p:cNvSpPr/>
          <p:nvPr/>
        </p:nvSpPr>
        <p:spPr>
          <a:xfrm>
            <a:off x="10877550" y="4705350"/>
            <a:ext cx="628650" cy="180975"/>
          </a:xfrm>
          <a:prstGeom prst="roundRect">
            <a:avLst>
              <a:gd name="adj" fmla="val 57895"/>
            </a:avLst>
          </a:prstGeom>
          <a:solidFill>
            <a:srgbClr val="FDF3F3"/>
          </a:solidFill>
          <a:ln w="12700">
            <a:solidFill>
              <a:srgbClr val="E60000"/>
            </a:solidFill>
            <a:prstDash val="solid"/>
          </a:ln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11020425" y="4724400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60000"/>
                </a:solidFill>
                <a:latin typeface="微软雅黑" panose="020B0503020204020204" charset="-122"/>
                <a:ea typeface="微软雅黑" panose="020B0503020204020204" charset="-122"/>
              </a:rPr>
              <a:t>影响高</a:t>
            </a:r>
            <a:endParaRPr lang="zh-CN" sz="900">
              <a:solidFill>
                <a:srgbClr val="E6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6610350" y="4943475"/>
            <a:ext cx="48958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应对：完善数据脱敏与访问控制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6" name="任意多边形 365"/>
          <p:cNvSpPr/>
          <p:nvPr/>
        </p:nvSpPr>
        <p:spPr>
          <a:xfrm>
            <a:off x="533400" y="6419850"/>
            <a:ext cx="11125200" cy="257175"/>
          </a:xfrm>
          <a:custGeom>
            <a:avLst/>
            <a:gdLst/>
            <a:ahLst/>
            <a:cxnLst/>
            <a:pathLst>
              <a:path w="1168" h="27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</p:spPr>
        <p:txBody>
          <a:bodyPr/>
          <a:p/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11506200" y="6505575"/>
            <a:ext cx="152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08</a:t>
            </a:r>
            <a:endParaRPr lang="en-US" sz="105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9" name="" descr="&lt;Slide&gt;&#13;&#10;  &lt;Image src=&quot;assets/bg_content.png&quot; style={{ position: 'absolute', left: 0, top: 0, width: 1280, height: 720, objectFit: 'fill', zIndex: -1 }} /&gt;&#13;&#10;  &lt;Box style={{ width: 1280, height: 720, padding: '34px 56px 20px 56px', boxSizing: 'border-box', display: 'flex', flexDirection: 'column' }}&gt;&#13;&#10;    &lt;Text style={{ fontSize: 15, color: '#0850B4', fontFamily: 'Microsoft YaHei, sans-serif', letterSpacing: 1 }}&gt;06 · 市场格局与竞争生态&lt;/Text&gt;&#13;&#10;    &lt;Text style={{ fontSize: 30, color: '#0A1950', fontWeight: 'bold', fontFamily: 'Microsoft YaHei, sans-serif', marginTop: 6, lineHeight: 1.25 }}&gt;&#13;&#10;      市场十年增近五倍、BFSI 为最大客群；Gartner 首版 MQ 确立厂商格局&#13;&#10;    &lt;/Text&gt;&#13;&#10;    &lt;Box style={{ width: 64, height: 4, background: '#0A1950', borderRadius: 2, marginTop: 10, marginBottom: 18 }} /&gt;&#13;&#10;&#13;&#10;    &lt;Box style={{ display: 'flex', flexDirection: 'row', gap: 26, height: 500 }}&gt;&#13;&#10;      &lt;Box style={{ width: 500, display: 'flex', flexDirection: 'column' }}&gt;&#13;&#10;        &lt;Box style={{ border: '1px solid #E7E6E6', borderRadius: 6, padding: 8, boxSizing: 'border-box' }}&gt;&#13;&#10;          &lt;Image src=&quot;assets/image9.jpeg&quot; style={{ width: 482, height: 396, objectFit: 'contain' }} /&gt;&#13;&#10;        &lt;/Box&gt;&#13;&#10;        &lt;Text style={{ fontSize: 13, color: '#595959', fontFamily: 'Microsoft YaHei, sans-serif', lineHeight: 1.5, marginTop: 10 }}&gt;&#13;&#10;          图6-1 Gartner Magic Quadrant for Decision Intelligence Platforms（As of Dec. 2025，© Gartner）&#13;&#10;        &lt;/Text&gt;&#13;&#10;        &lt;Text style={{ fontSize: 13, color: '#414141', fontFamily: 'Microsoft YaHei, sans-serif', lineHeight: 1.55, marginTop: 8 }}&gt;&#13;&#10;          首版共收录 &lt;span style={{ color: '#0A1950', fontWeight: 'bold' }}&gt;17 家&lt;/span&gt;厂商；领导者象限为 FICO、Aera、SAS、IBM、ACTICO、Quantexa。&#13;&#10;        &lt;/Text&gt;&#13;&#10;      &lt;/Box&gt;&#13;&#10;&#13;&#10;      &lt;Box style={{ width: 616, display: 'flex', flexDirection: 'column' }}&gt;&#13;&#10;        &lt;Text style={{ fontSize: 17, color: '#0850B4', fontWeight: 'bold', fontFamily: 'Microsoft YaHei, sans-serif', marginBottom: 10 }}&gt;市场规模与行业结构&lt;/Text&gt;&#13;&#10;        &lt;Box style={{ display: 'flex', flexDirection: 'row', gap: 10, marginBottom: 18 }}&gt;&#13;&#10;          &lt;Box style={{ flex: 1, background: '#F7F9FC', borderRadius: 5, padding: '10px 12px', boxSizing: 'border-box' }}&gt;&#13;&#10;            &lt;Text style={{ fontSize: 20, color: '#E60000', fontWeight: 'bold', fontFamily: 'Arial, sans-serif' }}&gt;170 → 889.8&lt;/Text&gt;&#13;&#10;            &lt;Text style={{ fontSize: 12, color: '#595959', fontFamily: 'Microsoft YaHei, sans-serif', marginTop: 2 }}&gt;亿美元（2025 → 2035）&lt;/Text&gt;&#13;&#10;          &lt;/Box&gt;&#13;&#10;          &lt;Box style={{ flex: 1, background: '#F7F9FC', borderRadius: 5, padding: '10px 12px', boxSizing: 'border-box' }}&gt;&#13;&#10;            &lt;Text style={{ fontSize: 20, color: '#0A1950', fontWeight: 'bold', fontFamily: 'Arial, sans-serif' }}&gt;18.0%&lt;/Text&gt;&#13;&#10;            &lt;Text style={{ fontSize: 12, color: '#595959', fontFamily: 'Microsoft YaHei, sans-serif', marginTop: 2 }}&gt;复合年增长率 CAGR&lt;/Text&gt;&#13;&#10;          &lt;/Box&gt;&#13;&#10;          &lt;Box style={{ flex: 1, background: '#F7F9FC', borderRadius: 5, padding: '10px 12px', boxSizing: 'border-box' }}&gt;&#13;&#10;            &lt;Text style={{ fontSize: 20, color: '#0A1950', fontWeight: 'bold', fontFamily: 'Arial, sans-serif' }}&gt;24% / 46.2%&lt;/Text&gt;&#13;&#10;            &lt;Text style={{ fontSize: 12, color: '#595959', fontFamily: 'Microsoft YaHei, sans-serif', marginTop: 2 }}&gt;BFSI 份额 / 北美占比&lt;/Text&gt;&#13;&#10;          &lt;/Box&gt;&#13;&#10;        &lt;/Box&gt;&#13;&#10;&#13;&#10;        &lt;Text style={{ fontSize: 17, color: '#0850B4', fontWeight: 'bold', fontFamily: 'Microsoft YaHei, sans-serif', marginBottom: 10 }}&gt;波特五力 · 竞争结构&lt;/Text&gt;&#13;&#10;        &lt;Box style={{ display: 'flex', flexDirection: 'row', justifyContent: 'space-between', alignItems: 'center', background: '#F7F9FC', borderRadius: 5, padding: '9px 14px', boxSizing: 'border-box', marginBottom: 8 }}&gt;&#13;&#10;          &lt;Text style={{ fontSize: 14, color: '#414141', fontFamily: 'Microsoft YaHei, sans-serif' }}&gt;行业内竞争强度&lt;/Text&gt;&#13;&#10;          &lt;Text style={{ fontSize: 14, color: '#E60000', fontWeight: 'bold', fontFamily: 'Microsoft YaHei, sans-serif' }}&gt;高&lt;/Text&gt;&#13;&#10;        &lt;/Box&gt;&#13;&#10;        &lt;Box style={{ display: 'flex', flexDirection: 'row', justifyContent: 'space-between', alignItems: 'center', background: '#F7F9FC', borderRadius: 5, padding: '9px 14px', boxSizing: 'border-box', marginBottom: 8 }}&gt;&#13;&#10;          &lt;Text style={{ fontSize: 14, color: '#414141', fontFamily: 'Microsoft YaHei, sans-serif' }}&gt;购买者议价能力&lt;/Text&gt;&#13;&#10;          &lt;Text style={{ fontSize: 14, color: '#A15C00', fontWeight: 'bold', fontFamily: 'Microsoft YaHei, sans-serif' }}&gt;中等偏高&lt;/Text&gt;&#13;&#10;        &lt;/Box&gt;&#13;&#10;        &lt;Box style={{ display: 'flex', flexDirection: 'row', justifyContent: 'space-between', alignItems: 'center', background: '#F7F9FC', borderRadius: 5, padding: '9px 14px', boxSizing: 'border-box', marginBottom: 8 }}&gt;&#13;&#10;          &lt;Text style={{ fontSize: 14, color: '#414141', fontFamily: 'Microsoft YaHei, sans-serif' }}&gt;供应商议价能力&lt;/Text&gt;&#13;&#10;          &lt;Text style={{ fontSize: 14, color: '#05377D', fontWeight: 'bold', fontFamily: 'Microsoft YaHei, sans-serif' }}&gt;中等&lt;/Text&gt;&#13;&#10;        &lt;/Box&gt;&#13;&#10;        &lt;Box style={{ display: 'flex', flexDirection: 'row', justifyContent: 'space-between', alignItems: 'center', background: '#F7F9FC', borderRadius: 5, padding: '9px 14px', boxSizing: 'border-box', marginBottom: 8 }}&gt;&#13;&#10;          &lt;Text style={{ fontSize: 14, color: '#414141', fontFamily: 'Microsoft YaHei, sans-serif' }}&gt;潜在进入者威胁&lt;/Text&gt;&#13;&#10;          &lt;Text style={{ fontSize: 14, color: '#05377D', fontWeight: 'bold', fontFamily: 'Microsoft YaHei, sans-serif' }}&gt;中等&lt;/Text&gt;&#13;&#10;        &lt;/Box&gt;&#13;&#10;        &lt;Box style={{ display: 'flex', flexDirection: 'row', justifyContent: 'space-between', alignItems: 'center', background: '#F7F9FC', borderRadius: 5, padding: '9px 14px', boxSizing: 'border-box', marginBottom: 16 }}&gt;&#13;&#10;          &lt;Text style={{ fontSize: 14, color: '#414141', fontFamily: 'Microsoft YaHei, sans-serif' }}&gt;替代品威胁&lt;/Text&gt;&#13;&#10;          &lt;Text style={{ fontSize: 14, color: '#2E7D32', fontWeight: 'bold', fontFamily: 'Microsoft YaHei, sans-serif' }}&gt;低&lt;/Text&gt;&#13;&#10;        &lt;/Box&gt;&#13;&#10;&#13;&#10;        &lt;Box style={{ background: '#0A1950', borderRadius: 6, padding: '12px 16px', boxSizing: 'border-box', display: 'flex', flexDirection: 'row', alignItems: 'center', gap: 14 }}&gt;&#13;&#10;          &lt;Text style={{ fontSize: 15, color: '#FBAF16', fontWeight: 'bold', fontFamily: 'Microsoft YaHei, sans-serif' }}&gt;生态开放度 3 分&lt;/Text&gt;&#13;&#10;          &lt;Text style={{ fontSize: 13, color: '#FFFFFF', fontFamily: 'Microsoft YaHei, sans-serif', lineHeight: 1.5 }}&gt;开源组件 + 专有引擎并存；信创适配逐步推进，可&quot;开放组件 + 保留迁移能力&quot;降低锁定&lt;/Text&gt;&#13;&#10;        &lt;/Box&gt;&#13;&#10;      &lt;/Box&gt;&#13;&#10;    &lt;/Box&gt;&#13;&#10;&#13;&#10;    &lt;Box style={{ display: 'flex', justifyContent: 'space-between', alignItems: 'center', marginTop: 'auto', paddingTop: 8, borderTop: '1px solid rgba(255,255,255,0.3)' }}&gt;&#13;&#10;      &lt;Text style={{ fontSize: 14, color: '#FFFFFF', fontFamily: 'Arial Unicode MS, Arial, sans-serif' }}&gt;Source: Gartner Magic Quadrant for DIP (Jan. 2026); SNS Insider; 本报告第六章&lt;/Text&gt;&#13;&#10;      &lt;Text style={{ fontSize: 14, color: '#FFFFFF', fontFamily: 'Arial, sans-serif' }}&gt;08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图片 36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533400" y="323850"/>
            <a:ext cx="11125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06 · </a:t>
            </a:r>
            <a:r>
              <a:rPr lang="zh-CN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市场格局与竞争生态</a:t>
            </a:r>
            <a:endParaRPr lang="zh-CN" sz="1125" spc="75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533400" y="552450"/>
            <a:ext cx="111252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市场十年增近五倍、</a:t>
            </a: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BFSI 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为最大客群；</a:t>
            </a: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Gartner 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首版</a:t>
            </a: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 MQ 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确立厂商格局</a:t>
            </a:r>
            <a:endParaRPr lang="zh-CN" sz="22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533400" y="107632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374" name="圆角矩形 373"/>
          <p:cNvSpPr/>
          <p:nvPr/>
        </p:nvSpPr>
        <p:spPr>
          <a:xfrm>
            <a:off x="533400" y="1285875"/>
            <a:ext cx="4762500" cy="3924300"/>
          </a:xfrm>
          <a:prstGeom prst="roundRect">
            <a:avLst>
              <a:gd name="adj" fmla="val 1456"/>
            </a:avLst>
          </a:prstGeom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pic>
        <p:nvPicPr>
          <p:cNvPr id="375" name="图片 374"/>
          <p:cNvPicPr>
            <a:picLocks noChangeAspect="1"/>
          </p:cNvPicPr>
          <p:nvPr/>
        </p:nvPicPr>
        <p:blipFill>
          <a:blip r:embed="rId2"/>
          <a:srcRect t="12880" b="12880"/>
          <a:stretch>
            <a:fillRect/>
          </a:stretch>
        </p:blipFill>
        <p:spPr>
          <a:xfrm>
            <a:off x="609600" y="1362075"/>
            <a:ext cx="4591050" cy="3771900"/>
          </a:xfrm>
          <a:prstGeom prst="rect">
            <a:avLst/>
          </a:prstGeom>
        </p:spPr>
      </p:pic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533400" y="5305425"/>
            <a:ext cx="47625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图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6-1 Gartner Magic Quadrant for Decision Intelligence Platforms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As of Dec. 2025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，©</a:t>
            </a:r>
            <a:r>
              <a:rPr lang="en-US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Gartner</a:t>
            </a:r>
            <a:r>
              <a:rPr lang="zh-CN" sz="975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533400" y="5829300"/>
            <a:ext cx="47625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首版共收录</a:t>
            </a: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17 </a:t>
            </a:r>
            <a:r>
              <a:rPr lang="zh-CN" sz="97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家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厂商；领导者象限为</a:t>
            </a: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FICO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Aera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SAS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IBM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ACTICO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Quantexa</a:t>
            </a:r>
            <a:r>
              <a:rPr lang="zh-CN" sz="975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5543550" y="1285875"/>
            <a:ext cx="58674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市场规模与行业结构</a:t>
            </a:r>
            <a:endParaRPr lang="zh-CN" sz="1275" b="1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9" name="圆角矩形 378"/>
          <p:cNvSpPr/>
          <p:nvPr/>
        </p:nvSpPr>
        <p:spPr>
          <a:xfrm>
            <a:off x="5543550" y="1581150"/>
            <a:ext cx="1895475" cy="581025"/>
          </a:xfrm>
          <a:prstGeom prst="roundRect">
            <a:avLst>
              <a:gd name="adj" fmla="val 8197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5657850" y="1676400"/>
            <a:ext cx="16668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60000"/>
                </a:solidFill>
                <a:latin typeface="Arial" panose="020B0604020202020204"/>
                <a:ea typeface="Arial" panose="020B0604020202020204"/>
              </a:rPr>
              <a:t>170 → 889.8</a:t>
            </a:r>
            <a:endParaRPr lang="en-US" sz="1500" b="1">
              <a:solidFill>
                <a:srgbClr val="E6000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5657850" y="1924050"/>
            <a:ext cx="16668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亿美元（</a:t>
            </a:r>
            <a:r>
              <a:rPr lang="en-US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2025 → 2035</a:t>
            </a:r>
            <a:r>
              <a:rPr lang="zh-CN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2" name="圆角矩形 381"/>
          <p:cNvSpPr/>
          <p:nvPr/>
        </p:nvSpPr>
        <p:spPr>
          <a:xfrm>
            <a:off x="7534275" y="1581150"/>
            <a:ext cx="1885950" cy="581025"/>
          </a:xfrm>
          <a:prstGeom prst="roundRect">
            <a:avLst>
              <a:gd name="adj" fmla="val 8197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7648575" y="1676400"/>
            <a:ext cx="16573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A1950"/>
                </a:solidFill>
                <a:latin typeface="Arial" panose="020B0604020202020204"/>
                <a:ea typeface="Arial" panose="020B0604020202020204"/>
              </a:rPr>
              <a:t>18.0%</a:t>
            </a:r>
            <a:endParaRPr lang="en-US" sz="1500" b="1">
              <a:solidFill>
                <a:srgbClr val="0A195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7648575" y="1924050"/>
            <a:ext cx="16573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复合年增长率</a:t>
            </a:r>
            <a:r>
              <a:rPr lang="en-US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CAGR</a:t>
            </a:r>
            <a:endParaRPr lang="en-US" sz="9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圆角矩形 384"/>
          <p:cNvSpPr/>
          <p:nvPr/>
        </p:nvSpPr>
        <p:spPr>
          <a:xfrm>
            <a:off x="9515475" y="1581150"/>
            <a:ext cx="1895475" cy="581025"/>
          </a:xfrm>
          <a:prstGeom prst="roundRect">
            <a:avLst>
              <a:gd name="adj" fmla="val 8197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386" name="文本框 385" descr="{&quot;isTemplate&quot;:true,&quot;type&quot;:&quot;text&quot;}"/>
          <p:cNvSpPr txBox="1"/>
          <p:nvPr/>
        </p:nvSpPr>
        <p:spPr>
          <a:xfrm>
            <a:off x="9629775" y="1676400"/>
            <a:ext cx="16668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A1950"/>
                </a:solidFill>
                <a:latin typeface="Arial" panose="020B0604020202020204"/>
                <a:ea typeface="Arial" panose="020B0604020202020204"/>
              </a:rPr>
              <a:t>24% / 46.2%</a:t>
            </a:r>
            <a:endParaRPr lang="en-US" sz="1500" b="1">
              <a:solidFill>
                <a:srgbClr val="0A195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9629775" y="1924050"/>
            <a:ext cx="16668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BFSI </a:t>
            </a:r>
            <a:r>
              <a:rPr lang="zh-CN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份额</a:t>
            </a:r>
            <a:r>
              <a:rPr lang="en-US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北美占比</a:t>
            </a:r>
            <a:endParaRPr lang="zh-CN" sz="90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5543550" y="2333625"/>
            <a:ext cx="58674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波特五力</a:t>
            </a:r>
            <a:r>
              <a:rPr lang="en-US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竞争结构</a:t>
            </a:r>
            <a:endParaRPr lang="zh-CN" sz="1275" b="1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圆角矩形 388"/>
          <p:cNvSpPr/>
          <p:nvPr/>
        </p:nvSpPr>
        <p:spPr>
          <a:xfrm>
            <a:off x="5543550" y="2628900"/>
            <a:ext cx="5867400" cy="333375"/>
          </a:xfrm>
          <a:prstGeom prst="roundRect">
            <a:avLst>
              <a:gd name="adj" fmla="val 14286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5676900" y="2714625"/>
            <a:ext cx="933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行业内竞争强度</a:t>
            </a:r>
            <a:endParaRPr lang="zh-CN" sz="105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1" name="文本框 390" descr="{&quot;isTemplate&quot;:true,&quot;type&quot;:&quot;text&quot;}"/>
          <p:cNvSpPr txBox="1"/>
          <p:nvPr/>
        </p:nvSpPr>
        <p:spPr>
          <a:xfrm>
            <a:off x="11144250" y="2714625"/>
            <a:ext cx="133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60000"/>
                </a:solidFill>
                <a:latin typeface="微软雅黑" panose="020B0503020204020204" charset="-122"/>
                <a:ea typeface="微软雅黑" panose="020B0503020204020204" charset="-122"/>
              </a:rPr>
              <a:t>高</a:t>
            </a:r>
            <a:endParaRPr lang="zh-CN" sz="1050" b="1">
              <a:solidFill>
                <a:srgbClr val="E6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2" name="圆角矩形 391"/>
          <p:cNvSpPr/>
          <p:nvPr/>
        </p:nvSpPr>
        <p:spPr>
          <a:xfrm>
            <a:off x="5543550" y="3038475"/>
            <a:ext cx="5867400" cy="333375"/>
          </a:xfrm>
          <a:prstGeom prst="roundRect">
            <a:avLst>
              <a:gd name="adj" fmla="val 14286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5676900" y="3124200"/>
            <a:ext cx="933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购买者议价能力</a:t>
            </a:r>
            <a:endParaRPr lang="zh-CN" sz="105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10744200" y="3124200"/>
            <a:ext cx="533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A15C00"/>
                </a:solidFill>
                <a:latin typeface="微软雅黑" panose="020B0503020204020204" charset="-122"/>
                <a:ea typeface="微软雅黑" panose="020B0503020204020204" charset="-122"/>
              </a:rPr>
              <a:t>中等偏高</a:t>
            </a:r>
            <a:endParaRPr lang="zh-CN" sz="1050" b="1">
              <a:solidFill>
                <a:srgbClr val="A15C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5" name="圆角矩形 394"/>
          <p:cNvSpPr/>
          <p:nvPr/>
        </p:nvSpPr>
        <p:spPr>
          <a:xfrm>
            <a:off x="5543550" y="3448050"/>
            <a:ext cx="5867400" cy="333375"/>
          </a:xfrm>
          <a:prstGeom prst="roundRect">
            <a:avLst>
              <a:gd name="adj" fmla="val 14286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5676900" y="3533775"/>
            <a:ext cx="933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供应商议价能力</a:t>
            </a:r>
            <a:endParaRPr lang="zh-CN" sz="105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11010900" y="3533775"/>
            <a:ext cx="2667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5377D"/>
                </a:solidFill>
                <a:latin typeface="微软雅黑" panose="020B0503020204020204" charset="-122"/>
                <a:ea typeface="微软雅黑" panose="020B0503020204020204" charset="-122"/>
              </a:rPr>
              <a:t>中等</a:t>
            </a:r>
            <a:endParaRPr lang="zh-CN" sz="1050" b="1">
              <a:solidFill>
                <a:srgbClr val="0537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8" name="圆角矩形 397"/>
          <p:cNvSpPr/>
          <p:nvPr/>
        </p:nvSpPr>
        <p:spPr>
          <a:xfrm>
            <a:off x="5543550" y="3857625"/>
            <a:ext cx="5867400" cy="333375"/>
          </a:xfrm>
          <a:prstGeom prst="roundRect">
            <a:avLst>
              <a:gd name="adj" fmla="val 14286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5676900" y="3943350"/>
            <a:ext cx="933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潜在进入者威胁</a:t>
            </a:r>
            <a:endParaRPr lang="zh-CN" sz="105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11010900" y="3943350"/>
            <a:ext cx="2667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5377D"/>
                </a:solidFill>
                <a:latin typeface="微软雅黑" panose="020B0503020204020204" charset="-122"/>
                <a:ea typeface="微软雅黑" panose="020B0503020204020204" charset="-122"/>
              </a:rPr>
              <a:t>中等</a:t>
            </a:r>
            <a:endParaRPr lang="zh-CN" sz="1050" b="1">
              <a:solidFill>
                <a:srgbClr val="0537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1" name="圆角矩形 400"/>
          <p:cNvSpPr/>
          <p:nvPr/>
        </p:nvSpPr>
        <p:spPr>
          <a:xfrm>
            <a:off x="5543550" y="4267200"/>
            <a:ext cx="5867400" cy="333375"/>
          </a:xfrm>
          <a:prstGeom prst="roundRect">
            <a:avLst>
              <a:gd name="adj" fmla="val 14286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402" name="文本框 401" descr="{&quot;isTemplate&quot;:true,&quot;type&quot;:&quot;text&quot;}"/>
          <p:cNvSpPr txBox="1"/>
          <p:nvPr/>
        </p:nvSpPr>
        <p:spPr>
          <a:xfrm>
            <a:off x="5676900" y="4352925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替代品威胁</a:t>
            </a:r>
            <a:endParaRPr lang="zh-CN" sz="105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3" name="文本框 402" descr="{&quot;isTemplate&quot;:true,&quot;type&quot;:&quot;text&quot;}"/>
          <p:cNvSpPr txBox="1"/>
          <p:nvPr/>
        </p:nvSpPr>
        <p:spPr>
          <a:xfrm>
            <a:off x="11144250" y="4352925"/>
            <a:ext cx="133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低</a:t>
            </a:r>
            <a:endParaRPr lang="zh-CN" sz="10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4" name="圆角矩形 403"/>
          <p:cNvSpPr/>
          <p:nvPr/>
        </p:nvSpPr>
        <p:spPr>
          <a:xfrm>
            <a:off x="5543550" y="4752975"/>
            <a:ext cx="6261100" cy="457200"/>
          </a:xfrm>
          <a:prstGeom prst="roundRect">
            <a:avLst>
              <a:gd name="adj" fmla="val 125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5695950" y="4895850"/>
            <a:ext cx="9715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F16"/>
                </a:solidFill>
                <a:latin typeface="微软雅黑" panose="020B0503020204020204" charset="-122"/>
                <a:ea typeface="微软雅黑" panose="020B0503020204020204" charset="-122"/>
              </a:rPr>
              <a:t>生态开放度</a:t>
            </a:r>
            <a:r>
              <a:rPr lang="en-US" sz="1125" b="1">
                <a:solidFill>
                  <a:srgbClr val="FBAF16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1125" b="1">
                <a:solidFill>
                  <a:srgbClr val="FBAF16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zh-CN" sz="1125" b="1">
              <a:solidFill>
                <a:srgbClr val="FBA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6800850" y="4867275"/>
            <a:ext cx="44577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开源组件</a:t>
            </a:r>
            <a:r>
              <a:rPr lang="en-US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专有引擎并存；信创适配逐步推进，可</a:t>
            </a:r>
            <a:r>
              <a:rPr lang="en-US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开放组件</a:t>
            </a:r>
            <a:r>
              <a:rPr lang="en-US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保留迁移能力</a:t>
            </a:r>
            <a:r>
              <a:rPr lang="en-US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降低锁定</a:t>
            </a:r>
            <a:endParaRPr lang="zh-CN" sz="9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7" name="任意多边形 406"/>
          <p:cNvSpPr/>
          <p:nvPr/>
        </p:nvSpPr>
        <p:spPr>
          <a:xfrm>
            <a:off x="533400" y="6419850"/>
            <a:ext cx="11125200" cy="257175"/>
          </a:xfrm>
          <a:custGeom>
            <a:avLst/>
            <a:gdLst/>
            <a:ahLst/>
            <a:cxnLst/>
            <a:pathLst>
              <a:path w="1168" h="27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</p:spPr>
        <p:txBody>
          <a:bodyPr/>
          <a:p/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533400" y="6505575"/>
            <a:ext cx="4762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Source: Gartner Magic Quadrant for DIP (Jan. 2026); SNS Insider; </a:t>
            </a:r>
            <a:r>
              <a:rPr lang="zh-CN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本报告第六章</a:t>
            </a:r>
            <a:endParaRPr lang="zh-CN" sz="1050">
              <a:solidFill>
                <a:srgbClr val="FFFFFF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11506200" y="6505575"/>
            <a:ext cx="152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09</a:t>
            </a:r>
            <a:endParaRPr lang="en-US" sz="105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0" name="" descr="&lt;Slide&gt;&#13;&#10;  &lt;Image src=&quot;assets/bg_content.png&quot; style={{ position: 'absolute', left: 0, top: 0, width: 1280, height: 720, objectFit: 'fill', zIndex: -1 }} /&gt;&#13;&#10;  &lt;Box style={{ width: 1280, height: 720, padding: '34px 56px 20px 56px', boxSizing: 'border-box', display: 'flex', flexDirection: 'column' }}&gt;&#13;&#10;    &lt;Text style={{ fontSize: 15, color: '#0850B4', fontFamily: 'Microsoft YaHei, sans-serif', letterSpacing: 1 }}&gt;07 · 战略定位与匹配度&lt;/Text&gt;&#13;&#10;    &lt;Text style={{ fontSize: 30, color: '#0A1950', fontWeight: 'bold', fontFamily: 'Microsoft YaHei, sans-serif', marginTop: 6, lineHeight: 1.25 }}&gt;&#13;&#10;      DIP 与我行数智化战略主线高度同向，战略匹配度 4 分&#13;&#10;    &lt;/Text&gt;&#13;&#10;    &lt;Box style={{ width: 64, height: 4, background: '#0A1950', borderRadius: 2, marginTop: 10, marginBottom: 18 }} /&gt;&#13;&#10;&#13;&#10;    &lt;Box style={{ display: 'flex', flexDirection: 'row', gap: 26, height: 400 }}&gt;&#13;&#10;      &lt;Box style={{ width: 596, display: 'flex', flexDirection: 'column' }}&gt;&#13;&#10;        &lt;Text style={{ fontSize: 17, color: '#0850B4', fontWeight: 'bold', fontFamily: 'Microsoft YaHei, sans-serif', marginBottom: 12 }}&gt;我行战略主线梳理&lt;/Text&gt;&#13;&#10;&#13;&#10;        &lt;Box style={{ display: 'flex', flexDirection: 'row', gap: 10, marginBottom: 13 }}&gt;&#13;&#10;          &lt;Box style={{ width: 6, height: 6, background: '#0A1950', borderRadius: 3, marginTop: 7, flexShrink: 0 }} /&gt;&#13;&#10;          &lt;Box style={{ display: 'flex', flexDirection: 'column', gap: 2 }}&gt;&#13;&#10;            &lt;Text style={{ fontSize: 15, color: '#0A1950', fontWeight: 'bold', fontFamily: 'Microsoft YaHei, sans-serif' }}&gt;数智化战略主线&lt;/Text&gt;&#13;&#10;            &lt;Text style={{ fontSize: 12.5, color: '#595959', fontFamily: 'Microsoft YaHei, sans-serif', lineHeight: 1.45 }}&gt;2024 起步 → 2025 提升 → 2026 全面深化，连续三年加码&lt;/Text&gt;&#13;&#10;          &lt;/Box&gt;&#13;&#10;        &lt;/Box&gt;&#13;&#10;&#13;&#10;        &lt;Box style={{ display: 'flex', flexDirection: 'row', gap: 10, marginBottom: 13 }}&gt;&#13;&#10;          &lt;Box style={{ width: 6, height: 6, background: '#0A1950', borderRadius: 3, marginTop: 7, flexShrink: 0 }} /&gt;&#13;&#10;          &lt;Box style={{ display: 'flex', flexDirection: 'column', gap: 2 }}&gt;&#13;&#10;            &lt;Text style={{ fontSize: 15, color: '#0A1950', fontWeight: 'bold', fontFamily: 'Microsoft YaHei, sans-serif' }}&gt;&quot;1-5-5-5-4-3-N&quot; 实施路径&lt;/Text&gt;&#13;&#10;            &lt;Text style={{ fontSize: 12.5, color: '#595959', fontFamily: 'Microsoft YaHei, sans-serif', lineHeight: 1.45 }}&gt;&quot;五数&quot;中的数字风控、数字运营，与&quot;大风控&quot;体系直接对应&lt;/Text&gt;&#13;&#10;          &lt;/Box&gt;&#13;&#10;        &lt;/Box&gt;&#13;&#10;&#13;&#10;        &lt;Box style={{ display: 'flex', flexDirection: 'row', gap: 10, marginBottom: 13 }}&gt;&#13;&#10;          &lt;Box style={{ width: 6, height: 6, background: '#0A1950', borderRadius: 3, marginTop: 7, flexShrink: 0 }} /&gt;&#13;&#10;          &lt;Box style={{ display: 'flex', flexDirection: 'column', gap: 2 }}&gt;&#13;&#10;            &lt;Text style={{ fontSize: 15, color: '#0A1950', fontWeight: 'bold', fontFamily: 'Microsoft YaHei, sans-serif' }}&gt;AI 被置于前所未有的战略高度&lt;/Text&gt;&#13;&#10;            &lt;Text style={{ fontSize: 12.5, color: '#595959', fontFamily: 'Microsoft YaHei, sans-serif', lineHeight: 1.45 }}&gt;《人工智能实施行动计划（2026）》；&quot;全员、全息、全链条&quot;深度渗透&lt;/Text&gt;&#13;&#10;          &lt;/Box&gt;&#13;&#10;        &lt;/Box&gt;&#13;&#10;&#13;&#10;        &lt;Box style={{ display: 'flex', flexDirection: 'row', gap: 10, marginBottom: 13 }}&gt;&#13;&#10;          &lt;Box style={{ width: 6, height: 6, background: '#0A1950', borderRadius: 3, marginTop: 7, flexShrink: 0 }} /&gt;&#13;&#10;          &lt;Box style={{ display: 'flex', flexDirection: 'column', gap: 2 }}&gt;&#13;&#10;            &lt;Text style={{ fontSize: 15, color: '#0A1950', fontWeight: 'bold', fontFamily: 'Microsoft YaHei, sans-serif' }}&gt;模型治理基础扎实&lt;/Text&gt;&#13;&#10;            &lt;Text style={{ fontSize: 12.5, color: '#595959', fontFamily: 'Microsoft YaHei, sans-serif', lineHeight: 1.45 }}&gt;&quot;1+6&quot; 模型风险组织、三道防线、上千模型全生命周期管理；&quot;天眼&quot;风险监测&lt;/Text&gt;&#13;&#10;          &lt;/Box&gt;&#13;&#10;        &lt;/Box&gt;&#13;&#10;&#13;&#10;        &lt;Box style={{ display: 'flex', flexDirection: 'row', gap: 10 }}&gt;&#13;&#10;          &lt;Box style={{ width: 6, height: 6, background: '#0A1950', borderRadius: 3, marginTop: 7, flexShrink: 0 }} /&gt;&#13;&#10;          &lt;Box style={{ display: 'flex', flexDirection: 'column', gap: 2 }}&gt;&#13;&#10;            &lt;Text style={{ fontSize: 15, color: '#0A1950', fontWeight: 'bold', fontFamily: 'Microsoft YaHei, sans-serif' }}&gt;投入与落地规模可观&lt;/Text&gt;&#13;&#10;            &lt;Text style={{ fontSize: 12.5, color: '#595959', fontFamily: 'Microsoft YaHei, sans-serif', lineHeight: 1.45 }}&gt;2025 科技投入 76.12 亿元；440+ AI 应用场景；千卡智算 + &quot;浦银智启&quot;大模型矩阵&lt;/Text&gt;&#13;&#10;          &lt;/Box&gt;&#13;&#10;        &lt;/Box&gt;&#13;&#10;      &lt;/Box&gt;&#13;&#10;&#13;&#10;      &lt;Box style={{ width: 546, display: 'flex', flexDirection: 'column' }}&gt;&#13;&#10;        &lt;Text style={{ fontSize: 17, color: '#0850B4', fontWeight: 'bold', fontFamily: 'Microsoft YaHei, sans-serif', marginBottom: 12 }}&gt;SWOT 诊断&lt;/Text&gt;&#13;&#10;&#13;&#10;        &lt;Box style={{ display: 'flex', flexDirection: 'row', gap: 10, marginBottom: 10 }}&gt;&#13;&#10;          &lt;Box style={{ width: 268, height: 174, background: '#F2F7FD', borderRadius: 5, borderTop: '3px solid #0A1950', padding: '10px 12px', boxSizing: 'border-box' }}&gt;&#13;&#10;            &lt;Text style={{ fontSize: 15, color: '#0A1950', fontWeight: 'bold', fontFamily: 'Microsoft YaHei, sans-serif' }}&gt;优势 S&lt;/Text&gt;&#13;&#10;            &lt;Text style={{ fontSize: 12.5, color: '#414141', fontFamily: 'Microsoft YaHei, sans-serif', lineHeight: 1.75, marginTop: 4 }}&gt;· 战略连续三年加码，预算扎实{'\n'}· 模型治理体系行业领先{'\n'}· AI 落地规模大、场景与数据积累足&lt;/Text&gt;&#13;&#10;          &lt;/Box&gt;&#13;&#10;          &lt;Box style={{ width: 268, height: 174, background: '#FAF6F6', borderRadius: 5, borderTop: '3px solid #AA051E', padding: '10px 12px', boxSizing: 'border-box' }}&gt;&#13;&#10;            &lt;Text style={{ fontSize: 15, color: '#AA051E', fontWeight: 'bold', fontFamily: 'Microsoft YaHei, sans-serif' }}&gt;劣势 W&lt;/Text&gt;&#13;&#10;            &lt;Text style={{ fontSize: 12.5, color: '#414141', fontFamily: 'Microsoft YaHei, sans-serif', lineHeight: 1.75, marginTop: 4 }}&gt;· 决策类系统呈点状分布，整合有成本{'\n'}· 与&quot;浦银智启&quot;、5A4S 融合存适配成本{'\n'}· 未见 DIP 品类整体规划与专项预算&lt;/Text&gt;&#13;&#10;          &lt;/Box&gt;&#13;&#10;        &lt;/Box&gt;&#13;&#10;&#13;&#10;        &lt;Box style={{ display: 'flex', flexDirection: 'row', gap: 10 }}&gt;&#13;&#10;          &lt;Box style={{ width: 268, height: 174, background: '#F2F9F2', borderRadius: 5, borderTop: '3px solid #2E7D32', padding: '10px 12px', boxSizing: 'border-box' }}&gt;&#13;&#10;            &lt;Text style={{ fontSize: 15, color: '#2E7D32', fontWeight: 'bold', fontFamily: 'Microsoft YaHei, sans-serif' }}&gt;机会 O&lt;/Text&gt;&#13;&#10;            &lt;Text style={{ fontSize: 12.5, color: '#414141', fontFamily: 'Microsoft YaHei, sans-serif', lineHeight: 1.75, marginTop: 4 }}&gt;· AI 工程化行动计划提供政策窗口{'\n'}· 科技金融&quot;第一赛道&quot;需因果推断{'\n'}· 监管可解释要求与治理框架同向&lt;/Text&gt;&#13;&#10;          &lt;/Box&gt;&#13;&#10;          &lt;Box style={{ width: 268, height: 174, background: '#FFFBF0', borderRadius: 5, borderTop: '3px solid #FBAF16', padding: '10px 12px', boxSizing: 'border-box' }}&gt;&#13;&#10;            &lt;Text style={{ fontSize: 15, color: '#A15C00', fontWeight: 'bold', fontFamily: 'Microsoft YaHei, sans-serif' }}&gt;威胁 T&lt;/Text&gt;&#13;&#10;            &lt;Text style={{ fontSize: 12.5, color: '#414141', fontFamily: 'Microsoft YaHei, sans-serif', lineHeight: 1.75, marginTop: 4 }}&gt;· &quot;自建决策中台&quot;替代路线分流{'\n'}· 外部厂商方案集成锁定、迁移成本高{'\n'}· Agentic AI 可能改变 DIP 品类形态&lt;/Text&gt;&#13;&#10;          &lt;/Box&gt;&#13;&#10;        &lt;/Box&gt;&#13;&#10;      &lt;/Box&gt;&#13;&#10;    &lt;/Box&gt;&#13;&#10;&#13;&#10;    &lt;Box style={{ marginTop: 12, height: 76, background: '#0A1950', borderRadius: 6, padding: '12px 22px', boxSizing: 'border-box', display: 'flex', flexDirection: 'row', alignItems: 'center', gap: 18 }}&gt;&#13;&#10;      &lt;Box style={{ width: 132, flexShrink: 0 }}&gt;&#13;&#10;        &lt;Text style={{ fontSize: 15, color: '#FBAF16', fontWeight: 'bold', fontFamily: 'Microsoft YaHei, sans-serif' }}&gt;战略匹配度&lt;/Text&gt;&#13;&#10;        &lt;Text style={{ fontSize: 24, color: '#FFFFFF', fontWeight: 'bold', fontFamily: 'Arial, sans-serif', lineHeight: 1.1 }}&gt;4 分&lt;/Text&gt;&#13;&#10;      &lt;/Box&gt;&#13;&#10;      &lt;Box style={{ width: 1, height: 48, background: 'rgba(255,255,255,0.25)' }} /&gt;&#13;&#10;      &lt;Text style={{ fontSize: 14, color: '#FFFFFF', fontFamily: 'Microsoft YaHei, sans-serif', lineHeight: 1.55 }}&gt;&#13;&#10;        加分项：方向高度同向，模型治理三道防线与 440+ AI 场景提供行业领先承接基础。未满分：官方战略未点名 DIP 品类，现有决策能力呈点状自建，属&quot;方向契合下的能力升级&quot;。&#13;&#10;      &lt;/Text&gt;&#13;&#10;    &lt;/Box&gt;&#13;&#10;&#13;&#10;    &lt;Box style={{ display: 'flex', justifyContent: 'space-between', alignItems: 'center', marginTop: 'auto', paddingTop: 8, borderTop: '1px solid rgba(255,255,255,0.3)' }}&gt;&#13;&#10;      &lt;Text style={{ fontSize: 14, color: '#FFFFFF', fontFamily: 'Arial Unicode MS, Arial, sans-serif' }}&gt;Source: 本报告第七章；浦发银行 2024/2025 年报及公开披露&lt;/Text&gt;&#13;&#10;      &lt;Text style={{ fontSize: 14, color: '#FFFFFF', fontFamily: 'Arial, sans-serif' }}&gt;09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图片 4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533400" y="323850"/>
            <a:ext cx="11125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07 · </a:t>
            </a:r>
            <a:r>
              <a:rPr lang="zh-CN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战略定位与匹配度</a:t>
            </a:r>
            <a:endParaRPr lang="zh-CN" sz="1125" spc="75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533400" y="552450"/>
            <a:ext cx="111252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DIP 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与我行数智化战略主线高度同向，战略匹配度</a:t>
            </a: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zh-CN" sz="22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4" name="圆角矩形 413"/>
          <p:cNvSpPr/>
          <p:nvPr/>
        </p:nvSpPr>
        <p:spPr>
          <a:xfrm>
            <a:off x="533400" y="107632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533400" y="1285875"/>
            <a:ext cx="5676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我行战略主线梳理</a:t>
            </a:r>
            <a:endParaRPr lang="zh-CN" sz="1275" b="1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6" name="圆角矩形 415"/>
          <p:cNvSpPr/>
          <p:nvPr/>
        </p:nvSpPr>
        <p:spPr>
          <a:xfrm>
            <a:off x="533400" y="16668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685800" y="1600200"/>
            <a:ext cx="31146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数智化战略主线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685800" y="1790700"/>
            <a:ext cx="3114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2024 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起步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→ 2025 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提升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→ 2026 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全面深化，连续三年加码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9" name="圆角矩形 418"/>
          <p:cNvSpPr/>
          <p:nvPr/>
        </p:nvSpPr>
        <p:spPr>
          <a:xfrm>
            <a:off x="533400" y="2190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420" name="文本框 419" descr="{&quot;isTemplate&quot;:true,&quot;type&quot;:&quot;text&quot;}"/>
          <p:cNvSpPr txBox="1"/>
          <p:nvPr/>
        </p:nvSpPr>
        <p:spPr>
          <a:xfrm>
            <a:off x="685800" y="2124075"/>
            <a:ext cx="3067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"1-5-5-5-4-3-N" </a:t>
            </a: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实施路径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1" name="文本框 420" descr="{&quot;isTemplate&quot;:true,&quot;type&quot;:&quot;text&quot;}"/>
          <p:cNvSpPr txBox="1"/>
          <p:nvPr/>
        </p:nvSpPr>
        <p:spPr>
          <a:xfrm>
            <a:off x="685800" y="2314575"/>
            <a:ext cx="3067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五数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中的数字风控、数字运营，与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大风控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体系直接对应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2" name="圆角矩形 421"/>
          <p:cNvSpPr/>
          <p:nvPr/>
        </p:nvSpPr>
        <p:spPr>
          <a:xfrm>
            <a:off x="533400" y="27146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685800" y="2647950"/>
            <a:ext cx="3724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被置于前所未有的战略高度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685800" y="2838450"/>
            <a:ext cx="37242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《人工智能实施行动计划（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）》；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全员、全息、全链条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深度渗透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5" name="圆角矩形 424"/>
          <p:cNvSpPr/>
          <p:nvPr/>
        </p:nvSpPr>
        <p:spPr>
          <a:xfrm>
            <a:off x="533400" y="32385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426" name="文本框 425" descr="{&quot;isTemplate&quot;:true,&quot;type&quot;:&quot;text&quot;}"/>
          <p:cNvSpPr txBox="1"/>
          <p:nvPr/>
        </p:nvSpPr>
        <p:spPr>
          <a:xfrm>
            <a:off x="685800" y="3171825"/>
            <a:ext cx="4048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模型治理基础扎实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7" name="文本框 426" descr="{&quot;isTemplate&quot;:true,&quot;type&quot;:&quot;text&quot;}"/>
          <p:cNvSpPr txBox="1"/>
          <p:nvPr/>
        </p:nvSpPr>
        <p:spPr>
          <a:xfrm>
            <a:off x="685800" y="3362325"/>
            <a:ext cx="40481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"1+6" 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模型风险组织、三道防线、上千模型全生命周期管理；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天眼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风险监测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8" name="圆角矩形 427"/>
          <p:cNvSpPr/>
          <p:nvPr/>
        </p:nvSpPr>
        <p:spPr>
          <a:xfrm>
            <a:off x="533400" y="37623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685800" y="3695700"/>
            <a:ext cx="44196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投入与落地规模可观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685800" y="3886200"/>
            <a:ext cx="4419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2025 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科技投入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76.12 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亿元；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440+ AI 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应用场景；千卡智算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+ "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浦银智启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大模型矩阵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6457950" y="1285875"/>
            <a:ext cx="52006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SWOT </a:t>
            </a:r>
            <a:r>
              <a:rPr lang="zh-CN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诊断</a:t>
            </a:r>
            <a:endParaRPr lang="zh-CN" sz="1275" b="1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2" name="圆角矩形 431"/>
          <p:cNvSpPr/>
          <p:nvPr/>
        </p:nvSpPr>
        <p:spPr>
          <a:xfrm>
            <a:off x="6457950" y="1628775"/>
            <a:ext cx="2552700" cy="1628775"/>
          </a:xfrm>
          <a:prstGeom prst="roundRect">
            <a:avLst>
              <a:gd name="adj" fmla="val 2924"/>
            </a:avLst>
          </a:prstGeom>
          <a:solidFill>
            <a:srgbClr val="F2F7FD"/>
          </a:solidFill>
        </p:spPr>
        <p:txBody>
          <a:bodyPr/>
          <a:p/>
        </p:txBody>
      </p:sp>
      <p:sp>
        <p:nvSpPr>
          <p:cNvPr id="433" name="任意多边形 432"/>
          <p:cNvSpPr/>
          <p:nvPr/>
        </p:nvSpPr>
        <p:spPr>
          <a:xfrm>
            <a:off x="6457950" y="1628775"/>
            <a:ext cx="2552700" cy="1628775"/>
          </a:xfrm>
          <a:custGeom>
            <a:avLst/>
            <a:gdLst/>
            <a:ahLst/>
            <a:cxnLst/>
            <a:pathLst>
              <a:path w="268" h="171">
                <a:moveTo>
                  <a:pt x="263" y="0"/>
                </a:moveTo>
                <a:cubicBezTo>
                  <a:pt x="266" y="0"/>
                  <a:pt x="268" y="2"/>
                  <a:pt x="268" y="4"/>
                </a:cubicBezTo>
                <a:cubicBezTo>
                  <a:pt x="268" y="4"/>
                  <a:pt x="267" y="3"/>
                  <a:pt x="266" y="3"/>
                </a:cubicBezTo>
                <a:lnTo>
                  <a:pt x="2" y="3"/>
                </a:lnTo>
                <a:cubicBezTo>
                  <a:pt x="1" y="3"/>
                  <a:pt x="0" y="4"/>
                  <a:pt x="0" y="5"/>
                </a:cubicBezTo>
                <a:cubicBezTo>
                  <a:pt x="0" y="2"/>
                  <a:pt x="2" y="0"/>
                  <a:pt x="5" y="0"/>
                </a:cubicBezTo>
                <a:lnTo>
                  <a:pt x="263" y="0"/>
                </a:lnTo>
                <a:close/>
              </a:path>
            </a:pathLst>
          </a:custGeom>
          <a:solidFill>
            <a:srgbClr val="0A1950"/>
          </a:solidFill>
        </p:spPr>
        <p:txBody>
          <a:bodyPr/>
          <a:p/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6572250" y="1724025"/>
            <a:ext cx="23241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优势</a:t>
            </a:r>
            <a:r>
              <a:rPr lang="en-US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 S</a:t>
            </a:r>
            <a:endParaRPr lang="en-US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6572250" y="1933575"/>
            <a:ext cx="2324100" cy="752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战略连续三年加码，预算扎实</a:t>
            </a:r>
            <a:endParaRPr lang="zh-CN" sz="94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5000"/>
              </a:lnSpc>
            </a:pP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模型治理体系行业领先</a:t>
            </a:r>
            <a:endParaRPr lang="zh-CN" sz="94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5000"/>
              </a:lnSpc>
            </a:pP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AI 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落地规模大、场景与数据积累足</a:t>
            </a:r>
            <a:endParaRPr lang="zh-CN" sz="94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6" name="圆角矩形 435"/>
          <p:cNvSpPr/>
          <p:nvPr/>
        </p:nvSpPr>
        <p:spPr>
          <a:xfrm>
            <a:off x="9105900" y="1628775"/>
            <a:ext cx="2552700" cy="1628775"/>
          </a:xfrm>
          <a:prstGeom prst="roundRect">
            <a:avLst>
              <a:gd name="adj" fmla="val 2924"/>
            </a:avLst>
          </a:prstGeom>
          <a:solidFill>
            <a:srgbClr val="FAF6F6"/>
          </a:solidFill>
        </p:spPr>
        <p:txBody>
          <a:bodyPr/>
          <a:p/>
        </p:txBody>
      </p:sp>
      <p:sp>
        <p:nvSpPr>
          <p:cNvPr id="437" name="任意多边形 436"/>
          <p:cNvSpPr/>
          <p:nvPr/>
        </p:nvSpPr>
        <p:spPr>
          <a:xfrm>
            <a:off x="9105900" y="1628775"/>
            <a:ext cx="2552700" cy="1628775"/>
          </a:xfrm>
          <a:custGeom>
            <a:avLst/>
            <a:gdLst/>
            <a:ahLst/>
            <a:cxnLst/>
            <a:pathLst>
              <a:path w="268" h="171">
                <a:moveTo>
                  <a:pt x="263" y="0"/>
                </a:moveTo>
                <a:cubicBezTo>
                  <a:pt x="266" y="0"/>
                  <a:pt x="268" y="2"/>
                  <a:pt x="268" y="4"/>
                </a:cubicBezTo>
                <a:cubicBezTo>
                  <a:pt x="268" y="4"/>
                  <a:pt x="267" y="3"/>
                  <a:pt x="266" y="3"/>
                </a:cubicBezTo>
                <a:lnTo>
                  <a:pt x="2" y="3"/>
                </a:lnTo>
                <a:cubicBezTo>
                  <a:pt x="1" y="3"/>
                  <a:pt x="0" y="4"/>
                  <a:pt x="0" y="5"/>
                </a:cubicBezTo>
                <a:cubicBezTo>
                  <a:pt x="0" y="2"/>
                  <a:pt x="2" y="0"/>
                  <a:pt x="5" y="0"/>
                </a:cubicBezTo>
                <a:lnTo>
                  <a:pt x="263" y="0"/>
                </a:lnTo>
                <a:close/>
              </a:path>
            </a:pathLst>
          </a:custGeom>
          <a:solidFill>
            <a:srgbClr val="AA051E"/>
          </a:solidFill>
        </p:spPr>
        <p:txBody>
          <a:bodyPr/>
          <a:p/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9220200" y="1724025"/>
            <a:ext cx="23241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A051E"/>
                </a:solidFill>
                <a:latin typeface="微软雅黑" panose="020B0503020204020204" charset="-122"/>
                <a:ea typeface="微软雅黑" panose="020B0503020204020204" charset="-122"/>
              </a:rPr>
              <a:t>劣势</a:t>
            </a:r>
            <a:r>
              <a:rPr lang="en-US" sz="1125" b="1">
                <a:solidFill>
                  <a:srgbClr val="AA051E"/>
                </a:solidFill>
                <a:latin typeface="微软雅黑" panose="020B0503020204020204" charset="-122"/>
                <a:ea typeface="微软雅黑" panose="020B0503020204020204" charset="-122"/>
              </a:rPr>
              <a:t> W</a:t>
            </a:r>
            <a:endParaRPr lang="en-US" sz="1125" b="1">
              <a:solidFill>
                <a:srgbClr val="AA051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9220200" y="1933575"/>
            <a:ext cx="2324100" cy="752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决策类系统呈点状分布，整合有成本</a:t>
            </a:r>
            <a:endParaRPr lang="zh-CN" sz="94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5000"/>
              </a:lnSpc>
            </a:pP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浦银智启</a:t>
            </a: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5A4S 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融合存适配成本</a:t>
            </a:r>
            <a:endParaRPr lang="zh-CN" sz="94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5000"/>
              </a:lnSpc>
            </a:pP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未见</a:t>
            </a: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DIP 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品类整体规划与专项预算</a:t>
            </a:r>
            <a:endParaRPr lang="zh-CN" sz="94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0" name="圆角矩形 439"/>
          <p:cNvSpPr/>
          <p:nvPr/>
        </p:nvSpPr>
        <p:spPr>
          <a:xfrm>
            <a:off x="6457950" y="3381375"/>
            <a:ext cx="2552700" cy="1628775"/>
          </a:xfrm>
          <a:prstGeom prst="roundRect">
            <a:avLst>
              <a:gd name="adj" fmla="val 2924"/>
            </a:avLst>
          </a:prstGeom>
          <a:solidFill>
            <a:srgbClr val="F2F9F2"/>
          </a:solidFill>
        </p:spPr>
        <p:txBody>
          <a:bodyPr/>
          <a:p/>
        </p:txBody>
      </p:sp>
      <p:sp>
        <p:nvSpPr>
          <p:cNvPr id="441" name="任意多边形 440"/>
          <p:cNvSpPr/>
          <p:nvPr/>
        </p:nvSpPr>
        <p:spPr>
          <a:xfrm>
            <a:off x="6457950" y="3381375"/>
            <a:ext cx="2552700" cy="1628775"/>
          </a:xfrm>
          <a:custGeom>
            <a:avLst/>
            <a:gdLst/>
            <a:ahLst/>
            <a:cxnLst/>
            <a:pathLst>
              <a:path w="268" h="171">
                <a:moveTo>
                  <a:pt x="263" y="0"/>
                </a:moveTo>
                <a:cubicBezTo>
                  <a:pt x="266" y="0"/>
                  <a:pt x="268" y="2"/>
                  <a:pt x="268" y="4"/>
                </a:cubicBezTo>
                <a:cubicBezTo>
                  <a:pt x="268" y="4"/>
                  <a:pt x="267" y="3"/>
                  <a:pt x="266" y="3"/>
                </a:cubicBezTo>
                <a:lnTo>
                  <a:pt x="2" y="3"/>
                </a:lnTo>
                <a:cubicBezTo>
                  <a:pt x="1" y="3"/>
                  <a:pt x="0" y="4"/>
                  <a:pt x="0" y="5"/>
                </a:cubicBezTo>
                <a:cubicBezTo>
                  <a:pt x="0" y="2"/>
                  <a:pt x="2" y="0"/>
                  <a:pt x="5" y="0"/>
                </a:cubicBezTo>
                <a:lnTo>
                  <a:pt x="263" y="0"/>
                </a:lnTo>
                <a:close/>
              </a:path>
            </a:pathLst>
          </a:custGeom>
          <a:solidFill>
            <a:srgbClr val="2E7D32"/>
          </a:solidFill>
        </p:spPr>
        <p:txBody>
          <a:bodyPr/>
          <a:p/>
        </p:txBody>
      </p:sp>
      <p:sp>
        <p:nvSpPr>
          <p:cNvPr id="442" name="文本框 441" descr="{&quot;isTemplate&quot;:true,&quot;type&quot;:&quot;text&quot;}"/>
          <p:cNvSpPr txBox="1"/>
          <p:nvPr/>
        </p:nvSpPr>
        <p:spPr>
          <a:xfrm>
            <a:off x="6572250" y="3476625"/>
            <a:ext cx="23241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机会</a:t>
            </a:r>
            <a:r>
              <a:rPr lang="en-US" sz="1125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 O</a:t>
            </a:r>
            <a:endParaRPr lang="en-US" sz="1125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6572250" y="3686175"/>
            <a:ext cx="2324100" cy="752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AI 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工程化行动计划提供政策窗口</a:t>
            </a:r>
            <a:endParaRPr lang="zh-CN" sz="94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5000"/>
              </a:lnSpc>
            </a:pP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科技金融</a:t>
            </a: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第一赛道</a:t>
            </a: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需因果推断</a:t>
            </a:r>
            <a:endParaRPr lang="zh-CN" sz="94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5000"/>
              </a:lnSpc>
            </a:pP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监管可解释要求与治理框架同向</a:t>
            </a:r>
            <a:endParaRPr lang="zh-CN" sz="94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4" name="圆角矩形 443"/>
          <p:cNvSpPr/>
          <p:nvPr/>
        </p:nvSpPr>
        <p:spPr>
          <a:xfrm>
            <a:off x="9105900" y="3381375"/>
            <a:ext cx="2552700" cy="1628775"/>
          </a:xfrm>
          <a:prstGeom prst="roundRect">
            <a:avLst>
              <a:gd name="adj" fmla="val 2924"/>
            </a:avLst>
          </a:prstGeom>
          <a:solidFill>
            <a:srgbClr val="FFFBF0"/>
          </a:solidFill>
        </p:spPr>
        <p:txBody>
          <a:bodyPr/>
          <a:p/>
        </p:txBody>
      </p:sp>
      <p:sp>
        <p:nvSpPr>
          <p:cNvPr id="445" name="任意多边形 444"/>
          <p:cNvSpPr/>
          <p:nvPr/>
        </p:nvSpPr>
        <p:spPr>
          <a:xfrm>
            <a:off x="9105900" y="3381375"/>
            <a:ext cx="2552700" cy="1628775"/>
          </a:xfrm>
          <a:custGeom>
            <a:avLst/>
            <a:gdLst/>
            <a:ahLst/>
            <a:cxnLst/>
            <a:pathLst>
              <a:path w="268" h="171">
                <a:moveTo>
                  <a:pt x="263" y="0"/>
                </a:moveTo>
                <a:cubicBezTo>
                  <a:pt x="266" y="0"/>
                  <a:pt x="268" y="2"/>
                  <a:pt x="268" y="4"/>
                </a:cubicBezTo>
                <a:cubicBezTo>
                  <a:pt x="268" y="4"/>
                  <a:pt x="267" y="3"/>
                  <a:pt x="266" y="3"/>
                </a:cubicBezTo>
                <a:lnTo>
                  <a:pt x="2" y="3"/>
                </a:lnTo>
                <a:cubicBezTo>
                  <a:pt x="1" y="3"/>
                  <a:pt x="0" y="4"/>
                  <a:pt x="0" y="5"/>
                </a:cubicBezTo>
                <a:cubicBezTo>
                  <a:pt x="0" y="2"/>
                  <a:pt x="2" y="0"/>
                  <a:pt x="5" y="0"/>
                </a:cubicBezTo>
                <a:lnTo>
                  <a:pt x="263" y="0"/>
                </a:lnTo>
                <a:close/>
              </a:path>
            </a:pathLst>
          </a:custGeom>
          <a:solidFill>
            <a:srgbClr val="FBAF16"/>
          </a:solidFill>
        </p:spPr>
        <p:txBody>
          <a:bodyPr/>
          <a:p/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9220200" y="3476625"/>
            <a:ext cx="23241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15C00"/>
                </a:solidFill>
                <a:latin typeface="微软雅黑" panose="020B0503020204020204" charset="-122"/>
                <a:ea typeface="微软雅黑" panose="020B0503020204020204" charset="-122"/>
              </a:rPr>
              <a:t>威胁</a:t>
            </a:r>
            <a:r>
              <a:rPr lang="en-US" sz="1125" b="1">
                <a:solidFill>
                  <a:srgbClr val="A15C00"/>
                </a:solidFill>
                <a:latin typeface="微软雅黑" panose="020B0503020204020204" charset="-122"/>
                <a:ea typeface="微软雅黑" panose="020B0503020204020204" charset="-122"/>
              </a:rPr>
              <a:t> T</a:t>
            </a:r>
            <a:endParaRPr lang="en-US" sz="1125" b="1">
              <a:solidFill>
                <a:srgbClr val="A15C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9220200" y="3686175"/>
            <a:ext cx="2324100" cy="752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"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自建决策中台</a:t>
            </a: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替代路线分流</a:t>
            </a:r>
            <a:endParaRPr lang="zh-CN" sz="94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5000"/>
              </a:lnSpc>
            </a:pP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外部厂商方案集成锁定、迁移成本高</a:t>
            </a:r>
            <a:endParaRPr lang="zh-CN" sz="94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5000"/>
              </a:lnSpc>
            </a:pP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· Agentic AI 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可能改变</a:t>
            </a:r>
            <a:r>
              <a:rPr lang="en-US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 DIP 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品类形态</a:t>
            </a:r>
            <a:endParaRPr lang="zh-CN" sz="94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8" name="圆角矩形 447"/>
          <p:cNvSpPr/>
          <p:nvPr/>
        </p:nvSpPr>
        <p:spPr>
          <a:xfrm>
            <a:off x="533400" y="5210175"/>
            <a:ext cx="11125200" cy="723900"/>
          </a:xfrm>
          <a:prstGeom prst="roundRect">
            <a:avLst>
              <a:gd name="adj" fmla="val 7895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742950" y="5334000"/>
            <a:ext cx="12573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F16"/>
                </a:solidFill>
                <a:latin typeface="微软雅黑" panose="020B0503020204020204" charset="-122"/>
                <a:ea typeface="微软雅黑" panose="020B0503020204020204" charset="-122"/>
              </a:rPr>
              <a:t>战略匹配度</a:t>
            </a:r>
            <a:endParaRPr lang="zh-CN" sz="1125" b="1">
              <a:solidFill>
                <a:srgbClr val="FBA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0" name="文本框 449" descr="{&quot;isTemplate&quot;:true,&quot;type&quot;:&quot;text&quot;}"/>
          <p:cNvSpPr txBox="1"/>
          <p:nvPr/>
        </p:nvSpPr>
        <p:spPr>
          <a:xfrm>
            <a:off x="742950" y="5505450"/>
            <a:ext cx="1257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4 </a:t>
            </a:r>
            <a:r>
              <a:rPr lang="zh-CN"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分</a:t>
            </a:r>
            <a:endParaRPr lang="zh-CN" sz="18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451" name="矩形 450"/>
          <p:cNvSpPr/>
          <p:nvPr/>
        </p:nvSpPr>
        <p:spPr>
          <a:xfrm>
            <a:off x="2171700" y="5343525"/>
            <a:ext cx="9525" cy="4572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2352675" y="5343525"/>
            <a:ext cx="90963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加分项：方向高度同向，模型治理三道防线与</a:t>
            </a: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440+ AI </a:t>
            </a: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场景提供行业领先承接基础。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未满分：官方战略未点名</a:t>
            </a: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DIP </a:t>
            </a: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品类，现有决策能力呈点状自建，属</a:t>
            </a: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方向契合下的能力升级</a:t>
            </a: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4" name="文本框 453" descr="{&quot;isTemplate&quot;:true,&quot;type&quot;:&quot;text&quot;}"/>
          <p:cNvSpPr txBox="1"/>
          <p:nvPr/>
        </p:nvSpPr>
        <p:spPr>
          <a:xfrm>
            <a:off x="533400" y="6505575"/>
            <a:ext cx="3609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Source: </a:t>
            </a:r>
            <a:r>
              <a:rPr lang="zh-CN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本报告第七章；浦发银行</a:t>
            </a:r>
            <a:r>
              <a:rPr lang="en-US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 2024/2025 </a:t>
            </a:r>
            <a:r>
              <a:rPr lang="zh-CN" sz="1050">
                <a:solidFill>
                  <a:srgbClr val="FFFFFF"/>
                </a:solidFill>
                <a:latin typeface="Arial Unicode MS" panose="020B0604020202020204" charset="-122"/>
                <a:ea typeface="Arial Unicode MS" panose="020B0604020202020204" charset="-122"/>
              </a:rPr>
              <a:t>年报及公开披露</a:t>
            </a:r>
            <a:endParaRPr lang="zh-CN" sz="1050">
              <a:solidFill>
                <a:srgbClr val="FFFFFF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11506200" y="6505575"/>
            <a:ext cx="152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10</a:t>
            </a:r>
            <a:endParaRPr lang="en-US" sz="105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 descr="&lt;Slide&gt;&#13;&#10;  &lt;Image src=&quot;assets/bg_content.png&quot; style={{ position: 'absolute', left: 0, top: 0, width: 1280, height: 720, objectFit: 'fill', zIndex: -1 }} /&gt;&#13;&#10;  &lt;Box style={{ width: 1280, height: 720, padding: '34px 56px 20px 56px', boxSizing: 'border-box', display: 'flex', flexDirection: 'column' }}&gt;&#13;&#10;    &lt;Text style={{ fontSize: 15, color: '#0850B4', fontFamily: 'Microsoft YaHei, sans-serif', letterSpacing: 1 }}&gt;08 · 综合评估结论&lt;/Text&gt;&#13;&#10;    &lt;Text style={{ fontSize: 30, color: '#0A1950', fontWeight: 'bold', fontFamily: 'Microsoft YaHei, sans-serif', marginTop: 6, lineHeight: 1.25 }}&gt;&#13;&#10;      六维画像锁定&quot;系统论证层&quot;：值得做、窗口在，但需付出治理与适配成本&#13;&#10;    &lt;/Text&gt;&#13;&#10;    &lt;Box style={{ width: 64, height: 4, background: '#0A1950', borderRadius: 2, marginTop: 10, marginBottom: 16 }} /&gt;&#13;&#10;&#13;&#10;    &lt;Box style={{ display: 'flex', flexDirection: 'row', gap: 26, flex: 1 }}&gt;&#13;&#10;      &lt;Box style={{ width: 600, display: 'flex', flexDirection: 'column' }}&gt;&#13;&#10;        &lt;Text style={{ fontSize: 17, color: '#0850B4', fontWeight: 'bold', fontFamily: 'Microsoft YaHei, sans-serif', marginBottom: 10 }}&gt;六维评级汇总&lt;/Text&gt;&#13;&#10;&#13;&#10;        &lt;Box style={{ display: 'flex', flexDirection: 'row', gap: 8, marginBottom: 7, alignItems: 'center' }}&gt;&#13;&#10;          &lt;Box style={{ width: 46, height: 36, background: '#0A1950', borderRadius: 4, flexShrink: 0, display: 'flex', alignItems: 'center', justifyContent: 'center' }}&gt;&#13;&#10;            &lt;Text style={{ fontSize: 17, color: '#FFFFFF', fontWeight: 'bold', fontFamily: 'Arial, sans-serif' }}&gt;4分&lt;/Text&gt;&#13;&#10;          &lt;/Box&gt;&#13;&#10;          &lt;Text style={{ fontSize: 15, color: '#0A1950', fontWeight: 'bold', fontFamily: 'Microsoft YaHei, sans-serif', width: 96, flexShrink: 0 }}&gt;技术成熟度&lt;/Text&gt;&#13;&#10;          &lt;Text style={{ fontSize: 12.5, color: '#595959', fontFamily: 'Microsoft YaHei, sans-serif', lineHeight: 1.45, flex: 1 }}&gt;转型型技术，TRL 7级，多行业已有生产案例&lt;/Text&gt;&#13;&#10;        &lt;/Box&gt;&#13;&#10;&#13;&#10;        &lt;Box style={{ display: 'flex', flexDirection: 'row', gap: 8, marginBottom: 7, alignItems: 'center' }}&gt;&#13;&#10;          &lt;Box style={{ width: 46, height: 36, background: '#0A1950', borderRadius: 4, flexShrink: 0, display: 'flex', alignItems: 'center', justifyContent: 'center' }}&gt;&#13;&#10;            &lt;Text style={{ fontSize: 17, color: '#FFFFFF', fontWeight: 'bold', fontFamily: 'Arial, sans-serif' }}&gt;4分&lt;/Text&gt;&#13;&#10;          &lt;/Box&gt;&#13;&#10;          &lt;Text style={{ fontSize: 15, color: '#0A1950', fontWeight: 'bold', fontFamily: 'Microsoft YaHei, sans-serif', width: 96, flexShrink: 0 }}&gt;战略匹配度&lt;/Text&gt;&#13;&#10;          &lt;Text style={{ fontSize: 12.5, color: '#595959', fontFamily: 'Microsoft YaHei, sans-serif', lineHeight: 1.45, flex: 1 }}&gt;与数智化主线、大风控、AI工程化高度同向&lt;/Text&gt;&#13;&#10;        &lt;/Box&gt;&#13;&#10;&#13;&#10;        &lt;Box style={{ display: 'flex', flexDirection: 'row', gap: 8, marginBottom: 7, alignItems: 'center' }}&gt;&#13;&#10;          &lt;Box style={{ width: 46, height: 36, background: '#0A1950', borderRadius: 4, flexShrink: 0, display: 'flex', alignItems: 'center', justifyContent: 'center' }}&gt;&#13;&#10;            &lt;Text style={{ fontSize: 17, color: '#FFFFFF', fontWeight: 'bold', fontFamily: 'Arial, sans-serif' }}&gt;5分&lt;/Text&gt;&#13;&#10;          &lt;/Box&gt;&#13;&#10;          &lt;Text style={{ fontSize: 15, color: '#0A1950', fontWeight: 'bold', fontFamily: 'Microsoft YaHei, sans-serif', width: 96, flexShrink: 0 }}&gt;价值贡献度&lt;/Text&gt;&#13;&#10;          &lt;Text style={{ fontSize: 12.5, color: '#595959', fontFamily: 'Microsoft YaHei, sans-serif', lineHeight: 1.45, flex: 1 }}&gt;效率/风控/体验/新业务四维俱高，HSBC案例验证&lt;/Text&gt;&#13;&#10;        &lt;/Box&gt;&#13;&#10;&#13;&#10;        &lt;Box style={{ display: 'flex', flexDirection: 'row', gap: 8, marginBottom: 7, alignItems: 'center' }}&gt;&#13;&#10;          &lt;Box style={{ width: 46, height: 36, background: '#FBAF16', borderRadius: 4, flexShrink: 0, display: 'flex', alignItems: 'center', justifyContent: 'center' }}&gt;&#13;&#10;            &lt;Text style={{ fontSize: 17, color: '#FFFFFF', fontWeight: 'bold', fontFamily: 'Arial, sans-serif' }}&gt;3分&lt;/Text&gt;&#13;&#10;          &lt;/Box&gt;&#13;&#10;          &lt;Text style={{ fontSize: 15, color: '#0A1950', fontWeight: 'bold', fontFamily: 'Microsoft YaHei, sans-serif', width: 96, flexShrink: 0 }}&gt;引入可行度&lt;/Text&gt;&#13;&#10;          &lt;Text style={{ fontSize: 12.5, color: '#595959', fontFamily: 'Microsoft YaHei, sans-serif', lineHeight: 1.45, flex: 1 }}&gt;短板原则：架构/合规/人才均3分，取最低值&lt;/Text&gt;&#13;&#10;        &lt;/Box&gt;&#13;&#10;&#13;&#10;        &lt;Box style={{ display: 'flex', flexDirection: 'row', gap: 8, marginBottom: 7, alignItems: 'center' }}&gt;&#13;&#10;          &lt;Box style={{ width: 46, height: 36, background: '#FBAF16', borderRadius: 4, flexShrink: 0, display: 'flex', alignItems: 'center', justifyContent: 'center' }}&gt;&#13;&#10;            &lt;Text style={{ fontSize: 17, color: '#FFFFFF', fontWeight: 'bold', fontFamily: 'Arial, sans-serif' }}&gt;3分&lt;/Text&gt;&#13;&#10;          &lt;/Box&gt;&#13;&#10;          &lt;Text style={{ fontSize: 15, color: '#0A1950', fontWeight: 'bold', fontFamily: 'Microsoft YaHei, sans-serif', width: 96, flexShrink: 0 }}&gt;战略紧迫度&lt;/Text&gt;&#13;&#10;          &lt;Text style={{ fontSize: 12.5, color: '#595959', fontFamily: 'Microsoft YaHei, sans-serif', lineHeight: 1.45, flex: 1 }}&gt;同业已规模化，Gartner预测2-5年渗透率5%-20%&lt;/Text&gt;&#13;&#10;        &lt;/Box&gt;&#13;&#10;&#13;&#10;        &lt;Box style={{ display: 'flex', flexDirection: 'row', gap: 8, alignItems: 'center' }}&gt;&#13;&#10;          &lt;Box style={{ width: 46, height: 36, background: '#FBAF16', borderRadius: 4, flexShrink: 0, display: 'flex', alignItems: 'center', justifyContent: 'center' }}&gt;&#13;&#10;            &lt;Text style={{ fontSize: 17, color: '#FFFFFF', fontWeight: 'bold', fontFamily: 'Arial, sans-serif' }}&gt;3分&lt;/Text&gt;&#13;&#10;          &lt;/Box&gt;&#13;&#10;          &lt;Text style={{ fontSize: 15, color: '#0A1950', fontWeight: 'bold', fontFamily: 'Microsoft YaHei, sans-serif', width: 96, flexShrink: 0 }}&gt;生态开放度&lt;/Text&gt;&#13;&#10;          &lt;Text style={{ fontSize: 12.5, color: '#595959', fontFamily: 'Microsoft YaHei, sans-serif', lineHeight: 1.45, flex: 1 }}&gt;开放标准与专有方案并存，替代路径成本中等&lt;/Text&gt;&#13;&#10;        &lt;/Box&gt;&#13;&#10;&#13;&#10;        &lt;Box style={{ marginTop: 'auto', background: '#F2F7FD', borderRadius: 5, padding: '9px 12px', boxSizing: 'border-box' }}&gt;&#13;&#10;          &lt;Text style={{ fontSize: 12.5, color: '#414141', fontFamily: 'Microsoft YaHei, sans-serif', lineHeight: 1.5 }}&gt;&#13;&#10;            经济含义：&lt;span style={{ color: '#0A1950', fontWeight: 'bold' }}&gt;值得做、窗口在&lt;/span&gt;，但要付出治理与适配成本——处置档位落于需系统性验证与论证的区间，非激进上线，亦非观望。&#13;&#10;          &lt;/Text&gt;&#13;&#10;        &lt;/Box&gt;&#13;&#10;      &lt;/Box&gt;&#13;&#10;&#13;&#10;      &lt;Box style={{ width: 540, display: 'flex', flexDirection: 'column', alignItems: 'center' }}&gt;&#13;&#10;        &lt;Text style={{ fontSize: 17, color: '#0850B4', fontWeight: 'bold', fontFamily: 'Microsoft YaHei, sans-serif', marginBottom: 10, alignSelf: 'flex-start' }}&gt;六维综合评级雷达图&lt;/Text&gt;&#13;&#10;        &lt;Box style={{ flex: 1, width: '100%', display: 'flex', alignItems: 'center', justifyContent: 'center', background: '#F7FAFE', borderRadius: 6, border: '1px solid #E7E6E6', boxSizing: 'border-box' }}&gt;&#13;&#10;          &lt;Image src=&quot;assets/image10.png&quot; style={{ width: 430, height: 360, objectFit: 'contain' }} /&gt;&#13;&#10;        &lt;/Box&gt;&#13;&#10;        &lt;Text style={{ fontSize: 12.5, color: '#595959', fontFamily: 'Microsoft YaHei, sans-serif', marginTop: 8 }}&gt;图8-1　DIP 六维综合评级雷达（来源：本报告第八章）&lt;/Text&gt;&#13;&#10;      &lt;/Box&gt;&#13;&#10;    &lt;/Box&gt;&#13;&#10;&#13;&#10;    &lt;Box style={{ marginTop: 14, height: 78, background: '#0A1950', borderRadius: 6, padding: '12px 22px', boxSizing: 'border-box', display: 'flex', flexDirection: 'row', alignItems: 'center', gap: 18 }}&gt;&#13;&#10;      &lt;Box style={{ width: 150, flexShrink: 0 }}&gt;&#13;&#10;        &lt;Text style={{ fontSize: 15, color: '#FBAF16', fontWeight: 'bold', fontFamily: 'Microsoft YaHei, sans-serif' }}&gt;处置档位&lt;/Text&gt;&#13;&#10;        &lt;Text style={{ fontSize: 22, color: '#FFFFFF', fontWeight: 'bold', fontFamily: 'Microsoft YaHei, sans-serif', lineHeight: 1.15 }}&gt;系统论证层&lt;/Text&gt;&#13;&#10;      &lt;/Box&gt;&#13;&#10;      &lt;Box style={{ width: 1, height: 48, background: 'rgba(255,255,255,0.25)' }} /&gt;&#13;&#10;      &lt;Text style={{ fontSize: 13.5, color: '#FFFFFF', fontFamily: 'Microsoft YaHei, sans-serif', lineHeight: 1.5, flex: 1 }}&gt;&#13;&#10;        三查均未触发：否决线（引入可行度3＞2）· 预警线（生态开放度3＞2）· 红线清单（按约束部署，数据不出境、可解释可审计）。宜以论证集聚证据、以试点验证数据，而非仓促全行推广。&#13;&#10;      &lt;/Text&gt;&#13;&#10;    &lt;/Box&gt;&#13;&#10;&#13;&#10;    &lt;Box style={{ display: 'flex', justifyContent: 'space-between', alignItems: 'center', marginTop: 'auto', paddingTop: 8, borderTop: '1px solid #E7E6E6' }}&gt;&#13;&#10;      &lt;Text style={{ fontSize: 14, color: '#595959', fontFamily: 'Arial Unicode MS, Arial, sans-serif' }}&gt;Source: 本报告第八章；Gartner 2025 技术成熟度曲线、DIP 魔力象限&lt;/Text&gt;&#13;&#10;      &lt;Text style={{ fontSize: 14, color: '#595959', fontFamily: 'Arial, sans-serif' }}&gt;10&lt;/Text&gt;&#13;&#10;    &lt;/Box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533400" y="323850"/>
            <a:ext cx="11125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08 · </a:t>
            </a:r>
            <a:r>
              <a:rPr lang="zh-CN" sz="1125" spc="75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综合评估结论</a:t>
            </a:r>
            <a:endParaRPr lang="zh-CN" sz="1125" spc="75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533400" y="552450"/>
            <a:ext cx="111252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六维画像锁定</a:t>
            </a: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系统论证层</a:t>
            </a:r>
            <a:r>
              <a:rPr lang="en-US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225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：值得做、窗口在，但需付出治理与适配成本</a:t>
            </a:r>
            <a:endParaRPr lang="zh-CN" sz="2250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33400" y="107632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533400" y="1266825"/>
            <a:ext cx="5715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六维评级汇总</a:t>
            </a:r>
            <a:endParaRPr lang="zh-CN" sz="1275" b="1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533400" y="1562100"/>
            <a:ext cx="438150" cy="342900"/>
          </a:xfrm>
          <a:prstGeom prst="roundRect">
            <a:avLst>
              <a:gd name="adj" fmla="val 11111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628650" y="1638300"/>
            <a:ext cx="2571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4</a:t>
            </a:r>
            <a:r>
              <a:rPr lang="zh-CN"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分</a:t>
            </a:r>
            <a:endParaRPr lang="zh-CN" sz="1275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1047750" y="1647825"/>
            <a:ext cx="9144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技术成熟度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2038350" y="1628775"/>
            <a:ext cx="4210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转型型技术，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TRL 7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级，多行业已有生产案例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533400" y="1971675"/>
            <a:ext cx="438150" cy="342900"/>
          </a:xfrm>
          <a:prstGeom prst="roundRect">
            <a:avLst>
              <a:gd name="adj" fmla="val 11111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628650" y="2047875"/>
            <a:ext cx="2571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4</a:t>
            </a:r>
            <a:r>
              <a:rPr lang="zh-CN"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分</a:t>
            </a:r>
            <a:endParaRPr lang="zh-CN" sz="1275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1047750" y="2057400"/>
            <a:ext cx="9144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战略匹配度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2038350" y="2038350"/>
            <a:ext cx="4210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与数智化主线、大风控、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工程化高度同向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533400" y="2381250"/>
            <a:ext cx="438150" cy="342900"/>
          </a:xfrm>
          <a:prstGeom prst="roundRect">
            <a:avLst>
              <a:gd name="adj" fmla="val 11111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628650" y="2457450"/>
            <a:ext cx="2571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5</a:t>
            </a:r>
            <a:r>
              <a:rPr lang="zh-CN"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分</a:t>
            </a:r>
            <a:endParaRPr lang="zh-CN" sz="1275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1047750" y="2466975"/>
            <a:ext cx="9144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价值贡献度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2038350" y="2447925"/>
            <a:ext cx="4210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效率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风控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体验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新业务四维俱高，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HSBC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案例验证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533400" y="2790825"/>
            <a:ext cx="438150" cy="342900"/>
          </a:xfrm>
          <a:prstGeom prst="roundRect">
            <a:avLst>
              <a:gd name="adj" fmla="val 11111"/>
            </a:avLst>
          </a:prstGeom>
          <a:solidFill>
            <a:srgbClr val="FBAF16"/>
          </a:solidFill>
        </p:spPr>
        <p:txBody>
          <a:bodyPr/>
          <a:p/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628650" y="2867025"/>
            <a:ext cx="2571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3</a:t>
            </a:r>
            <a:r>
              <a:rPr lang="zh-CN"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分</a:t>
            </a:r>
            <a:endParaRPr lang="zh-CN" sz="1275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1047750" y="2876550"/>
            <a:ext cx="9144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引入可行度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2038350" y="2857500"/>
            <a:ext cx="4210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短板原则：架构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合规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人才均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分，取最低值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533400" y="3200400"/>
            <a:ext cx="438150" cy="342900"/>
          </a:xfrm>
          <a:prstGeom prst="roundRect">
            <a:avLst>
              <a:gd name="adj" fmla="val 11111"/>
            </a:avLst>
          </a:prstGeom>
          <a:solidFill>
            <a:srgbClr val="FBAF16"/>
          </a:solidFill>
        </p:spPr>
        <p:txBody>
          <a:bodyPr/>
          <a:p/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628650" y="3276600"/>
            <a:ext cx="2571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3</a:t>
            </a:r>
            <a:r>
              <a:rPr lang="zh-CN"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分</a:t>
            </a:r>
            <a:endParaRPr lang="zh-CN" sz="1275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1047750" y="3286125"/>
            <a:ext cx="9144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战略紧迫度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2038350" y="3267075"/>
            <a:ext cx="4210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同业已规模化，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Gartner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预测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2-5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年渗透率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5%-20%</a:t>
            </a:r>
            <a:endParaRPr lang="en-US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33400" y="3609975"/>
            <a:ext cx="438150" cy="342900"/>
          </a:xfrm>
          <a:prstGeom prst="roundRect">
            <a:avLst>
              <a:gd name="adj" fmla="val 11111"/>
            </a:avLst>
          </a:prstGeom>
          <a:solidFill>
            <a:srgbClr val="FBAF16"/>
          </a:solidFill>
        </p:spPr>
        <p:txBody>
          <a:bodyPr/>
          <a:p/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628650" y="3686175"/>
            <a:ext cx="2571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3</a:t>
            </a:r>
            <a:r>
              <a:rPr lang="zh-CN" sz="1275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分</a:t>
            </a:r>
            <a:endParaRPr lang="zh-CN" sz="1275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1047750" y="3695700"/>
            <a:ext cx="9144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生态开放度</a:t>
            </a:r>
            <a:endParaRPr lang="zh-CN" sz="1125" b="1">
              <a:solidFill>
                <a:srgbClr val="0A19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2038350" y="3676650"/>
            <a:ext cx="4210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开放标准与专有方案并存，替代路径成本中等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419100" y="4562475"/>
            <a:ext cx="5715000" cy="600075"/>
          </a:xfrm>
          <a:prstGeom prst="roundRect">
            <a:avLst>
              <a:gd name="adj" fmla="val 7937"/>
            </a:avLst>
          </a:prstGeom>
          <a:solidFill>
            <a:srgbClr val="F2F7FD"/>
          </a:solidFill>
        </p:spPr>
        <p:txBody>
          <a:bodyPr/>
          <a:p/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533400" y="4648200"/>
            <a:ext cx="548640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经济含义：</a:t>
            </a:r>
            <a:r>
              <a:rPr lang="zh-CN" sz="940" b="1">
                <a:solidFill>
                  <a:srgbClr val="0A1950"/>
                </a:solidFill>
                <a:latin typeface="微软雅黑" panose="020B0503020204020204" charset="-122"/>
                <a:ea typeface="微软雅黑" panose="020B0503020204020204" charset="-122"/>
              </a:rPr>
              <a:t>值得做、窗口在</a:t>
            </a:r>
            <a:r>
              <a:rPr lang="zh-CN" sz="940">
                <a:solidFill>
                  <a:srgbClr val="414141"/>
                </a:solidFill>
                <a:latin typeface="微软雅黑" panose="020B0503020204020204" charset="-122"/>
                <a:ea typeface="微软雅黑" panose="020B0503020204020204" charset="-122"/>
              </a:rPr>
              <a:t>，但要付出治理与适配成本——处置档位落于需系统性验证与论证的区间，非激进上线，亦非观望。</a:t>
            </a:r>
            <a:endParaRPr lang="zh-CN" sz="940">
              <a:solidFill>
                <a:srgbClr val="4141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6496050" y="1266825"/>
            <a:ext cx="14573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850B4"/>
                </a:solidFill>
                <a:latin typeface="微软雅黑" panose="020B0503020204020204" charset="-122"/>
                <a:ea typeface="微软雅黑" panose="020B0503020204020204" charset="-122"/>
              </a:rPr>
              <a:t>六维综合评级雷达图</a:t>
            </a:r>
            <a:endParaRPr lang="zh-CN" sz="1275" b="1">
              <a:solidFill>
                <a:srgbClr val="0850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6496050" y="1562100"/>
            <a:ext cx="5143500" cy="3762375"/>
          </a:xfrm>
          <a:prstGeom prst="roundRect">
            <a:avLst>
              <a:gd name="adj" fmla="val 1519"/>
            </a:avLst>
          </a:prstGeom>
          <a:solidFill>
            <a:srgbClr val="F7FAFE"/>
          </a:solidFill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2"/>
          <a:srcRect t="8139" b="8139"/>
          <a:stretch>
            <a:fillRect/>
          </a:stretch>
        </p:blipFill>
        <p:spPr>
          <a:xfrm>
            <a:off x="7019925" y="1733550"/>
            <a:ext cx="4095750" cy="3429000"/>
          </a:xfrm>
          <a:prstGeom prst="rect">
            <a:avLst/>
          </a:prstGeom>
        </p:spPr>
      </p:pic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7600950" y="5400675"/>
            <a:ext cx="2933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图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8-1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DIP </a:t>
            </a:r>
            <a:r>
              <a:rPr lang="zh-CN" sz="94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六维综合评级雷达（来源：本报告第八章）</a:t>
            </a:r>
            <a:endParaRPr lang="zh-CN" sz="94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533400" y="5525770"/>
            <a:ext cx="11125200" cy="742950"/>
          </a:xfrm>
          <a:prstGeom prst="roundRect">
            <a:avLst>
              <a:gd name="adj" fmla="val 7692"/>
            </a:avLst>
          </a:prstGeom>
          <a:solidFill>
            <a:srgbClr val="0A1950"/>
          </a:solidFill>
        </p:spPr>
        <p:txBody>
          <a:bodyPr/>
          <a:p/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742950" y="5668645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F16"/>
                </a:solidFill>
                <a:latin typeface="微软雅黑" panose="020B0503020204020204" charset="-122"/>
                <a:ea typeface="微软雅黑" panose="020B0503020204020204" charset="-122"/>
              </a:rPr>
              <a:t>处置档位</a:t>
            </a:r>
            <a:endParaRPr lang="zh-CN" sz="1125" b="1">
              <a:solidFill>
                <a:srgbClr val="FBA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742950" y="5840095"/>
            <a:ext cx="14287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系统论证层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343150" y="5668645"/>
            <a:ext cx="9525" cy="4572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2524125" y="5668645"/>
            <a:ext cx="89249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1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三查均未触发：否决线（引入可行度</a:t>
            </a:r>
            <a:r>
              <a:rPr lang="en-US" sz="101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101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＞</a:t>
            </a:r>
            <a:r>
              <a:rPr lang="en-US" sz="101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101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）·</a:t>
            </a:r>
            <a:r>
              <a:rPr lang="en-US" sz="101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1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预警线（生态开放度</a:t>
            </a:r>
            <a:r>
              <a:rPr lang="en-US" sz="101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101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＞</a:t>
            </a:r>
            <a:r>
              <a:rPr lang="en-US" sz="101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101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）·</a:t>
            </a:r>
            <a:r>
              <a:rPr lang="en-US" sz="101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1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红线清单（按约束部署，数据不出境、可解释可审计）。宜以论证集聚证据、以试点验证数据，而非仓促全行推广。</a:t>
            </a:r>
            <a:endParaRPr lang="zh-CN" sz="101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11506200" y="6505575"/>
            <a:ext cx="152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chemeClr val="bg1"/>
                </a:solidFill>
                <a:latin typeface="Arial" panose="020B0604020202020204"/>
                <a:ea typeface="Arial" panose="020B0604020202020204"/>
              </a:rPr>
              <a:t>11</a:t>
            </a:r>
            <a:endParaRPr lang="en-US" sz="1050">
              <a:solidFill>
                <a:schemeClr val="bg1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4510</Words>
  <Application>WPS 演示</Application>
  <PresentationFormat/>
  <Paragraphs>537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Arial Unicode MS</vt:lpstr>
      <vt:lpstr>微软雅黑</vt:lpstr>
      <vt:lpstr>Arial</vt:lpstr>
      <vt:lpstr>Calibri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jay</cp:lastModifiedBy>
  <cp:revision>1</cp:revision>
  <dcterms:created xsi:type="dcterms:W3CDTF">2026-09-18T04:57:30Z</dcterms:created>
  <dcterms:modified xsi:type="dcterms:W3CDTF">2026-09-18T04:57:30Z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17FE394A3ED74C688E08DB11A0287D33_13</vt:lpwstr>
  </property>
</Properties>
</file>