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75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1" r:id="rId18"/>
    <p:sldId id="272" r:id="rId19"/>
    <p:sldId id="274" r:id="rId20"/>
  </p:sldIdLst>
  <p:sldSz cx="12192000" cy="6858000"/>
  <p:notesSz cx="6797675" cy="987425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77D"/>
    <a:srgbClr val="E60000"/>
    <a:srgbClr val="414141"/>
    <a:srgbClr val="0A1950"/>
    <a:srgbClr val="0F6EF0"/>
    <a:srgbClr val="F05A22"/>
    <a:srgbClr val="6E6464"/>
    <a:srgbClr val="BEB4B4"/>
    <a:srgbClr val="AA051E"/>
    <a:srgbClr val="C8D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42"/>
    <p:restoredTop sz="90822" autoAdjust="0"/>
  </p:normalViewPr>
  <p:slideViewPr>
    <p:cSldViewPr snapToGrid="0" snapToObjects="1" showGuides="1">
      <p:cViewPr varScale="1">
        <p:scale>
          <a:sx n="159" d="100"/>
          <a:sy n="159" d="100"/>
        </p:scale>
        <p:origin x="2340" y="132"/>
      </p:cViewPr>
      <p:guideLst>
        <p:guide orient="horz" pos="2158"/>
        <p:guide pos="383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-2472" y="-112"/>
      </p:cViewPr>
      <p:guideLst>
        <p:guide orient="horz" pos="3107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DD206-2CEE-7A48-8986-7CB1B3D61DC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767BE-ACFC-BE45-AB90-F0D153D14BB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6EC14-67A4-CE4F-824E-260CC5583C4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8471F-2E82-9D43-8F51-EC51DE8ADB7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圖片版面配置區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 lvl="0"/>
            <a:r>
              <a:rPr lang="zh-TW" altLang="en-US" noProof="0"/>
              <a:t>将图片拖动到占位符，或单击添加图标</a:t>
            </a:r>
            <a:endParaRPr lang="zh-TW" altLang="en-US" noProof="0" dirty="0"/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4434" y="1120775"/>
            <a:ext cx="11523132" cy="5005388"/>
          </a:xfrm>
          <a:prstGeom prst="rect">
            <a:avLst/>
          </a:prstGeom>
        </p:spPr>
        <p:txBody>
          <a:bodyPr/>
          <a:lstStyle>
            <a:lvl1pPr marL="186055" indent="-186055"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/>
              <a:buChar char="•"/>
              <a:defRPr sz="2000" b="1" baseline="0">
                <a:solidFill>
                  <a:srgbClr val="0639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711200" indent="-27178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sz="1800" b="0" baseline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897255" indent="-186055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sz="1800" b="0" baseline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755" indent="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None/>
              <a:defRPr sz="1800" b="0" baseline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541020" indent="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None/>
              <a:defRPr sz="1800" b="0" baseline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/>
              <a:buChar char="•"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/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  <a:endParaRPr lang="zh-TW" altLang="en-US" dirty="0"/>
          </a:p>
          <a:p>
            <a:pPr lvl="1"/>
            <a:r>
              <a:rPr lang="zh-TW" altLang="en-US" dirty="0"/>
              <a:t>二级</a:t>
            </a:r>
            <a:endParaRPr lang="en-US" altLang="zh-TW" dirty="0"/>
          </a:p>
          <a:p>
            <a:pPr lvl="2"/>
            <a:endParaRPr lang="zh-TW" altLang="en-US" dirty="0"/>
          </a:p>
        </p:txBody>
      </p:sp>
      <p:sp>
        <p:nvSpPr>
          <p:cNvPr id="5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TW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fld id="{586DD0BA-98A2-BB4B-AD49-BF6B8655A97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4434" y="1120775"/>
            <a:ext cx="5665556" cy="50053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buNone/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71755" indent="16891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71755" indent="16891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755" indent="16891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71755" indent="16891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/>
              <a:buChar char="•"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/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  <a:endParaRPr lang="zh-TW" altLang="en-US" dirty="0"/>
          </a:p>
          <a:p>
            <a:pPr lvl="1"/>
            <a:r>
              <a:rPr lang="zh-TW" altLang="en-US" dirty="0"/>
              <a:t>二级</a:t>
            </a:r>
            <a:endParaRPr lang="zh-TW" altLang="en-US" dirty="0"/>
          </a:p>
          <a:p>
            <a:pPr lvl="2"/>
            <a:r>
              <a:rPr lang="zh-TW" altLang="en-US" dirty="0"/>
              <a:t>三级</a:t>
            </a:r>
            <a:endParaRPr lang="zh-TW" altLang="en-US" dirty="0"/>
          </a:p>
          <a:p>
            <a:pPr lvl="3"/>
            <a:r>
              <a:rPr lang="zh-TW" altLang="en-US" dirty="0"/>
              <a:t>四级</a:t>
            </a:r>
            <a:endParaRPr lang="zh-TW" altLang="en-US" dirty="0"/>
          </a:p>
          <a:p>
            <a:pPr lvl="4"/>
            <a:r>
              <a:rPr lang="zh-TW" altLang="en-US" dirty="0"/>
              <a:t>五级</a:t>
            </a:r>
            <a:endParaRPr lang="en-US" altLang="zh-TW" dirty="0"/>
          </a:p>
        </p:txBody>
      </p:sp>
      <p:sp>
        <p:nvSpPr>
          <p:cNvPr id="5" name="內容版面配置區 2"/>
          <p:cNvSpPr>
            <a:spLocks noGrp="1"/>
          </p:cNvSpPr>
          <p:nvPr>
            <p:ph idx="11"/>
          </p:nvPr>
        </p:nvSpPr>
        <p:spPr>
          <a:xfrm>
            <a:off x="6192011" y="1120775"/>
            <a:ext cx="5665556" cy="50053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buNone/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71755" indent="16891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71755" indent="16891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71755" indent="16891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71755" indent="16891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/>
              <a:buChar char="•"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/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90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  <a:endParaRPr lang="zh-TW" altLang="en-US" dirty="0"/>
          </a:p>
          <a:p>
            <a:pPr lvl="1"/>
            <a:r>
              <a:rPr lang="zh-TW" altLang="en-US" dirty="0"/>
              <a:t>二级</a:t>
            </a:r>
            <a:endParaRPr lang="zh-TW" altLang="en-US" dirty="0"/>
          </a:p>
          <a:p>
            <a:pPr lvl="2"/>
            <a:r>
              <a:rPr lang="zh-TW" altLang="en-US" dirty="0"/>
              <a:t>三级</a:t>
            </a:r>
            <a:endParaRPr lang="zh-TW" altLang="en-US" dirty="0"/>
          </a:p>
          <a:p>
            <a:pPr lvl="3"/>
            <a:r>
              <a:rPr lang="zh-TW" altLang="en-US" dirty="0"/>
              <a:t>四级</a:t>
            </a:r>
            <a:endParaRPr lang="zh-TW" altLang="en-US" dirty="0"/>
          </a:p>
          <a:p>
            <a:pPr lvl="4"/>
            <a:r>
              <a:rPr lang="zh-TW" altLang="en-US" dirty="0"/>
              <a:t>五级</a:t>
            </a:r>
            <a:endParaRPr lang="en-US" altLang="zh-TW" dirty="0"/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TW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fld id="{586DD0BA-98A2-BB4B-AD49-BF6B8655A97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0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TW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 黑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TW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黑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6.pn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507059" y="646091"/>
            <a:ext cx="9525047" cy="1064176"/>
          </a:xfrm>
        </p:spPr>
        <p:txBody>
          <a:bodyPr anchor="b"/>
          <a:lstStyle>
            <a:lvl1pPr>
              <a:defRPr sz="3200" b="0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TW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8" name="文字版面配置區 11"/>
          <p:cNvSpPr>
            <a:spLocks noGrp="1"/>
          </p:cNvSpPr>
          <p:nvPr>
            <p:ph type="body" sz="quarter" idx="12"/>
          </p:nvPr>
        </p:nvSpPr>
        <p:spPr>
          <a:xfrm>
            <a:off x="506658" y="1916833"/>
            <a:ext cx="9525401" cy="40950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57300" indent="-342900">
              <a:buClr>
                <a:schemeClr val="tx1">
                  <a:lumMod val="75000"/>
                  <a:lumOff val="25000"/>
                </a:schemeClr>
              </a:buClr>
              <a:buFont typeface="Arial" panose="020B0604020202020204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  <a:endParaRPr lang="zh-TW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5.pn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334433" y="1092200"/>
            <a:ext cx="11542184" cy="0"/>
          </a:xfrm>
          <a:prstGeom prst="line">
            <a:avLst/>
          </a:prstGeom>
          <a:ln w="63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334434" y="1188368"/>
            <a:ext cx="11523133" cy="5021932"/>
          </a:xfrm>
        </p:spPr>
        <p:txBody>
          <a:bodyPr/>
          <a:lstStyle>
            <a:lvl1pPr>
              <a:defRPr sz="3200" b="0" i="0">
                <a:solidFill>
                  <a:srgbClr val="FFFFFF"/>
                </a:solidFill>
                <a:latin typeface="STIXSizeTwoSym-Regular"/>
                <a:ea typeface="微软雅黑" panose="020B0503020204020204" charset="-122"/>
                <a:cs typeface="STIXSizeTwoSym-Regular"/>
              </a:defRPr>
            </a:lvl1pPr>
          </a:lstStyle>
          <a:p>
            <a:r>
              <a:rPr lang="zh-TW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17" name="文字版面配置區 18"/>
          <p:cNvSpPr>
            <a:spLocks noGrp="1"/>
          </p:cNvSpPr>
          <p:nvPr>
            <p:ph type="body" sz="quarter" idx="13"/>
          </p:nvPr>
        </p:nvSpPr>
        <p:spPr>
          <a:xfrm>
            <a:off x="334433" y="165100"/>
            <a:ext cx="11542184" cy="838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TW" altLang="en-US" dirty="0"/>
              <a:t>单击此处编辑母版文本样式</a:t>
            </a:r>
            <a:endParaRPr lang="zh-TW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简易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/>
          </a:p>
        </p:txBody>
      </p:sp>
      <p:sp>
        <p:nvSpPr>
          <p:cNvPr id="10" name="標題版面配置區 1"/>
          <p:cNvSpPr>
            <a:spLocks noGrp="1"/>
          </p:cNvSpPr>
          <p:nvPr>
            <p:ph type="title"/>
          </p:nvPr>
        </p:nvSpPr>
        <p:spPr>
          <a:xfrm>
            <a:off x="956235" y="2002118"/>
            <a:ext cx="9064315" cy="176422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 b="0" baseline="0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TW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11" name="文字版面配置區 13"/>
          <p:cNvSpPr>
            <a:spLocks noGrp="1"/>
          </p:cNvSpPr>
          <p:nvPr>
            <p:ph idx="1"/>
          </p:nvPr>
        </p:nvSpPr>
        <p:spPr>
          <a:xfrm>
            <a:off x="956235" y="4004235"/>
            <a:ext cx="9064315" cy="98611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 sz="1800" b="1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TW" altLang="en-US" noProof="0" dirty="0"/>
              <a:t>单击此处编辑母版文本样式</a:t>
            </a:r>
            <a:endParaRPr lang="zh-TW" altLang="en-US" noProof="0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765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3.pn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字版面配置區 11"/>
          <p:cNvSpPr>
            <a:spLocks noGrp="1"/>
          </p:cNvSpPr>
          <p:nvPr>
            <p:ph type="body" sz="quarter" idx="12"/>
          </p:nvPr>
        </p:nvSpPr>
        <p:spPr>
          <a:xfrm>
            <a:off x="334434" y="2536022"/>
            <a:ext cx="8696677" cy="131656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buNone/>
              <a:defRPr sz="4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57300" indent="-342900">
              <a:buClr>
                <a:schemeClr val="tx1">
                  <a:lumMod val="75000"/>
                  <a:lumOff val="25000"/>
                </a:schemeClr>
              </a:buClr>
              <a:buFont typeface="Arial" panose="020B0604020202020204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endParaRPr lang="zh-TW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7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2" cstate="email"/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cxnSp>
        <p:nvCxnSpPr>
          <p:cNvPr id="8" name="直线连接符 9"/>
          <p:cNvCxnSpPr/>
          <p:nvPr/>
        </p:nvCxnSpPr>
        <p:spPr>
          <a:xfrm>
            <a:off x="-994833" y="260350"/>
            <a:ext cx="797983" cy="0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8"/>
          <p:cNvCxnSpPr/>
          <p:nvPr/>
        </p:nvCxnSpPr>
        <p:spPr>
          <a:xfrm>
            <a:off x="-994833" y="6397625"/>
            <a:ext cx="797983" cy="0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9"/>
          <p:cNvCxnSpPr/>
          <p:nvPr/>
        </p:nvCxnSpPr>
        <p:spPr>
          <a:xfrm>
            <a:off x="6096000" y="-674688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22"/>
          <p:cNvCxnSpPr/>
          <p:nvPr/>
        </p:nvCxnSpPr>
        <p:spPr>
          <a:xfrm>
            <a:off x="6096000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23"/>
          <p:cNvCxnSpPr/>
          <p:nvPr/>
        </p:nvCxnSpPr>
        <p:spPr>
          <a:xfrm>
            <a:off x="11876617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8"/>
          <p:cNvCxnSpPr/>
          <p:nvPr/>
        </p:nvCxnSpPr>
        <p:spPr>
          <a:xfrm>
            <a:off x="311151" y="-674688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1"/>
          <p:cNvCxnSpPr/>
          <p:nvPr/>
        </p:nvCxnSpPr>
        <p:spPr>
          <a:xfrm>
            <a:off x="311151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012767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>
                <a:solidFill>
                  <a:schemeClr val="bg1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586DD0BA-98A2-BB4B-AD49-BF6B8655A976}" type="slidenum">
              <a:rPr kumimoji="1" lang="zh-TW" altLang="en-US" smtClean="0"/>
            </a:fld>
            <a:endParaRPr kumimoji="1" lang="zh-TW" altLang="en-US" dirty="0"/>
          </a:p>
        </p:txBody>
      </p:sp>
      <p:grpSp>
        <p:nvGrpSpPr>
          <p:cNvPr id="2" name="组 1"/>
          <p:cNvGrpSpPr/>
          <p:nvPr userDrawn="1"/>
        </p:nvGrpSpPr>
        <p:grpSpPr>
          <a:xfrm>
            <a:off x="12256675" y="-606956"/>
            <a:ext cx="659924" cy="6963306"/>
            <a:chOff x="9192506" y="-606956"/>
            <a:chExt cx="494943" cy="6963306"/>
          </a:xfrm>
        </p:grpSpPr>
        <p:cxnSp>
          <p:nvCxnSpPr>
            <p:cNvPr id="15" name="直线连接符 18"/>
            <p:cNvCxnSpPr/>
            <p:nvPr/>
          </p:nvCxnSpPr>
          <p:spPr>
            <a:xfrm>
              <a:off x="9195324" y="-606956"/>
              <a:ext cx="0" cy="503238"/>
            </a:xfrm>
            <a:prstGeom prst="line">
              <a:avLst/>
            </a:prstGeom>
            <a:ln w="3175" cmpd="sng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 35"/>
            <p:cNvGrpSpPr/>
            <p:nvPr userDrawn="1"/>
          </p:nvGrpSpPr>
          <p:grpSpPr>
            <a:xfrm>
              <a:off x="9195324" y="4660988"/>
              <a:ext cx="492125" cy="1695362"/>
              <a:chOff x="9210675" y="7083548"/>
              <a:chExt cx="492125" cy="2146300"/>
            </a:xfrm>
          </p:grpSpPr>
          <p:sp>
            <p:nvSpPr>
              <p:cNvPr id="37" name="矩形 36"/>
              <p:cNvSpPr/>
              <p:nvPr/>
            </p:nvSpPr>
            <p:spPr bwMode="auto">
              <a:xfrm>
                <a:off x="9210675" y="7083548"/>
                <a:ext cx="492125" cy="698500"/>
              </a:xfrm>
              <a:prstGeom prst="rect">
                <a:avLst/>
              </a:prstGeom>
              <a:solidFill>
                <a:srgbClr val="BEB4B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chemeClr val="bg2"/>
                    </a:solidFill>
                    <a:latin typeface="Helvetica"/>
                    <a:ea typeface="宋体" panose="02010600030101010101" pitchFamily="2" charset="-122"/>
                    <a:cs typeface="Helvetica"/>
                  </a:rPr>
                  <a:t>R190 G180 B180</a:t>
                </a:r>
                <a:endParaRPr kumimoji="0" lang="zh-CN" altLang="en-US" sz="900" dirty="0">
                  <a:solidFill>
                    <a:schemeClr val="bg2"/>
                  </a:solidFill>
                  <a:latin typeface="Helvetica"/>
                  <a:ea typeface="宋体" panose="02010600030101010101" pitchFamily="2" charset="-122"/>
                  <a:cs typeface="Helvetica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 bwMode="auto">
              <a:xfrm>
                <a:off x="9210675" y="7782048"/>
                <a:ext cx="492125" cy="723899"/>
              </a:xfrm>
              <a:prstGeom prst="rect">
                <a:avLst/>
              </a:prstGeom>
              <a:solidFill>
                <a:srgbClr val="6E64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rgbClr val="FFFFFF"/>
                    </a:solidFill>
                    <a:latin typeface="Helvetica"/>
                    <a:ea typeface="宋体" panose="02010600030101010101" pitchFamily="2" charset="-122"/>
                    <a:cs typeface="Helvetica"/>
                  </a:rPr>
                  <a:t>R110 G100 B100</a:t>
                </a:r>
                <a:endParaRPr kumimoji="0" lang="zh-CN" altLang="en-US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 bwMode="auto">
              <a:xfrm>
                <a:off x="9210675" y="8505949"/>
                <a:ext cx="492125" cy="723899"/>
              </a:xfrm>
              <a:prstGeom prst="rect">
                <a:avLst/>
              </a:prstGeom>
              <a:solidFill>
                <a:srgbClr val="4141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chemeClr val="bg1"/>
                    </a:solidFill>
                    <a:latin typeface="Helvetica"/>
                    <a:ea typeface="宋体" panose="02010600030101010101" pitchFamily="2" charset="-122"/>
                    <a:cs typeface="Helvetica"/>
                  </a:rPr>
                  <a:t>R65 G65 B65</a:t>
                </a:r>
                <a:endParaRPr kumimoji="0" lang="zh-CN" altLang="en-US" sz="900" dirty="0">
                  <a:solidFill>
                    <a:schemeClr val="bg1"/>
                  </a:solidFill>
                  <a:latin typeface="Helvetica"/>
                  <a:ea typeface="宋体" panose="02010600030101010101" pitchFamily="2" charset="-122"/>
                  <a:cs typeface="Helvetica"/>
                </a:endParaRPr>
              </a:p>
            </p:txBody>
          </p:sp>
        </p:grpSp>
        <p:sp>
          <p:nvSpPr>
            <p:cNvPr id="41" name="矩形 40"/>
            <p:cNvSpPr/>
            <p:nvPr/>
          </p:nvSpPr>
          <p:spPr bwMode="auto">
            <a:xfrm>
              <a:off x="9195324" y="0"/>
              <a:ext cx="492125" cy="584377"/>
            </a:xfrm>
            <a:prstGeom prst="rect">
              <a:avLst/>
            </a:prstGeom>
            <a:solidFill>
              <a:srgbClr val="0A19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latin typeface="Helvetica"/>
                  <a:ea typeface="宋体" panose="02010600030101010101" pitchFamily="2" charset="-122"/>
                  <a:cs typeface="Helvetica"/>
                </a:rPr>
                <a:t>R10 G25 B80</a:t>
              </a:r>
              <a:endParaRPr kumimoji="0" lang="zh-CN" altLang="en-US" sz="900" dirty="0">
                <a:latin typeface="Helvetica"/>
                <a:ea typeface="宋体" panose="02010600030101010101" pitchFamily="2" charset="-122"/>
                <a:cs typeface="Helvetica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9195324" y="584377"/>
              <a:ext cx="492125" cy="583052"/>
            </a:xfrm>
            <a:prstGeom prst="rect">
              <a:avLst/>
            </a:prstGeom>
            <a:solidFill>
              <a:srgbClr val="0537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R5 G55 B125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9195323" y="1167429"/>
              <a:ext cx="492125" cy="584376"/>
            </a:xfrm>
            <a:prstGeom prst="rect">
              <a:avLst/>
            </a:prstGeom>
            <a:solidFill>
              <a:srgbClr val="0850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+mn-lt"/>
                  <a:ea typeface="+mn-ea"/>
                  <a:cs typeface="Helvetica"/>
                </a:rPr>
                <a:t>R8 G80</a:t>
              </a:r>
              <a:endParaRPr kumimoji="0" lang="en-US" altLang="zh-CN" sz="900" dirty="0">
                <a:solidFill>
                  <a:srgbClr val="FFFFFF"/>
                </a:solidFill>
                <a:latin typeface="+mn-lt"/>
                <a:ea typeface="+mn-ea"/>
                <a:cs typeface="Helvetic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+mn-lt"/>
                  <a:ea typeface="+mn-ea"/>
                  <a:cs typeface="Helvetica"/>
                </a:rPr>
                <a:t>B180</a:t>
              </a:r>
              <a:endParaRPr kumimoji="0" lang="zh-CN" altLang="en-US" sz="900" dirty="0">
                <a:solidFill>
                  <a:srgbClr val="FFFFFF"/>
                </a:solidFill>
                <a:latin typeface="+mn-lt"/>
                <a:ea typeface="+mn-ea"/>
                <a:cs typeface="Helvetica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9195324" y="3492236"/>
              <a:ext cx="492125" cy="584377"/>
            </a:xfrm>
            <a:prstGeom prst="rect">
              <a:avLst/>
            </a:prstGeom>
            <a:solidFill>
              <a:srgbClr val="AB05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R170 G5 B30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9195324" y="4076613"/>
              <a:ext cx="492125" cy="584376"/>
            </a:xfrm>
            <a:prstGeom prst="rect">
              <a:avLst/>
            </a:prstGeom>
            <a:solidFill>
              <a:srgbClr val="E6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R230 </a:t>
              </a:r>
              <a:r>
                <a:rPr kumimoji="0" lang="en-US" altLang="zh-CN" sz="900" dirty="0">
                  <a:cs typeface="Helvetica"/>
                </a:rPr>
                <a:t>G0</a:t>
              </a:r>
              <a:endParaRPr kumimoji="0" lang="en-US" altLang="zh-CN" sz="900" dirty="0">
                <a:cs typeface="Helvetic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B0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</a:endParaRPr>
            </a:p>
          </p:txBody>
        </p:sp>
        <p:sp>
          <p:nvSpPr>
            <p:cNvPr id="46" name="矩形 45"/>
            <p:cNvSpPr/>
            <p:nvPr userDrawn="1"/>
          </p:nvSpPr>
          <p:spPr bwMode="auto">
            <a:xfrm>
              <a:off x="9195322" y="1751805"/>
              <a:ext cx="492125" cy="584376"/>
            </a:xfrm>
            <a:prstGeom prst="rect">
              <a:avLst/>
            </a:prstGeom>
            <a:solidFill>
              <a:srgbClr val="0F6E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R15 </a:t>
              </a:r>
              <a:r>
                <a:rPr kumimoji="0" lang="en-US" altLang="zh-CN" sz="900" dirty="0">
                  <a:cs typeface="Helvetica"/>
                </a:rPr>
                <a:t>G110</a:t>
              </a: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B240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</a:endParaRPr>
            </a:p>
          </p:txBody>
        </p:sp>
        <p:sp>
          <p:nvSpPr>
            <p:cNvPr id="47" name="矩形 46"/>
            <p:cNvSpPr/>
            <p:nvPr userDrawn="1"/>
          </p:nvSpPr>
          <p:spPr bwMode="auto">
            <a:xfrm>
              <a:off x="9195321" y="2336181"/>
              <a:ext cx="492125" cy="584376"/>
            </a:xfrm>
            <a:prstGeom prst="rect">
              <a:avLst/>
            </a:prstGeom>
            <a:solidFill>
              <a:srgbClr val="78AA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R120 </a:t>
              </a:r>
              <a:r>
                <a:rPr kumimoji="0" lang="en-US" altLang="zh-CN" sz="900" dirty="0">
                  <a:cs typeface="Helvetica"/>
                </a:rPr>
                <a:t>G170</a:t>
              </a: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B245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</a:endParaRPr>
            </a:p>
          </p:txBody>
        </p:sp>
        <p:sp>
          <p:nvSpPr>
            <p:cNvPr id="48" name="矩形 47"/>
            <p:cNvSpPr/>
            <p:nvPr userDrawn="1"/>
          </p:nvSpPr>
          <p:spPr bwMode="auto">
            <a:xfrm>
              <a:off x="9192506" y="2920557"/>
              <a:ext cx="492125" cy="584376"/>
            </a:xfrm>
            <a:prstGeom prst="rect">
              <a:avLst/>
            </a:prstGeom>
            <a:solidFill>
              <a:srgbClr val="C8D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R200 </a:t>
              </a:r>
              <a:r>
                <a:rPr kumimoji="0" lang="en-US" altLang="zh-CN" sz="900" dirty="0">
                  <a:cs typeface="Helvetica"/>
                </a:rPr>
                <a:t>G220</a:t>
              </a:r>
              <a:endParaRPr kumimoji="0" lang="en-US" altLang="zh-CN" sz="900" dirty="0">
                <a:cs typeface="Helvetic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 panose="02010600030101010101" pitchFamily="2" charset="-122"/>
                  <a:cs typeface="Helvetica"/>
                </a:rPr>
                <a:t>B250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0" kern="1200">
          <a:solidFill>
            <a:srgbClr val="E6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PMingLiU" charset="0"/>
          <a:cs typeface="宋体" panose="02010600030101010101" pitchFamily="2" charset="-122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4.xml"/><Relationship Id="rId25" Type="http://schemas.openxmlformats.org/officeDocument/2006/relationships/image" Target="../media/image9.png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pPr algn="l"/>
            <a:r>
              <a:rPr sz="28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决策智能平台（DIP）研究报告</a:t>
            </a:r>
            <a:endParaRPr sz="28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Decision Intelligence Platform </a:t>
            </a:r>
            <a:endParaRPr sz="20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</a:pP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br>
              <a:rPr sz="13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</a:br>
            <a:r>
              <a:rPr sz="18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2026 年 0</a:t>
            </a:r>
            <a:r>
              <a:rPr lang="en-US" sz="18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sz="18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月 · 总行科技发展部-科技规划处</a:t>
            </a:r>
            <a:endParaRPr sz="18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汇报框架</a:t>
            </a:r>
            <a:endParaRPr sz="2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335915" y="1805940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5915" y="1805940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979" y="1805940"/>
            <a:ext cx="44256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9419" y="1860804"/>
            <a:ext cx="4261104" cy="465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一、执行摘要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"/>
              </a:spcAft>
            </a:pP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15" y="2642616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915" y="2642616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7979" y="2642616"/>
            <a:ext cx="44256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419" y="2697480"/>
            <a:ext cx="4261104" cy="465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二、背景与现状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"/>
              </a:spcAft>
            </a:pP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5915" y="3479292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915" y="3479292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47979" y="3479292"/>
            <a:ext cx="44256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419" y="3534156"/>
            <a:ext cx="4261104" cy="299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三、技术解析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5915" y="4315968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915" y="4315968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47979" y="4315968"/>
            <a:ext cx="44256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419" y="4370832"/>
            <a:ext cx="4261104" cy="299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四、应用价值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5915" y="5152644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5915" y="5152644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47979" y="5152644"/>
            <a:ext cx="44256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419" y="5207508"/>
            <a:ext cx="4261104" cy="465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五、风险与挑战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"/>
              </a:spcAft>
            </a:pP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10835" y="1805940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10835" y="1805940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22899" y="1805940"/>
            <a:ext cx="364845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4339" y="1860804"/>
            <a:ext cx="3483863" cy="299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六、市场与生态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10835" y="2642616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10835" y="2642616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22899" y="2642616"/>
            <a:ext cx="364845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4339" y="2697480"/>
            <a:ext cx="3483863" cy="465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七、战略定位与匹配度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"/>
              </a:spcAft>
            </a:pP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10835" y="3479292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10835" y="3479292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22899" y="3479292"/>
            <a:ext cx="364845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14339" y="3534156"/>
            <a:ext cx="3483863" cy="465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八、综合评估结论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"/>
              </a:spcAft>
            </a:pP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10835" y="4315968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10835" y="4315968"/>
            <a:ext cx="512064" cy="7315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922899" y="4315968"/>
            <a:ext cx="364845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14339" y="4370832"/>
            <a:ext cx="3483863" cy="465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九、实施建议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"/>
              </a:spcAft>
            </a:pP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一、执行摘要：六维画像与战略判断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09728" cy="1298448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3593591" cy="1298448"/>
          </a:xfrm>
          <a:prstGeom prst="rect">
            <a:avLst/>
          </a:prstGeom>
          <a:solidFill>
            <a:srgbClr val="F5F8FC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649224" y="1466279"/>
            <a:ext cx="960120" cy="7067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4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8488" y="1261872"/>
            <a:ext cx="2478024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技术成熟度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8488" y="1755648"/>
            <a:ext cx="2478024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Gartner 2025 定位「转型型技术」· TRL 7 · 2-5 年进入主流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43400" y="1170432"/>
            <a:ext cx="109728" cy="1298448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4453128" y="1170432"/>
            <a:ext cx="3593591" cy="1298448"/>
          </a:xfrm>
          <a:prstGeom prst="rect">
            <a:avLst/>
          </a:prstGeom>
          <a:solidFill>
            <a:srgbClr val="F5F8FC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489704" y="1466279"/>
            <a:ext cx="960120" cy="7067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40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58968" y="1261872"/>
            <a:ext cx="2478024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战略匹配度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58968" y="1755648"/>
            <a:ext cx="2478024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同向数智化主线 / 大风控 / AI 工程化；官方未点名 DIP 品类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83880" y="1170432"/>
            <a:ext cx="109728" cy="1298448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8293608" y="1170432"/>
            <a:ext cx="3593591" cy="1298448"/>
          </a:xfrm>
          <a:prstGeom prst="rect">
            <a:avLst/>
          </a:prstGeom>
          <a:solidFill>
            <a:srgbClr val="F5F8FC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330184" y="1466279"/>
            <a:ext cx="960120" cy="7067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40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99448" y="1261872"/>
            <a:ext cx="2478024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价值贡献度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99448" y="1755648"/>
            <a:ext cx="2478024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效率·风控·体验·新业务四维量化实证（FICO × HSBC UK）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2560320"/>
            <a:ext cx="109728" cy="1298448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ectangle 18"/>
          <p:cNvSpPr/>
          <p:nvPr/>
        </p:nvSpPr>
        <p:spPr>
          <a:xfrm>
            <a:off x="612648" y="2560320"/>
            <a:ext cx="3593591" cy="1298448"/>
          </a:xfrm>
          <a:prstGeom prst="rect">
            <a:avLst/>
          </a:prstGeom>
          <a:solidFill>
            <a:srgbClr val="F5F8FC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49224" y="2856167"/>
            <a:ext cx="960120" cy="7067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4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18488" y="2651760"/>
            <a:ext cx="2478024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引入可行度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18488" y="3145535"/>
            <a:ext cx="2478024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短板原则：架构 3 / 合规 3 / 安全 4 / 人才 3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43400" y="2560320"/>
            <a:ext cx="109728" cy="1298448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ectangle 23"/>
          <p:cNvSpPr/>
          <p:nvPr/>
        </p:nvSpPr>
        <p:spPr>
          <a:xfrm>
            <a:off x="4453128" y="2560320"/>
            <a:ext cx="3593591" cy="1298448"/>
          </a:xfrm>
          <a:prstGeom prst="rect">
            <a:avLst/>
          </a:prstGeom>
          <a:solidFill>
            <a:srgbClr val="F5F8FC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4489704" y="2856167"/>
            <a:ext cx="960120" cy="7067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40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58968" y="2651760"/>
            <a:ext cx="2478024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战略紧迫度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58968" y="3145535"/>
            <a:ext cx="2478024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同业已规模化落地 · 2-5 年渗透率 5%-20% 窗口明确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83880" y="2560320"/>
            <a:ext cx="109728" cy="1298448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8293608" y="2560320"/>
            <a:ext cx="3593591" cy="1298448"/>
          </a:xfrm>
          <a:prstGeom prst="rect">
            <a:avLst/>
          </a:prstGeom>
          <a:solidFill>
            <a:srgbClr val="F5F8FC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330184" y="2856167"/>
            <a:ext cx="960120" cy="7067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4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99448" y="2651760"/>
            <a:ext cx="2478024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生态开放度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99448" y="3145535"/>
            <a:ext cx="2478024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开源组件 + 专有核心并存 · 信创适配推进中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2920" y="4114800"/>
            <a:ext cx="2788920" cy="14630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ectangle 33"/>
          <p:cNvSpPr/>
          <p:nvPr/>
        </p:nvSpPr>
        <p:spPr>
          <a:xfrm>
            <a:off x="502920" y="4261104"/>
            <a:ext cx="2788920" cy="676656"/>
          </a:xfrm>
          <a:prstGeom prst="rect">
            <a:avLst/>
          </a:prstGeom>
          <a:solidFill>
            <a:srgbClr val="F5F8FC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433425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值得做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价值贡献 5 分：风控 / 营销 / 运营 / 新业务均有量化验证</a:t>
            </a:r>
            <a:endParaRPr sz="9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429000" y="4114800"/>
            <a:ext cx="2788920" cy="146304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Rectangle 36"/>
          <p:cNvSpPr/>
          <p:nvPr/>
        </p:nvSpPr>
        <p:spPr>
          <a:xfrm>
            <a:off x="3429000" y="4261104"/>
            <a:ext cx="2788920" cy="676656"/>
          </a:xfrm>
          <a:prstGeom prst="rect">
            <a:avLst/>
          </a:prstGeom>
          <a:solidFill>
            <a:srgbClr val="F5F8FC"/>
          </a:solidFill>
          <a:ln w="762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8728" y="433425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窗口在</a:t>
            </a:r>
            <a:endParaRPr sz="13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匹配 4 + 紧迫 3：同业规模化，2-5 年渗透快速提升</a:t>
            </a:r>
            <a:endParaRPr sz="9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55080" y="4114800"/>
            <a:ext cx="2788920" cy="146304"/>
          </a:xfrm>
          <a:prstGeom prst="rect">
            <a:avLst/>
          </a:prstGeom>
          <a:solidFill>
            <a:srgbClr val="555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Rectangle 39"/>
          <p:cNvSpPr/>
          <p:nvPr/>
        </p:nvSpPr>
        <p:spPr>
          <a:xfrm>
            <a:off x="6355080" y="4261104"/>
            <a:ext cx="2788920" cy="676656"/>
          </a:xfrm>
          <a:prstGeom prst="rect">
            <a:avLst/>
          </a:prstGeom>
          <a:solidFill>
            <a:srgbClr val="F5F8FC"/>
          </a:solidFill>
          <a:ln w="7620">
            <a:solidFill>
              <a:srgbClr val="555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433425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门槛在前</a:t>
            </a:r>
            <a:endParaRPr sz="135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可行 3 + 生态 3：数据治理 / 合规 / 架构需先补短板</a:t>
            </a:r>
            <a:endParaRPr sz="9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281160" y="4114800"/>
            <a:ext cx="2788920" cy="146304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Rectangle 42"/>
          <p:cNvSpPr/>
          <p:nvPr/>
        </p:nvSpPr>
        <p:spPr>
          <a:xfrm>
            <a:off x="9281160" y="4261104"/>
            <a:ext cx="2788920" cy="676656"/>
          </a:xfrm>
          <a:prstGeom prst="rect">
            <a:avLst/>
          </a:prstGeom>
          <a:solidFill>
            <a:srgbClr val="F5F8FC"/>
          </a:solidFill>
          <a:ln w="762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90888" y="433425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落点明确</a:t>
            </a:r>
            <a:endParaRPr sz="13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以 AI 工程化行动计划为抓手 · 先 POC 论证、择机确立品类</a:t>
            </a:r>
            <a:endParaRPr sz="9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02920" y="5138928"/>
            <a:ext cx="11475720" cy="45720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175504"/>
            <a:ext cx="11155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处置档位：系统论证层  ·  组合判据 4·4·5·3·3·3（匹配4 + 价值5≥4 前置成立）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5650992"/>
            <a:ext cx="11475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3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核查：可行 3 &gt; 否决阈值 2，未触发否决线；生态 3 &gt; 预警阈值 2，未触发预警线；不涉及个人金融信息违规出境（红线通过，前提＝按约束部署：数据不出境、可解释、可审计）。</a:t>
            </a:r>
            <a:endParaRPr sz="93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二、背景与现状：DIP 为何进入视野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决策复杂度 · AI 能力 · 监管三股力量叠加，把「决策智能化」推向必答题</a:t>
            </a: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3703320" cy="9144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3703320" cy="1298448"/>
          </a:xfrm>
          <a:prstGeom prst="rect">
            <a:avLst/>
          </a:prstGeom>
          <a:solidFill>
            <a:srgbClr val="F5F8FC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4564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决策复杂度持续上升</a:t>
            </a:r>
            <a:endParaRPr sz="14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决策变量激增、链条加长、时效趋高，经验与规则驱动难以应对高频多维动态决策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3400" y="1188720"/>
            <a:ext cx="3703320" cy="9144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280160"/>
            <a:ext cx="3703320" cy="1298448"/>
          </a:xfrm>
          <a:prstGeom prst="rect">
            <a:avLst/>
          </a:prstGeom>
          <a:solidFill>
            <a:srgbClr val="F5F8FC"/>
          </a:solidFill>
          <a:ln w="762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4564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AI / 大模型能力跃升</a:t>
            </a:r>
            <a:endParaRPr sz="14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生成式 AI 与 LLM 在语义理解、模式识别取得突破，为决策智能提供底层工具底座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3880" y="1188720"/>
            <a:ext cx="3703320" cy="9144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80" y="1280160"/>
            <a:ext cx="3703320" cy="1298448"/>
          </a:xfrm>
          <a:prstGeom prst="rect">
            <a:avLst/>
          </a:prstGeom>
          <a:solidFill>
            <a:srgbClr val="F5F8FC"/>
          </a:solidFill>
          <a:ln w="762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4564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监管要求趋严</a:t>
            </a:r>
            <a:endParaRPr sz="14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金融行业对决策可解释 / 公平性要求提升，倒逼建立可审计、可追溯的决策机制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5623560" cy="868680"/>
          </a:xfrm>
          <a:prstGeom prst="rect">
            <a:avLst/>
          </a:prstGeom>
          <a:solidFill>
            <a:srgbClr val="E8F0FA"/>
          </a:solidFill>
          <a:ln w="1016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决策智能 DI ＝ 完整的决策体系</a:t>
            </a:r>
            <a:endParaRPr sz="13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问题定义 · 数据 · 模型 · 流程 · 组织 · 治理 六要素整体设计与运营</a:t>
            </a:r>
            <a:endParaRPr sz="10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55080" y="2743200"/>
            <a:ext cx="5623560" cy="868680"/>
          </a:xfrm>
          <a:prstGeom prst="rect">
            <a:avLst/>
          </a:prstGeom>
          <a:solidFill>
            <a:srgbClr val="F5F8FC"/>
          </a:solidFill>
          <a:ln w="1016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81635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智能决策 ＝ 决策体系中的一项能力</a:t>
            </a:r>
            <a:endParaRPr sz="13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3127248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多指用 AI / 算法辅助完成某次决策，是 DI 闭环中的子集而非全貌</a:t>
            </a:r>
            <a:endParaRPr sz="10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3767328"/>
            <a:ext cx="11475720" cy="347472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既有方式的四断点：机制失效 + 银行侧代价</a:t>
            </a:r>
            <a:endParaRPr sz="11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21208" y="4206240"/>
            <a:ext cx="475488" cy="475488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4206240"/>
            <a:ext cx="475488" cy="475488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✕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数据孤岛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　多源数据难以实时融合，决策依据碎片化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69848" y="4700016"/>
            <a:ext cx="228600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FB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727448"/>
            <a:ext cx="21579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风控与营销依据割裂，放大误判与错配成本</a:t>
            </a:r>
            <a:endParaRPr sz="900" b="0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447288" y="4206240"/>
            <a:ext cx="475488" cy="475488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47288" y="4206240"/>
            <a:ext cx="475488" cy="475488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✕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95928" y="4206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模型黑盒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　传统 ML 缺可解释性，监管难以审计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95928" y="4700016"/>
            <a:ext cx="228600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FB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4727448"/>
            <a:ext cx="21579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削弱可信度与审计力，累积监管与声誉风险</a:t>
            </a:r>
            <a:endParaRPr sz="900" b="0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373368" y="4206240"/>
            <a:ext cx="475488" cy="475488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73368" y="4206240"/>
            <a:ext cx="475488" cy="475488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✕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22008" y="4206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反馈滞后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　效果评估周期长，无法闭环优化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922008" y="4700016"/>
            <a:ext cx="228600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FB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4727448"/>
            <a:ext cx="21579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策略优化拉长，坏账与低效营销损失累积</a:t>
            </a:r>
            <a:endParaRPr sz="900" b="0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9299448" y="4206240"/>
            <a:ext cx="475488" cy="475488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99448" y="4206240"/>
            <a:ext cx="475488" cy="475488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✕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848088" y="4206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人工瓶颈</a:t>
            </a:r>
            <a:endParaRPr sz="13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　高价值决策依赖专家经验，难规模化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848088" y="4700016"/>
            <a:ext cx="228600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FB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4727448"/>
            <a:ext cx="21579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优秀经验依赖个别人，一致性难保证</a:t>
            </a:r>
            <a:endParaRPr sz="900" b="0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" y="5138928"/>
            <a:ext cx="11475720" cy="420624"/>
          </a:xfrm>
          <a:prstGeom prst="rect">
            <a:avLst/>
          </a:prstGeom>
          <a:solidFill>
            <a:srgbClr val="002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11155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 → 决策 → 执行 → 反馈  四点断链 = 系统性失灵：单一工具只能打补丁，DIP 端到端闭环在架构层整体解决。</a:t>
            </a:r>
            <a:endParaRPr sz="11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5614416"/>
            <a:ext cx="11475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定位：DIP 以「决策产出」为终局的智能平台，区别于只提供能力的 AI / 数据中台；Gartner 2026.1 已发布首个 DIP 魔力象限（17 家厂商）。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三、技术解析：DIP 与 BI / AI / ML 的本质差异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DIP 不</a:t>
            </a:r>
            <a:r>
              <a:rPr lang="zh-CN" sz="16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6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替代，而是「分层协同」：填补从分析到决策执行的空白</a:t>
            </a:r>
            <a:endParaRPr sz="16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1606600" cy="457200"/>
          </a:xfrm>
          <a:prstGeom prst="rect">
            <a:avLst/>
          </a:prstGeom>
          <a:solidFill>
            <a:srgbClr val="003078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09520" y="1207008"/>
            <a:ext cx="3098444" cy="457200"/>
          </a:xfrm>
          <a:prstGeom prst="rect">
            <a:avLst/>
          </a:prstGeom>
          <a:solidFill>
            <a:srgbClr val="003078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BI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07965" y="1207008"/>
            <a:ext cx="3098444" cy="457200"/>
          </a:xfrm>
          <a:prstGeom prst="rect">
            <a:avLst/>
          </a:prstGeom>
          <a:solidFill>
            <a:srgbClr val="003078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AI / ML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6409" y="1207008"/>
            <a:ext cx="3672230" cy="457200"/>
          </a:xfrm>
          <a:prstGeom prst="rect">
            <a:avLst/>
          </a:prstGeom>
          <a:solidFill>
            <a:srgbClr val="003078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DIP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60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核心回答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09520" y="1627632"/>
            <a:ext cx="309844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发生了什么 · 为什么发生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07965" y="1627632"/>
            <a:ext cx="309844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将发生什么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06409" y="1627632"/>
            <a:ext cx="3672230" cy="420624"/>
          </a:xfrm>
          <a:prstGeom prst="rect">
            <a:avLst/>
          </a:prstGeom>
          <a:solidFill>
            <a:srgbClr val="E8F0FA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该做什么 · 为什么 · 做了如何</a:t>
            </a:r>
            <a:endParaRPr sz="12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048256"/>
            <a:ext cx="1606600" cy="420624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输出形式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09520" y="2048256"/>
            <a:ext cx="3098444" cy="420624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报表 / 看板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07965" y="2048256"/>
            <a:ext cx="3098444" cy="420624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概率 / 标签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06409" y="2048256"/>
            <a:ext cx="3672230" cy="420624"/>
          </a:xfrm>
          <a:prstGeom prst="rect">
            <a:avLst/>
          </a:prstGeom>
          <a:solidFill>
            <a:srgbClr val="E8F0FA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决策建议 + 依据 + 回灌闭环</a:t>
            </a:r>
            <a:endParaRPr sz="12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160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方法论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109520" y="2468880"/>
            <a:ext cx="309844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聚合统计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207965" y="2468880"/>
            <a:ext cx="309844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相关性建模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06409" y="2468880"/>
            <a:ext cx="3672230" cy="420624"/>
          </a:xfrm>
          <a:prstGeom prst="rect">
            <a:avLst/>
          </a:prstGeom>
          <a:solidFill>
            <a:srgbClr val="E8F0FA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因果推断 + 优化 + 闭环</a:t>
            </a:r>
            <a:endParaRPr sz="12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2889504"/>
            <a:ext cx="1606600" cy="420624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可解释性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109520" y="2889504"/>
            <a:ext cx="3098444" cy="420624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高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207965" y="2889504"/>
            <a:ext cx="3098444" cy="420624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低 ~ 中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06409" y="2889504"/>
            <a:ext cx="3672230" cy="420624"/>
          </a:xfrm>
          <a:prstGeom prst="rect">
            <a:avLst/>
          </a:prstGeom>
          <a:solidFill>
            <a:srgbClr val="E8F0FA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高（路径可追溯 · 决策留痕）</a:t>
            </a:r>
            <a:endParaRPr sz="12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3310128"/>
            <a:ext cx="160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是否闭环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109520" y="3310128"/>
            <a:ext cx="309844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207965" y="3310128"/>
            <a:ext cx="309844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弱</a:t>
            </a:r>
            <a:endParaRPr sz="12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06409" y="3310128"/>
            <a:ext cx="3672230" cy="420624"/>
          </a:xfrm>
          <a:prstGeom prst="rect">
            <a:avLst/>
          </a:prstGeom>
          <a:solidFill>
            <a:srgbClr val="E8F0FA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强（结果实时回灌）</a:t>
            </a:r>
            <a:endParaRPr sz="12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594360" y="4041648"/>
            <a:ext cx="3703320" cy="777240"/>
          </a:xfrm>
          <a:prstGeom prst="chevron">
            <a:avLst/>
          </a:prstGeom>
          <a:solidFill>
            <a:srgbClr val="555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BI</a:t>
            </a:r>
            <a:endParaRPr sz="14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4389120" y="4041648"/>
            <a:ext cx="3703320" cy="777240"/>
          </a:xfrm>
          <a:prstGeom prst="chevron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AI / ML</a:t>
            </a:r>
            <a:endParaRPr sz="14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8183879" y="4041648"/>
            <a:ext cx="3703320" cy="777240"/>
          </a:xfrm>
          <a:prstGeom prst="chevron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DIP</a:t>
            </a:r>
            <a:endParaRPr sz="14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4956048"/>
            <a:ext cx="11475720" cy="502920"/>
          </a:xfrm>
          <a:prstGeom prst="rect">
            <a:avLst/>
          </a:prstGeom>
          <a:solidFill>
            <a:srgbClr val="E8F0FA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10912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分层协同：BI / ML 平台 = 数据与模型底座；RPA = 执行单元；LLM = 感知与交互层。DIP 跨出上述单环节，填补「分析→决策执行」空白。</a:t>
            </a:r>
            <a:endParaRPr sz="10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5577840"/>
            <a:ext cx="11475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核心差异：DIP 回答的不是「会发生什么」，而是「该做什么、为什么、如何验证」。</a:t>
            </a:r>
            <a:endParaRPr sz="12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三、技术解析：决策闭环 = 五步工作流 × 四要素能力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70432"/>
            <a:ext cx="1783080" cy="713232"/>
          </a:xfrm>
          <a:prstGeom prst="round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Capture
获取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2331720" y="1417320"/>
            <a:ext cx="457200" cy="219456"/>
          </a:xfrm>
          <a:prstGeom prst="rightArrow">
            <a:avLst/>
          </a:prstGeom>
          <a:solidFill>
            <a:srgbClr val="C3C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02920" y="1956816"/>
            <a:ext cx="17830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数据集成 · 情境拉取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88920" y="1170432"/>
            <a:ext cx="1783080" cy="713232"/>
          </a:xfrm>
          <a:prstGeom prst="round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Interpret
解读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617720" y="1417320"/>
            <a:ext cx="457200" cy="219456"/>
          </a:xfrm>
          <a:prstGeom prst="rightArrow">
            <a:avLst/>
          </a:prstGeom>
          <a:solidFill>
            <a:srgbClr val="C3C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2788920" y="1956816"/>
            <a:ext cx="17830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可视化 · 现状剖析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74920" y="1170432"/>
            <a:ext cx="1783080" cy="713232"/>
          </a:xfrm>
          <a:prstGeom prst="round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Model
建模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903720" y="1417320"/>
            <a:ext cx="457200" cy="219456"/>
          </a:xfrm>
          <a:prstGeom prst="rightArrow">
            <a:avLst/>
          </a:prstGeom>
          <a:solidFill>
            <a:srgbClr val="C3C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074920" y="1956816"/>
            <a:ext cx="17830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因果测算 · 多路径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60920" y="1170432"/>
            <a:ext cx="1783080" cy="713232"/>
          </a:xfrm>
          <a:prstGeom prst="round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Resolve
确定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9189720" y="1417320"/>
            <a:ext cx="457200" cy="219456"/>
          </a:xfrm>
          <a:prstGeom prst="rightArrow">
            <a:avLst/>
          </a:prstGeom>
          <a:solidFill>
            <a:srgbClr val="C3C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7360920" y="1956816"/>
            <a:ext cx="17830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个性化 · What-if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46920" y="1170432"/>
            <a:ext cx="1783080" cy="713232"/>
          </a:xfrm>
          <a:prstGeom prst="round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Execute
执行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46920" y="1956816"/>
            <a:ext cx="17830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下发 · 闭环学习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2423160"/>
            <a:ext cx="11475720" cy="658368"/>
          </a:xfrm>
          <a:prstGeom prst="rect">
            <a:avLst/>
          </a:prstGeom>
          <a:solidFill>
            <a:srgbClr val="FBEAEA"/>
          </a:solidFill>
          <a:ln w="7620">
            <a:solidFill>
              <a:srgbClr val="8F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客户A申请提高信用卡额度 · 五步全程留痕</a:t>
            </a:r>
            <a:endParaRPr sz="11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2734056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92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① 拉取消费/还款/征信 + 现状用卡 → ② 判定用卡健康 → ③ 因果测算提额净效应 + 风险敞口 → ④ 个性化提额 + What-if → ⑤ 下发并持续跟踪逾期/消费行为回灌</a:t>
            </a:r>
            <a:endParaRPr sz="92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1147572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四要素 ＝ 决策智能区别于传统分析的关键增量</a:t>
            </a:r>
            <a:endParaRPr sz="11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3675887"/>
            <a:ext cx="2788920" cy="9144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502920" y="3767327"/>
            <a:ext cx="2788920" cy="1993392"/>
          </a:xfrm>
          <a:prstGeom prst="rect">
            <a:avLst/>
          </a:prstGeom>
          <a:solidFill>
            <a:srgbClr val="F5F8FC"/>
          </a:solidFill>
          <a:ln w="762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79"/>
            <a:ext cx="256032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因果推断</a:t>
            </a:r>
            <a:endParaRPr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256032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剥离混杂，估准干预净效果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0080" y="4681727"/>
            <a:ext cx="2560320" cy="36576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40080" y="4773168"/>
            <a:ext cx="256032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银行为例</a:t>
            </a:r>
            <a:endParaRPr sz="12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评估「50元消费返现」对活客的真实贡献，剥离客户自身活跃倾向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429000" y="3675887"/>
            <a:ext cx="2788920" cy="9144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3429000" y="3767327"/>
            <a:ext cx="2788920" cy="1993392"/>
          </a:xfrm>
          <a:prstGeom prst="rect">
            <a:avLst/>
          </a:prstGeom>
          <a:solidFill>
            <a:srgbClr val="F5F8FC"/>
          </a:solidFill>
          <a:ln w="762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3566160" y="3840479"/>
            <a:ext cx="256032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优化算法</a:t>
            </a:r>
            <a:endParaRPr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66160" y="4206240"/>
            <a:ext cx="256032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多约束求最优 / 近似最优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566160" y="4681727"/>
            <a:ext cx="2560320" cy="36576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3566160" y="4773168"/>
            <a:ext cx="2560320" cy="939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银行为例</a:t>
            </a:r>
            <a:endParaRPr sz="12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逾期客群 × 外呼/短信/委外/成本 自动最优分配，在合规时段内最大化回收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55080" y="3675887"/>
            <a:ext cx="2788920" cy="9144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6355080" y="3767327"/>
            <a:ext cx="2788920" cy="1993392"/>
          </a:xfrm>
          <a:prstGeom prst="rect">
            <a:avLst/>
          </a:prstGeom>
          <a:solidFill>
            <a:srgbClr val="F5F8FC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6492240" y="3840479"/>
            <a:ext cx="256032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反馈闭环</a:t>
            </a:r>
            <a:endParaRPr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92240" y="4206240"/>
            <a:ext cx="256032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执行回灌 → 持续学习校准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92240" y="4681727"/>
            <a:ext cx="2560320" cy="36576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6492240" y="4773168"/>
            <a:ext cx="2560320" cy="939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银行为例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提额策略上线后跟踪消费/逾期，动态修正「提幅建议」，三个月后越用越准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281160" y="3675887"/>
            <a:ext cx="2788920" cy="91440"/>
          </a:xfrm>
          <a:prstGeom prst="rect">
            <a:avLst/>
          </a:prstGeom>
          <a:solidFill>
            <a:srgbClr val="8F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Rectangle 39"/>
          <p:cNvSpPr/>
          <p:nvPr/>
        </p:nvSpPr>
        <p:spPr>
          <a:xfrm>
            <a:off x="9281160" y="3767327"/>
            <a:ext cx="2788920" cy="1993392"/>
          </a:xfrm>
          <a:prstGeom prst="rect">
            <a:avLst/>
          </a:prstGeom>
          <a:solidFill>
            <a:srgbClr val="F5F8FC"/>
          </a:solidFill>
          <a:ln w="7620">
            <a:solidFill>
              <a:srgbClr val="8F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9418320" y="3840479"/>
            <a:ext cx="256032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可视化决策流</a:t>
            </a:r>
            <a:endParaRPr b="1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18320" y="4206240"/>
            <a:ext cx="256032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图形化 + 路径可追溯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418320" y="4681727"/>
            <a:ext cx="2560320" cy="36576"/>
          </a:xfrm>
          <a:prstGeom prst="rect">
            <a:avLst/>
          </a:prstGeom>
          <a:solidFill>
            <a:srgbClr val="8F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9418320" y="4773168"/>
            <a:ext cx="2560320" cy="939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银行为例</a:t>
            </a:r>
            <a:endParaRPr sz="1200" b="1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授信审批留痕：数据→评分→因果→约束→建议额度，审计一键复核，业务可理解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5760720"/>
            <a:ext cx="1147572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四项缺一，DIP 便退化为普通 BI / 机器学习平台；治理层（决策留痕 / 漂移监控）是金融场景下的核心增量。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三、技术解析：技术演进、范式跃迁与成熟度评级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760720" cy="530352"/>
          </a:xfrm>
          <a:prstGeom prst="rect">
            <a:avLst/>
          </a:prstGeom>
          <a:solidFill>
            <a:srgbClr val="E8F0FA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Oval 3"/>
          <p:cNvSpPr/>
          <p:nvPr/>
        </p:nvSpPr>
        <p:spPr>
          <a:xfrm>
            <a:off x="594360" y="1298448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Oval 4"/>
          <p:cNvSpPr/>
          <p:nvPr/>
        </p:nvSpPr>
        <p:spPr>
          <a:xfrm>
            <a:off x="594360" y="1298448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8408" y="1234440"/>
            <a:ext cx="516636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理论奠基  1950s-60s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8408" y="1463040"/>
            <a:ext cx="51663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Herbert Simon 决策三阶段；运筹学与线性规划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755648"/>
            <a:ext cx="5760720" cy="530352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/>
          <p:cNvSpPr/>
          <p:nvPr/>
        </p:nvSpPr>
        <p:spPr>
          <a:xfrm>
            <a:off x="594360" y="1865376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Oval 9"/>
          <p:cNvSpPr/>
          <p:nvPr/>
        </p:nvSpPr>
        <p:spPr>
          <a:xfrm>
            <a:off x="594360" y="1865376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8408" y="1801368"/>
            <a:ext cx="516636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决策支持 DSS  1970s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8408" y="2029967"/>
            <a:ext cx="51663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Scott Morton 提出 DSS 概念；首次将计算机引入管理决策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2322576"/>
            <a:ext cx="5760720" cy="530352"/>
          </a:xfrm>
          <a:prstGeom prst="rect">
            <a:avLst/>
          </a:prstGeom>
          <a:solidFill>
            <a:srgbClr val="E8F0FA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Oval 13"/>
          <p:cNvSpPr/>
          <p:nvPr/>
        </p:nvSpPr>
        <p:spPr>
          <a:xfrm>
            <a:off x="594360" y="2432304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Oval 14"/>
          <p:cNvSpPr/>
          <p:nvPr/>
        </p:nvSpPr>
        <p:spPr>
          <a:xfrm>
            <a:off x="594360" y="2432304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8408" y="2368296"/>
            <a:ext cx="516636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专家系统 / BI  1980s-90s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8408" y="2596896"/>
            <a:ext cx="51663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规则编码知识（MYCIN）；数据仓库与 BI 兴起，分析/行动断层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2889504"/>
            <a:ext cx="5760720" cy="530352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Oval 18"/>
          <p:cNvSpPr/>
          <p:nvPr/>
        </p:nvSpPr>
        <p:spPr>
          <a:xfrm>
            <a:off x="594360" y="2999232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Oval 19"/>
          <p:cNvSpPr/>
          <p:nvPr/>
        </p:nvSpPr>
        <p:spPr>
          <a:xfrm>
            <a:off x="594360" y="2999232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8408" y="2935224"/>
            <a:ext cx="516636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决策工程  2010-2012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8408" y="3163824"/>
            <a:ext cx="51663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Pratt &amp; Zangari 决策工程范式，DI 学科成立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3456432"/>
            <a:ext cx="5760720" cy="530352"/>
          </a:xfrm>
          <a:prstGeom prst="rect">
            <a:avLst/>
          </a:prstGeom>
          <a:solidFill>
            <a:srgbClr val="E8F0FA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Oval 23"/>
          <p:cNvSpPr/>
          <p:nvPr/>
        </p:nvSpPr>
        <p:spPr>
          <a:xfrm>
            <a:off x="594360" y="3566160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Oval 24"/>
          <p:cNvSpPr/>
          <p:nvPr/>
        </p:nvSpPr>
        <p:spPr>
          <a:xfrm>
            <a:off x="594360" y="3566160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8408" y="3502152"/>
            <a:ext cx="516636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标准化 / 平台化  2015-2019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8408" y="3730752"/>
            <a:ext cx="51663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OMG 发布 DMN 1.0；Gartner 持续深化 DI 品类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4023360"/>
            <a:ext cx="5760720" cy="530352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Oval 28"/>
          <p:cNvSpPr/>
          <p:nvPr/>
        </p:nvSpPr>
        <p:spPr>
          <a:xfrm>
            <a:off x="594360" y="4133088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Oval 29"/>
          <p:cNvSpPr/>
          <p:nvPr/>
        </p:nvSpPr>
        <p:spPr>
          <a:xfrm>
            <a:off x="594360" y="4133088"/>
            <a:ext cx="310896" cy="310896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8408" y="4069080"/>
            <a:ext cx="516636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主流化  2022-2026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8408" y="4297680"/>
            <a:ext cx="51663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Gartner 2025 转型型技术；2026.1 首个 DIP 魔力象限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46520" y="1188720"/>
            <a:ext cx="553212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三次范式跃迁</a:t>
            </a:r>
            <a:endParaRPr sz="14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46520" y="1609344"/>
            <a:ext cx="553212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Oval 34"/>
          <p:cNvSpPr/>
          <p:nvPr/>
        </p:nvSpPr>
        <p:spPr>
          <a:xfrm>
            <a:off x="6501383" y="1755648"/>
            <a:ext cx="365760" cy="365760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Oval 35"/>
          <p:cNvSpPr/>
          <p:nvPr/>
        </p:nvSpPr>
        <p:spPr>
          <a:xfrm>
            <a:off x="6501383" y="1755648"/>
            <a:ext cx="365760" cy="365760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14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49440" y="1655064"/>
            <a:ext cx="498348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DSS → 专家系统 / BI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49440" y="1901952"/>
            <a:ext cx="49834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从「辅助决策」走向「编码决策知识」与「数据驱动洞察」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46520" y="2322576"/>
            <a:ext cx="553212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Oval 39"/>
          <p:cNvSpPr/>
          <p:nvPr/>
        </p:nvSpPr>
        <p:spPr>
          <a:xfrm>
            <a:off x="6501383" y="2468880"/>
            <a:ext cx="365760" cy="365760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Oval 40"/>
          <p:cNvSpPr/>
          <p:nvPr/>
        </p:nvSpPr>
        <p:spPr>
          <a:xfrm>
            <a:off x="6501383" y="2468880"/>
            <a:ext cx="365760" cy="365760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14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49440" y="2368296"/>
            <a:ext cx="498348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专家系统 / BI → 决策智能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49440" y="2615184"/>
            <a:ext cx="49834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Pratt 提出「决策为中心」建模范式；因果决策图弥合分析-行动断层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46520" y="3035808"/>
            <a:ext cx="5532120" cy="658368"/>
          </a:xfrm>
          <a:prstGeom prst="rect">
            <a:avLst/>
          </a:prstGeom>
          <a:solidFill>
            <a:srgbClr val="F5F8FC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Oval 44"/>
          <p:cNvSpPr/>
          <p:nvPr/>
        </p:nvSpPr>
        <p:spPr>
          <a:xfrm>
            <a:off x="6501383" y="3182112"/>
            <a:ext cx="365760" cy="365760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Oval 45"/>
          <p:cNvSpPr/>
          <p:nvPr/>
        </p:nvSpPr>
        <p:spPr>
          <a:xfrm>
            <a:off x="6501383" y="3182112"/>
            <a:ext cx="365760" cy="365760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14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49440" y="3081528"/>
            <a:ext cx="498348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决策智能概念 → DIP 平台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949440" y="3328416"/>
            <a:ext cx="49834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DMN 标准化 + Gartner 品类定义，DI 落地为企业级平台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446520" y="3822191"/>
            <a:ext cx="5532120" cy="132588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6629400" y="3931920"/>
            <a:ext cx="516636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技术成熟度评级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29600" y="3867911"/>
            <a:ext cx="365760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 / 5</a:t>
            </a:r>
            <a:endParaRPr sz="32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629400" y="4325112"/>
            <a:ext cx="516636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Gartner 2025 Hype Cycle：转型型技术（2-5 年进入主流，渗透 5-20%）</a:t>
            </a:r>
            <a:endParaRPr sz="14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29400" y="4626864"/>
            <a:ext cx="516636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TRL 7：系统原型已在运营环境验证，多行业生产级部署；2026.1 首个 DIP 魔力象限 17 家厂商进入主流。</a:t>
            </a:r>
            <a:endParaRPr sz="12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02920" y="5303520"/>
            <a:ext cx="11475720" cy="566928"/>
          </a:xfrm>
          <a:prstGeom prst="rect">
            <a:avLst/>
          </a:prstGeom>
          <a:solidFill>
            <a:srgbClr val="FBEAEA"/>
          </a:solidFill>
          <a:ln w="10160">
            <a:solidFill>
              <a:srgbClr val="8F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358130"/>
            <a:ext cx="11247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演进警示</a:t>
            </a:r>
            <a:endParaRPr sz="11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40080" y="5559552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Agentic AI 路线可能重塑 DIP 承载形态：从「规则+模型」向「多智能体协作、自主决策」演进，对可解释、可审计、责任划分提出更高要求。</a:t>
            </a:r>
            <a:endParaRPr sz="9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四、应用场景与价值实证：四大高价值场景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788920" cy="128016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2788920" cy="1883664"/>
          </a:xfrm>
          <a:prstGeom prst="rect">
            <a:avLst/>
          </a:prstGeom>
          <a:solidFill>
            <a:srgbClr val="F5F8FC"/>
          </a:solidFill>
          <a:ln w="762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25146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智能风控</a:t>
            </a:r>
            <a:endParaRPr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信贷审批 · 伪优质识别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029967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实时反欺诈 · 规则+模型双轨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反洗钱团伙 · 知识图谱穿透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2770632"/>
            <a:ext cx="2514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40080" y="2798064"/>
            <a:ext cx="2514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准确率 +5% ~ +20%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74720" y="1170432"/>
            <a:ext cx="2788920" cy="128016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3474720" y="1298448"/>
            <a:ext cx="2788920" cy="1883664"/>
          </a:xfrm>
          <a:prstGeom prst="rect">
            <a:avLst/>
          </a:prstGeom>
          <a:solidFill>
            <a:srgbClr val="F5F8FC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611879" y="1353312"/>
            <a:ext cx="25146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精准营销</a:t>
            </a:r>
            <a:endParaRPr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79" y="1737360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客户分层 · 多臂老虎机试投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1879" y="2029967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个性化产品 · 边试边学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1879" y="2322576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动态定价 · 运筹优化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11879" y="2770632"/>
            <a:ext cx="2514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3611879" y="2798064"/>
            <a:ext cx="2514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转化率 +3% ~ +15%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46520" y="1170432"/>
            <a:ext cx="2788920" cy="128016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6446520" y="1298448"/>
            <a:ext cx="2788920" cy="1883664"/>
          </a:xfrm>
          <a:prstGeom prst="rect">
            <a:avLst/>
          </a:prstGeom>
          <a:solidFill>
            <a:srgbClr val="F5F8FC"/>
          </a:solidFill>
          <a:ln w="762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6583680" y="1353312"/>
            <a:ext cx="25146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智能运营</a:t>
            </a:r>
            <a:endParaRPr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1737360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网点与客服智能排班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0" y="2029967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催收渠道 · 客群动态分流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2322576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网点布点 · 资源调配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3680" y="2770632"/>
            <a:ext cx="2514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583680" y="2798064"/>
            <a:ext cx="2514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时效缩短 10% ~ 40%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418320" y="1170432"/>
            <a:ext cx="2788920" cy="128016"/>
          </a:xfrm>
          <a:prstGeom prst="rect">
            <a:avLst/>
          </a:prstGeom>
          <a:solidFill>
            <a:srgbClr val="8F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9418320" y="1298448"/>
            <a:ext cx="2788920" cy="1883664"/>
          </a:xfrm>
          <a:prstGeom prst="rect">
            <a:avLst/>
          </a:prstGeom>
          <a:solidFill>
            <a:srgbClr val="F5F8FC"/>
          </a:solidFill>
          <a:ln w="7620">
            <a:solidFill>
              <a:srgbClr val="8F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9555480" y="1353312"/>
            <a:ext cx="25146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b="1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合规审计</a:t>
            </a:r>
            <a:endParaRPr b="1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555480" y="1737360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监管报送 · 自动组装校验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555480" y="2029967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可疑交易报告 · 全程留痕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555480" y="2322576"/>
            <a:ext cx="25146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消保核查 · 合规前移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555480" y="2770632"/>
            <a:ext cx="2514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F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9555480" y="2798064"/>
            <a:ext cx="2514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报送周期与解释成本下降</a:t>
            </a:r>
            <a:endParaRPr sz="1400" b="1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3383280"/>
            <a:ext cx="11475720" cy="347472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场景切入顺序矩阵（见效快慢 × 合规敏感度）</a:t>
            </a:r>
            <a:endParaRPr sz="14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42060" y="3840480"/>
            <a:ext cx="7239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见效快</a:t>
            </a:r>
            <a:endParaRPr sz="12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3790" y="5323840"/>
            <a:ext cx="7315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2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见效慢</a:t>
            </a:r>
            <a:endParaRPr sz="12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26710" y="5568696"/>
            <a:ext cx="7498079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合规敏感度高</a:t>
            </a:r>
            <a:endParaRPr sz="12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057400" y="3886200"/>
            <a:ext cx="3657599" cy="754380"/>
          </a:xfrm>
          <a:prstGeom prst="rect">
            <a:avLst/>
          </a:prstGeom>
          <a:solidFill>
            <a:srgbClr val="F5F8FC"/>
          </a:solidFill>
          <a:ln w="1524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2148840" y="3931920"/>
            <a:ext cx="347471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P1  智能运营 · 网点布点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48840" y="4343400"/>
            <a:ext cx="3474719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首推：低风险 POC，见效快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806440" y="3886200"/>
            <a:ext cx="3657599" cy="754380"/>
          </a:xfrm>
          <a:prstGeom prst="rect">
            <a:avLst/>
          </a:prstGeom>
          <a:solidFill>
            <a:srgbClr val="F5F8FC"/>
          </a:solidFill>
          <a:ln w="1524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5897879" y="3931920"/>
            <a:ext cx="347471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P2  精准营销 · 动态定价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97879" y="4343400"/>
            <a:ext cx="3474719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可量化、可归因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57400" y="4732020"/>
            <a:ext cx="3657599" cy="754380"/>
          </a:xfrm>
          <a:prstGeom prst="rect">
            <a:avLst/>
          </a:prstGeom>
          <a:solidFill>
            <a:srgbClr val="F5F8FC"/>
          </a:solidFill>
          <a:ln w="15240">
            <a:solidFill>
              <a:srgbClr val="8F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2148840" y="4777740"/>
            <a:ext cx="347471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P3  合规审计 · 监管报送</a:t>
            </a:r>
            <a:endParaRPr sz="1400" b="1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48840" y="5189220"/>
            <a:ext cx="3474719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治理先行 · 报送压期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806440" y="4732020"/>
            <a:ext cx="3657599" cy="754380"/>
          </a:xfrm>
          <a:prstGeom prst="rect">
            <a:avLst/>
          </a:prstGeom>
          <a:solidFill>
            <a:srgbClr val="F5F8FC"/>
          </a:solidFill>
          <a:ln w="1524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5897879" y="4777740"/>
            <a:ext cx="347471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P4  智能风控 · 信贷审批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97879" y="5189220"/>
            <a:ext cx="3474719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高价值 · 高门槛 · 最后做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2156460" y="5568950"/>
            <a:ext cx="5895975" cy="216535"/>
          </a:xfrm>
          <a:prstGeom prst="rightArrow">
            <a:avLst/>
          </a:prstGeom>
          <a:solidFill>
            <a:schemeClr val="accent3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kumimoji="1" lang="zh-CN" altLang="en-US" sz="2400"/>
          </a:p>
        </p:txBody>
      </p:sp>
      <p:sp>
        <p:nvSpPr>
          <p:cNvPr id="52" name="文本框 51"/>
          <p:cNvSpPr txBox="1"/>
          <p:nvPr/>
        </p:nvSpPr>
        <p:spPr>
          <a:xfrm>
            <a:off x="1323975" y="5785485"/>
            <a:ext cx="1554480" cy="217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12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+mn-ea"/>
              </a:rPr>
              <a:t>合规敏感度低 </a:t>
            </a:r>
            <a:endParaRPr kumimoji="1" lang="zh-CN" altLang="en-US" sz="1200" b="1" i="0" dirty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上箭头 52"/>
          <p:cNvSpPr/>
          <p:nvPr/>
        </p:nvSpPr>
        <p:spPr>
          <a:xfrm>
            <a:off x="1657985" y="4183380"/>
            <a:ext cx="187325" cy="982980"/>
          </a:xfrm>
          <a:prstGeom prst="upArrow">
            <a:avLst/>
          </a:prstGeom>
          <a:solidFill>
            <a:schemeClr val="accent3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四、应用场景与价值实证（2）：同业落地案例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 个实名公开案例 · 价值贡献度 5 分的实证底座（HSBC / 渣打 / SAS）</a:t>
            </a: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3703320" cy="60350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FICO × HSBC UK</a:t>
            </a:r>
            <a:endParaRPr sz="15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消费信贷 · 因果决策 + ML</a:t>
            </a:r>
            <a:endParaRPr sz="10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773936"/>
            <a:ext cx="3703320" cy="2688336"/>
          </a:xfrm>
          <a:prstGeom prst="rect">
            <a:avLst/>
          </a:prstGeom>
          <a:solidFill>
            <a:srgbClr val="F5F8FC"/>
          </a:solidFill>
          <a:ln w="635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月均消费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901952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+15%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39" y="1901952"/>
            <a:ext cx="128016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实证核心 · 增量为真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322576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活跃率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2322576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+2pct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39" y="2322576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客群持续激活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钱包份额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2743200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+6pct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34639" y="2743200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份额 + 价值双提升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3163824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优化场景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3163824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40 个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4639" y="3163824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决策场景规模化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3584448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风险水平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3584448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未上升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34639" y="3584448"/>
            <a:ext cx="128016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增益前提：风险不放大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89120" y="1170432"/>
            <a:ext cx="3703320" cy="603504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243584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渣打 × Quantexa</a:t>
            </a:r>
            <a:endParaRPr sz="15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80" y="1517904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反金融犯罪 · 上下文网络</a:t>
            </a:r>
            <a:endParaRPr sz="10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89120" y="1773936"/>
            <a:ext cx="3703320" cy="2688336"/>
          </a:xfrm>
          <a:prstGeom prst="rect">
            <a:avLst/>
          </a:prstGeom>
          <a:solidFill>
            <a:srgbClr val="F5F8FC"/>
          </a:solidFill>
          <a:ln w="635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4526280" y="1901952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决策依据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15000" y="1901952"/>
            <a:ext cx="100584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更快 · 更准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20840" y="1901952"/>
            <a:ext cx="128016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官方表述（未披露 ms）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6280" y="2322576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15000" y="2322576"/>
            <a:ext cx="100584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动态实体解析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20840" y="2322576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网络化看关系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80" y="2743200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15000" y="2743200"/>
            <a:ext cx="100584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反洗钱 / 反欺诈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20840" y="2743200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双场景落地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26280" y="3163824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15000" y="3163824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规模化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20840" y="3163824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已上线运行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26280" y="3584448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能力对照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15000" y="3584448"/>
            <a:ext cx="100584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知识图谱机制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20840" y="3584448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对应 3.2 关键技术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275320" y="1170432"/>
            <a:ext cx="3703320" cy="603504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1243584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SAS</a:t>
            </a:r>
            <a:endParaRPr sz="15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12480" y="1517904"/>
            <a:ext cx="3429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Gartner 首版魔力象限 · 领导者</a:t>
            </a:r>
            <a:endParaRPr sz="10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275320" y="1773936"/>
            <a:ext cx="3703320" cy="2688336"/>
          </a:xfrm>
          <a:prstGeom prst="rect">
            <a:avLst/>
          </a:prstGeom>
          <a:solidFill>
            <a:srgbClr val="F5F8FC"/>
          </a:solidFill>
          <a:ln w="635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8412480" y="1901952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象限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601200" y="1901952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Leaders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607040" y="1901952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首版 = 品类成型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12480" y="2322576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交付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601200" y="2322576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决策治理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607040" y="2322576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可解释 · 可审计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12480" y="2743200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能力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01200" y="2743200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行业沉淀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607040" y="2743200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金融 Know-how 深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412480" y="3163824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基线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601200" y="3163824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能力清单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607040" y="3163824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Build vs Buy 评估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412480" y="3584448"/>
            <a:ext cx="1188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地位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601200" y="3584448"/>
            <a:ext cx="100584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魔力象限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07040" y="3584448"/>
            <a:ext cx="128016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执行+愿景均居前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02920" y="4663440"/>
            <a:ext cx="11475720" cy="1188720"/>
          </a:xfrm>
          <a:prstGeom prst="rect">
            <a:avLst/>
          </a:prstGeom>
          <a:solidFill>
            <a:srgbClr val="E8F0FA"/>
          </a:solidFill>
          <a:ln w="1016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1" name="TextBox 60"/>
          <p:cNvSpPr txBox="1"/>
          <p:nvPr/>
        </p:nvSpPr>
        <p:spPr>
          <a:xfrm>
            <a:off x="640080" y="4718303"/>
            <a:ext cx="1115568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价值贡献度 5 分 · 三案例互为印证：HSBC 经营增益、渣打 风控实时、SAS 商业成熟度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0080" y="5029200"/>
            <a:ext cx="11155680" cy="516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效率（运营时效）+ 风控（欺诈识别）+ 体验（通过率 / 个性化）+ 新业务（场景拓展）四维度均有量化实证；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三家案例均为境外同业，客群与监管与国内行存在差异，可作方向验证而非可直接照搬的本土效益预测；最终口径需以本行 POC 实测校准。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四、应用场景与价值实证（3）：效益测算（量级区间）</a:t>
            </a: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749807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分场景 · 三档成效区间（取代表值示意）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200" y="1207008"/>
            <a:ext cx="1371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保守</a:t>
            </a:r>
            <a:endParaRPr sz="14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03320" y="1207008"/>
            <a:ext cx="1371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中性</a:t>
            </a:r>
            <a:endParaRPr sz="14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6440" y="1207008"/>
            <a:ext cx="1371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乐观</a:t>
            </a:r>
            <a:endParaRPr sz="14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09728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风控模型优化</a:t>
            </a:r>
            <a:endParaRPr sz="16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5920" y="166420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1645920" y="1664208"/>
            <a:ext cx="604723" cy="2743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645920" y="195681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+5~8%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7119" y="166420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3627119" y="1664208"/>
            <a:ext cx="1133855" cy="2743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627119" y="195681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+10~15%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08320" y="166420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5608320" y="1664208"/>
            <a:ext cx="1889759" cy="27432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608320" y="195681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+20~25%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2304288"/>
            <a:ext cx="68580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% 准确率提升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2670048"/>
            <a:ext cx="109728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营销转化提升</a:t>
            </a:r>
            <a:endParaRPr sz="16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645920" y="276148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1645920" y="2761488"/>
            <a:ext cx="472439" cy="2743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1645920" y="305409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+3~5%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27119" y="276148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3627119" y="2761488"/>
            <a:ext cx="1133855" cy="2743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3627119" y="305409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+8~12%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08320" y="276148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ectangle 25"/>
          <p:cNvSpPr/>
          <p:nvPr/>
        </p:nvSpPr>
        <p:spPr>
          <a:xfrm>
            <a:off x="5608320" y="2761488"/>
            <a:ext cx="1889759" cy="27432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5608320" y="305409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+15~20%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3401568"/>
            <a:ext cx="68580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% 转化率提升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3767328"/>
            <a:ext cx="109728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运营效率提升</a:t>
            </a:r>
            <a:endParaRPr sz="16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645920" y="385876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30"/>
          <p:cNvSpPr/>
          <p:nvPr/>
        </p:nvSpPr>
        <p:spPr>
          <a:xfrm>
            <a:off x="1645920" y="3858768"/>
            <a:ext cx="755904" cy="2743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1645920" y="415137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+10~20%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27119" y="385876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3627119" y="3858768"/>
            <a:ext cx="1322831" cy="2743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3627119" y="415137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+25~35%</a:t>
            </a:r>
            <a:endParaRPr sz="14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608320" y="3858768"/>
            <a:ext cx="1889759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/>
          <p:cNvSpPr/>
          <p:nvPr/>
        </p:nvSpPr>
        <p:spPr>
          <a:xfrm>
            <a:off x="5608320" y="3858768"/>
            <a:ext cx="1889759" cy="27432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5608320" y="4151376"/>
            <a:ext cx="1889759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+40~50%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4498848"/>
            <a:ext cx="68580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% 时效缩短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275320" y="1207008"/>
            <a:ext cx="3703320" cy="36576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8366760" y="1221296"/>
            <a:ext cx="352044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FICO × HSBC UK 实证（外部基准）</a:t>
            </a:r>
            <a:endParaRPr sz="1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275320" y="1572768"/>
            <a:ext cx="3703320" cy="2103120"/>
          </a:xfrm>
          <a:prstGeom prst="rect">
            <a:avLst/>
          </a:prstGeom>
          <a:solidFill>
            <a:srgbClr val="F5F8FC"/>
          </a:solidFill>
          <a:ln w="635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8412480" y="1664208"/>
            <a:ext cx="1371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月均消费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829800" y="1664208"/>
            <a:ext cx="2011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+15%</a:t>
            </a:r>
            <a:endParaRPr sz="2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412480" y="2139696"/>
            <a:ext cx="1371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活跃率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829800" y="2139696"/>
            <a:ext cx="2011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+2pct</a:t>
            </a:r>
            <a:endParaRPr sz="2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12480" y="2615184"/>
            <a:ext cx="1371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钱包份额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829800" y="2615184"/>
            <a:ext cx="2011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+6pct</a:t>
            </a:r>
            <a:endParaRPr sz="2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412480" y="3090672"/>
            <a:ext cx="13716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决策场景</a:t>
            </a:r>
            <a:endParaRPr sz="14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29800" y="3090672"/>
            <a:ext cx="201168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40 个</a:t>
            </a:r>
            <a:endParaRPr sz="2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275320" y="3794760"/>
            <a:ext cx="3703320" cy="292608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三档差异因素</a:t>
            </a:r>
            <a:endParaRPr sz="14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275320" y="4160520"/>
            <a:ext cx="3703320" cy="365760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Box 52"/>
          <p:cNvSpPr txBox="1"/>
          <p:nvPr/>
        </p:nvSpPr>
        <p:spPr>
          <a:xfrm>
            <a:off x="8412480" y="4197096"/>
            <a:ext cx="118872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数据规范度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601200" y="4197096"/>
            <a:ext cx="2331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数据治理越规范，越靠上限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275320" y="4572000"/>
            <a:ext cx="3703320" cy="365760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/>
          <p:cNvSpPr txBox="1"/>
          <p:nvPr/>
        </p:nvSpPr>
        <p:spPr>
          <a:xfrm>
            <a:off x="8412480" y="4608576"/>
            <a:ext cx="118872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建模深度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01200" y="4608576"/>
            <a:ext cx="2331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因果建模越充分，越靠上限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275320" y="4983480"/>
            <a:ext cx="3703320" cy="365760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/>
          <p:cNvSpPr txBox="1"/>
          <p:nvPr/>
        </p:nvSpPr>
        <p:spPr>
          <a:xfrm>
            <a:off x="8412480" y="5020056"/>
            <a:ext cx="118872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嵌入深度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601200" y="5020056"/>
            <a:ext cx="2331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业务嵌入越深，越靠上限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02920" y="5650992"/>
            <a:ext cx="11475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口径：成效带非预测值；前提＝决策闭环真正落地。来源：SNS Insider / Fortune BI / FICO × HSBC UK；中外差异显著，需本行试点校准。</a:t>
            </a:r>
            <a:endParaRPr sz="12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五、风险与挑战：监管映射 · 风险矩阵 · 管控分类</a:t>
            </a: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28192"/>
            <a:ext cx="5577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291839" y="1028192"/>
            <a:ext cx="0" cy="4023360"/>
          </a:xfrm>
          <a:prstGeom prst="line">
            <a:avLst/>
          </a:prstGeom>
          <a:ln w="6350">
            <a:solidFill>
              <a:srgbClr val="C3C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3039872"/>
            <a:ext cx="5577839" cy="0"/>
          </a:xfrm>
          <a:prstGeom prst="line">
            <a:avLst/>
          </a:prstGeom>
          <a:ln w="6350">
            <a:solidFill>
              <a:srgbClr val="C3C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735584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概率低 ←→ 概率高</a:t>
            </a:r>
            <a:endParaRPr sz="10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276555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影响高</a:t>
            </a:r>
            <a:endParaRPr sz="10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40679" y="276555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影响低</a:t>
            </a:r>
            <a:endParaRPr sz="10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12156" y="1587804"/>
            <a:ext cx="329184" cy="329184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2283" y="1324533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数据出境合规</a:t>
            </a:r>
            <a:endParaRPr sz="10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41213" y="1569389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(中 × 高)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79492" y="4001820"/>
            <a:ext cx="329184" cy="329184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9814" y="4013504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模型可解释性</a:t>
            </a:r>
            <a:endParaRPr sz="10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93159" y="4223435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(高 × 中)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406140" y="2472944"/>
            <a:ext cx="329184" cy="329184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3612" y="243636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供应商锁定</a:t>
            </a:r>
            <a:endParaRPr sz="10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53612" y="2655824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(中 × 中)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800600" y="3277616"/>
            <a:ext cx="329184" cy="329184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3258819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人才短缺</a:t>
            </a:r>
            <a:endParaRPr sz="10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48072" y="347827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(高 × 中)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406140" y="1587804"/>
            <a:ext cx="329184" cy="329184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3612" y="155122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安全攻击面</a:t>
            </a:r>
            <a:endParaRPr sz="10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53612" y="1770684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(中 × 高)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55080" y="885952"/>
            <a:ext cx="562356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监管映射（合规底线）</a:t>
            </a:r>
            <a:endParaRPr sz="11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288288"/>
            <a:ext cx="91440" cy="310896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1288288"/>
            <a:ext cx="5532120" cy="310896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6537960" y="1324864"/>
            <a:ext cx="2331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《数据安全法》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69680" y="1324864"/>
            <a:ext cx="31089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数据本地化 · 最小必要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355080" y="1654048"/>
            <a:ext cx="91440" cy="310896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1654048"/>
            <a:ext cx="5532120" cy="310896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6537960" y="1690624"/>
            <a:ext cx="23317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《个人信息保护法》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69680" y="1690624"/>
            <a:ext cx="31089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自动化决策告知 · 拒绝权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2019808"/>
            <a:ext cx="91440" cy="310896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2019808"/>
            <a:ext cx="5532120" cy="310896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6329680" y="2054860"/>
            <a:ext cx="278892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《商业银行互联网贷款管理暂行办法》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06840" y="2056384"/>
            <a:ext cx="31089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模型可解释 · 无歧视</a:t>
            </a:r>
            <a:endParaRPr sz="12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355080" y="2495296"/>
            <a:ext cx="562356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5 项主要风险 · 触发场景与应对</a:t>
            </a:r>
            <a:endParaRPr sz="11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55080" y="2897632"/>
            <a:ext cx="91440" cy="41148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2897632"/>
            <a:ext cx="5532120" cy="411480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6537960" y="2915920"/>
            <a:ext cx="15087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数据出境合规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46720" y="2915920"/>
            <a:ext cx="192024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境外 SaaS 处理境内个人金融数据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966960" y="2915920"/>
            <a:ext cx="201168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优先国产替代；出境前完成安全评估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355080" y="3354832"/>
            <a:ext cx="91440" cy="41148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46520" y="3354832"/>
            <a:ext cx="5532120" cy="411480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6537960" y="3373120"/>
            <a:ext cx="15087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模型可解释性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46720" y="3373120"/>
            <a:ext cx="192024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监管审计要求解释决策逻辑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66960" y="3373120"/>
            <a:ext cx="201168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引入可解释 AI 框架；保留决策日志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355080" y="3812032"/>
            <a:ext cx="91440" cy="41148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46520" y="3812032"/>
            <a:ext cx="5532120" cy="411480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1" name="TextBox 50"/>
          <p:cNvSpPr txBox="1"/>
          <p:nvPr/>
        </p:nvSpPr>
        <p:spPr>
          <a:xfrm>
            <a:off x="6537960" y="3830320"/>
            <a:ext cx="15087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供应商锁定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046720" y="3830320"/>
            <a:ext cx="192024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深度依赖单一厂商专有 API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966960" y="3830320"/>
            <a:ext cx="201168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采用开放标准；保留迁移能力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355080" y="4269232"/>
            <a:ext cx="91440" cy="41148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46520" y="4269232"/>
            <a:ext cx="5532120" cy="411480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6537960" y="4287520"/>
            <a:ext cx="15087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人才短缺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46720" y="4287520"/>
            <a:ext cx="192024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缺兼具数据科学 + 业务复合人才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966960" y="4287520"/>
            <a:ext cx="201168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内部培养 + 外部引进双轨并行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55080" y="4717542"/>
            <a:ext cx="91440" cy="41148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46520" y="4717542"/>
            <a:ext cx="5532120" cy="411480"/>
          </a:xfrm>
          <a:prstGeom prst="rect">
            <a:avLst/>
          </a:prstGeom>
          <a:solidFill>
            <a:srgbClr val="F5F8FC"/>
          </a:solidFill>
          <a:ln w="508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1" name="TextBox 60"/>
          <p:cNvSpPr txBox="1"/>
          <p:nvPr/>
        </p:nvSpPr>
        <p:spPr>
          <a:xfrm>
            <a:off x="6537960" y="4735830"/>
            <a:ext cx="15087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安全攻击面扩大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046720" y="4735830"/>
            <a:ext cx="192024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DIP 接入多源数据，攻击面扩大</a:t>
            </a:r>
            <a:endParaRPr sz="10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966960" y="4735830"/>
            <a:ext cx="201168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数据脱敏 + 分级访问控制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02920" y="5236845"/>
            <a:ext cx="11475720" cy="945515"/>
          </a:xfrm>
          <a:prstGeom prst="rect">
            <a:avLst/>
          </a:prstGeom>
          <a:solidFill>
            <a:srgbClr val="E8F0FA"/>
          </a:solidFill>
          <a:ln w="1016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29158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引入可行度 = 3 分（短板原则）</a:t>
            </a:r>
            <a:endParaRPr sz="11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0080" y="558419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架构改造 3 / 合规风险 3 / 安全风险 4 / 人才门槛 3 · 三项短板均可通过专项努力缓解（非「无法逾越」），故仍可推进系统论证。</a:t>
            </a:r>
            <a:endParaRPr sz="9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412480" y="5291582"/>
            <a:ext cx="32004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 / 5</a:t>
            </a:r>
            <a:endParaRPr sz="26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40080" y="5767070"/>
            <a:ext cx="11475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可前置消解：数据出境 + 安全攻击面（架构层一次性隔离）   |   须持续管控：模型可解释 + 人才 + 供应商锁定（贯穿落地全程）</a:t>
            </a:r>
            <a:endParaRPr sz="9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40080" y="4489450"/>
            <a:ext cx="1632585" cy="496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spcAft>
                <a:spcPts val="1000"/>
              </a:spcAft>
            </a:pPr>
            <a:r>
              <a:rPr sz="900">
                <a:solidFill>
                  <a:schemeClr val="accent4"/>
                </a:solidFill>
                <a:effectLst/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+mn-ea"/>
              </a:rPr>
              <a:t>蓝</a:t>
            </a:r>
            <a:r>
              <a:rPr sz="900">
                <a:solidFill>
                  <a:schemeClr val="accent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+mn-ea"/>
              </a:rPr>
              <a:t>＝中风险（须持续管控）</a:t>
            </a:r>
            <a:endParaRPr sz="900">
              <a:solidFill>
                <a:schemeClr val="accent4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spcAft>
                <a:spcPts val="1000"/>
              </a:spcAft>
            </a:pPr>
            <a:r>
              <a:rPr sz="90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+mn-ea"/>
              </a:rPr>
              <a:t>红＝高影响（须硬约束</a:t>
            </a:r>
            <a:r>
              <a:rPr sz="900">
                <a:solidFill>
                  <a:schemeClr val="accent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kumimoji="1" lang="zh-CN" altLang="en-US" sz="900" b="1" i="0" dirty="0">
              <a:solidFill>
                <a:schemeClr val="accent4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" name="fig" descr="fi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16915" y="554355"/>
            <a:ext cx="5639435" cy="55740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260350"/>
            <a:ext cx="6722110" cy="398145"/>
          </a:xfrm>
        </p:spPr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六、市场格局与竞争生态：厂商技术路线与象限分布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73240" y="637032"/>
            <a:ext cx="452628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三大阵营 · 国产替代路径</a:t>
            </a:r>
            <a:endParaRPr sz="12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73240" y="1074928"/>
            <a:ext cx="452628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6982967" y="1085088"/>
            <a:ext cx="42976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传统分析巨头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2967" y="1313688"/>
            <a:ext cx="429768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SAS / FICO / Pega / Decisions</a:t>
            </a:r>
            <a:endParaRPr sz="105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2967" y="1478280"/>
            <a:ext cx="429768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规则 · 因果 · 金融 Know-how</a:t>
            </a:r>
            <a:endParaRPr sz="10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73240" y="1742186"/>
            <a:ext cx="452628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6982967" y="1743456"/>
            <a:ext cx="42976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云 / 大厂</a:t>
            </a:r>
            <a:endParaRPr sz="12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2967" y="1972056"/>
            <a:ext cx="429768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Microsoft / Google / AWS</a:t>
            </a:r>
            <a:endParaRPr sz="105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82967" y="2136648"/>
            <a:ext cx="429768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规模化 · 生态集成</a:t>
            </a:r>
            <a:endParaRPr sz="10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73240" y="2400554"/>
            <a:ext cx="4526280" cy="603504"/>
          </a:xfrm>
          <a:prstGeom prst="rect">
            <a:avLst/>
          </a:prstGeom>
          <a:solidFill>
            <a:srgbClr val="F5F8FC"/>
          </a:solidFill>
          <a:ln w="6350">
            <a:solidFill>
              <a:srgbClr val="7F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6982967" y="2401824"/>
            <a:ext cx="429768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7FA9D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新兴 / 垂直</a:t>
            </a:r>
            <a:endParaRPr sz="1200" b="1">
              <a:solidFill>
                <a:srgbClr val="7FA9D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82967" y="2630424"/>
            <a:ext cx="429768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Quantexa / Aera / o9</a:t>
            </a:r>
            <a:endParaRPr sz="105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82967" y="2795016"/>
            <a:ext cx="429768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反洗钱 / 供应链 / 图数据库</a:t>
            </a:r>
            <a:endParaRPr sz="10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873240" y="3078480"/>
            <a:ext cx="4526280" cy="1188720"/>
          </a:xfrm>
          <a:prstGeom prst="rect">
            <a:avLst/>
          </a:prstGeom>
          <a:solidFill>
            <a:srgbClr val="FBEAEA"/>
          </a:solidFill>
          <a:ln w="10160">
            <a:solidFill>
              <a:srgbClr val="8F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7010400" y="3133344"/>
            <a:ext cx="429768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国产替代路径（合规）</a:t>
            </a:r>
            <a:endParaRPr sz="14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10400" y="3425952"/>
            <a:ext cx="4297680" cy="852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① 高敏场景优先支持本地化 / 私有化部署的国产方案，或将外资方案部署于境内合规云；</a:t>
            </a:r>
            <a:endParaRPr sz="10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② 数据按密级分类分级，境内个人金融数据不出境；</a:t>
            </a:r>
            <a:endParaRPr sz="10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③ 合同中锁定迁移能力（API / 数据格式开放），避免单点锁定。</a:t>
            </a:r>
            <a:endParaRPr sz="10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873240" y="4450080"/>
            <a:ext cx="4526280" cy="640080"/>
          </a:xfrm>
          <a:prstGeom prst="rect">
            <a:avLst/>
          </a:prstGeom>
          <a:solidFill>
            <a:srgbClr val="002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0400" y="449580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选型启示</a:t>
            </a:r>
            <a:endParaRPr sz="12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10400" y="4760976"/>
            <a:ext cx="4297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重可控→国产 / 开源；重成熟→SAS / FICO；重集成→云厂商；避免单点锁定。</a:t>
            </a:r>
            <a:endParaRPr sz="9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15760" y="5364480"/>
            <a:ext cx="11475720" cy="65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生态开放度 3 分：开源组件 + 专有核心并存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信创适配（鲲鹏 / 飞腾 / 麒麟 / 统信）逐步推进，中短期跟踪变量。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260350"/>
            <a:ext cx="5890895" cy="457200"/>
          </a:xfrm>
        </p:spPr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六、市场格局与竞争生态：规模 · 结构 · 波特五力</a:t>
            </a: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902970"/>
            <a:ext cx="5235575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全球 DI 市场规模 · 双机构口径（单位：十亿美元）</a:t>
            </a:r>
            <a:endParaRPr sz="16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868680" y="4735068"/>
            <a:ext cx="6217919" cy="0"/>
          </a:xfrm>
          <a:prstGeom prst="line">
            <a:avLst/>
          </a:prstGeom>
          <a:ln w="15240">
            <a:solidFill>
              <a:srgbClr val="1316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68680" y="1534668"/>
            <a:ext cx="0" cy="3200400"/>
          </a:xfrm>
          <a:prstGeom prst="line">
            <a:avLst/>
          </a:prstGeom>
          <a:ln w="15240">
            <a:solidFill>
              <a:srgbClr val="1316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17449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900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68680" y="1854708"/>
            <a:ext cx="6217919" cy="0"/>
          </a:xfrm>
          <a:prstGeom prst="line">
            <a:avLst/>
          </a:prstGeom>
          <a:ln w="5080">
            <a:solidFill>
              <a:srgbClr val="E7EA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27051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600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68680" y="2814828"/>
            <a:ext cx="6217919" cy="0"/>
          </a:xfrm>
          <a:prstGeom prst="line">
            <a:avLst/>
          </a:prstGeom>
          <a:ln w="5080">
            <a:solidFill>
              <a:srgbClr val="E7EA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" y="36652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300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774948"/>
            <a:ext cx="6217919" cy="0"/>
          </a:xfrm>
          <a:prstGeom prst="line">
            <a:avLst/>
          </a:prstGeom>
          <a:ln w="5080">
            <a:solidFill>
              <a:srgbClr val="E7EA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040" y="46253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735068"/>
            <a:ext cx="6217919" cy="0"/>
          </a:xfrm>
          <a:prstGeom prst="line">
            <a:avLst/>
          </a:prstGeom>
          <a:ln w="5080">
            <a:solidFill>
              <a:srgbClr val="E7EA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73351" y="4191000"/>
            <a:ext cx="777240" cy="544068"/>
          </a:xfrm>
          <a:prstGeom prst="rect">
            <a:avLst/>
          </a:prstGeom>
          <a:solidFill>
            <a:srgbClr val="7F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0472" y="38983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170</a:t>
            </a:r>
            <a:endParaRPr sz="11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99031" y="47807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SNS  2025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72383" y="1887352"/>
            <a:ext cx="777240" cy="2847715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9503" y="159474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889.8</a:t>
            </a:r>
            <a:endParaRPr sz="11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98063" y="47807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SNS  2035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471415" y="4197720"/>
            <a:ext cx="777240" cy="537347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8535" y="390511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167.9</a:t>
            </a:r>
            <a:endParaRPr sz="11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97095" y="47807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F-BI  2024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70448" y="2886837"/>
            <a:ext cx="777240" cy="1848231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2594229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577.5</a:t>
            </a:r>
            <a:endParaRPr sz="11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96128" y="47807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F-BI  2032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02830" y="433070"/>
            <a:ext cx="4289425" cy="54419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SNS Insider  CAGR 18.0%   /   Fortune BI  CAGR 16.9%   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未来十年持续高增速、体量扩大 4-5 倍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02830" y="1126998"/>
            <a:ext cx="438912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行业结构 · 区域分布</a:t>
            </a:r>
            <a:endParaRPr sz="11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02830" y="154762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BFSI（银行 / 金融 / 保险）  24%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02830" y="1885950"/>
            <a:ext cx="4389120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2830" y="1885950"/>
            <a:ext cx="1053388" cy="2743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2830" y="225171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北美地区  46.2%</a:t>
            </a:r>
            <a:endParaRPr sz="12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02830" y="2590038"/>
            <a:ext cx="4389120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2830" y="2590038"/>
            <a:ext cx="2027773" cy="27432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02830" y="3120390"/>
            <a:ext cx="438912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波特五力 · 竞争结构</a:t>
            </a:r>
            <a:endParaRPr sz="11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402830" y="3416046"/>
            <a:ext cx="54864" cy="329184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57694" y="3522726"/>
            <a:ext cx="4334256" cy="329184"/>
          </a:xfrm>
          <a:prstGeom prst="rect">
            <a:avLst/>
          </a:prstGeom>
          <a:solidFill>
            <a:srgbClr val="F5F8FC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0846" y="355930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供应商议价</a:t>
            </a:r>
            <a:endParaRPr sz="10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65870" y="355930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10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505950" y="355930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头部壁垒高 / 开源替代制衡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402830" y="3800094"/>
            <a:ext cx="54864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7694" y="3906774"/>
            <a:ext cx="4334256" cy="329184"/>
          </a:xfrm>
          <a:prstGeom prst="rect">
            <a:avLst/>
          </a:prstGeom>
          <a:solidFill>
            <a:srgbClr val="F5F8FC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0846" y="394335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购买者议价</a:t>
            </a:r>
            <a:endParaRPr sz="10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65870" y="394335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中偏高</a:t>
            </a:r>
            <a:endParaRPr sz="10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05950" y="394335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大型集采 / 定制议价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402830" y="4184142"/>
            <a:ext cx="54864" cy="329184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7694" y="4290822"/>
            <a:ext cx="4334256" cy="329184"/>
          </a:xfrm>
          <a:prstGeom prst="rect">
            <a:avLst/>
          </a:prstGeom>
          <a:solidFill>
            <a:srgbClr val="F5F8FC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0846" y="432739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潜在进入者</a:t>
            </a:r>
            <a:endParaRPr sz="10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865870" y="432739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10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505950" y="432739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云原生 + 低代码降低门槛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402830" y="4568190"/>
            <a:ext cx="54864" cy="329184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57694" y="4674870"/>
            <a:ext cx="4334256" cy="329184"/>
          </a:xfrm>
          <a:prstGeom prst="rect">
            <a:avLst/>
          </a:prstGeom>
          <a:solidFill>
            <a:srgbClr val="F5F8FC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30846" y="471144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替代品威胁</a:t>
            </a:r>
            <a:endParaRPr sz="10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865870" y="4711446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低</a:t>
            </a:r>
            <a:endParaRPr sz="10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505950" y="471144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DI 新兴暂无成熟替代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02830" y="5058918"/>
            <a:ext cx="54864" cy="329184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7694" y="5058918"/>
            <a:ext cx="4334256" cy="329184"/>
          </a:xfrm>
          <a:prstGeom prst="rect">
            <a:avLst/>
          </a:prstGeom>
          <a:solidFill>
            <a:srgbClr val="F5F8FC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30846" y="509549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行业内竞争</a:t>
            </a:r>
            <a:endParaRPr sz="10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865870" y="509549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高</a:t>
            </a:r>
            <a:endParaRPr sz="10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505950" y="509549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头部厮杀 + 新厂商涌入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02920" y="5551170"/>
            <a:ext cx="8088630" cy="24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98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五力结论：竞争是主旋律，进入壁垒中等偏高，替代威胁尚低 —— 为本行比选带来议价空间，也须警惕技术路线快速分化带来的选型风险。</a:t>
            </a:r>
            <a:endParaRPr sz="98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86740" y="5892165"/>
            <a:ext cx="7596505" cy="237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本土化提示：境外 SaaS / 境外数据中心处理境内个人金融数据与《数据安全法》本地化要求存在潜在冲突，需替代路径（见下页）。</a:t>
            </a:r>
            <a:endParaRPr sz="9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260350"/>
            <a:ext cx="11523345" cy="497840"/>
          </a:xfrm>
        </p:spPr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七、战略定位与匹配度：战略主线与行内基础</a:t>
            </a: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147572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战略主线 · 三年路径 + AI 全渗透</a:t>
            </a:r>
            <a:endParaRPr sz="11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280160" y="2239010"/>
            <a:ext cx="9966960" cy="0"/>
          </a:xfrm>
          <a:prstGeom prst="line">
            <a:avLst/>
          </a:prstGeom>
          <a:ln w="38100">
            <a:solidFill>
              <a:srgbClr val="C3C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269998" y="1982978"/>
            <a:ext cx="512064" cy="512064"/>
          </a:xfrm>
          <a:prstGeom prst="ellipse">
            <a:avLst/>
          </a:prstGeom>
          <a:solidFill>
            <a:srgbClr val="555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Oval 5"/>
          <p:cNvSpPr/>
          <p:nvPr/>
        </p:nvSpPr>
        <p:spPr>
          <a:xfrm>
            <a:off x="2269998" y="1982978"/>
            <a:ext cx="512064" cy="512064"/>
          </a:xfrm>
          <a:prstGeom prst="ellipse">
            <a:avLst/>
          </a:prstGeom>
          <a:solidFill>
            <a:srgbClr val="555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9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9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8750" y="1645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起步之年</a:t>
            </a:r>
            <a:endParaRPr sz="1200" b="1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7310" y="26035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框架改革 · 赛道破局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4761738" y="1982978"/>
            <a:ext cx="512064" cy="512064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Oval 9"/>
          <p:cNvSpPr/>
          <p:nvPr/>
        </p:nvSpPr>
        <p:spPr>
          <a:xfrm>
            <a:off x="4761738" y="1982978"/>
            <a:ext cx="512064" cy="512064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9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9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20490" y="1645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提升之年</a:t>
            </a:r>
            <a:endParaRPr sz="12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29050" y="26035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内核重塑 · 能力跃升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253478" y="1982978"/>
            <a:ext cx="512064" cy="51206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Oval 13"/>
          <p:cNvSpPr/>
          <p:nvPr/>
        </p:nvSpPr>
        <p:spPr>
          <a:xfrm>
            <a:off x="7253478" y="1982978"/>
            <a:ext cx="512064" cy="512064"/>
          </a:xfrm>
          <a:prstGeom prst="ellipse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9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9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2230" y="1645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全面深化之年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0790" y="26035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战略驱动 · 价值银行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745218" y="1982978"/>
            <a:ext cx="512064" cy="512064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Oval 17"/>
          <p:cNvSpPr/>
          <p:nvPr/>
        </p:nvSpPr>
        <p:spPr>
          <a:xfrm>
            <a:off x="9745218" y="1982978"/>
            <a:ext cx="512064" cy="512064"/>
          </a:xfrm>
          <a:prstGeom prst="ellipse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9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26+</a:t>
            </a:r>
            <a:endParaRPr sz="9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03970" y="1645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AI 全渗透</a:t>
            </a:r>
            <a:endParaRPr sz="12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12530" y="26035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0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全员 · 全息 · 全链条</a:t>
            </a:r>
            <a:endParaRPr sz="10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2907030"/>
            <a:ext cx="11475720" cy="960120"/>
          </a:xfrm>
          <a:prstGeom prst="rect">
            <a:avLst/>
          </a:prstGeom>
          <a:solidFill>
            <a:srgbClr val="E8F0FA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5275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现有家底：可承接 DIP 的关键基础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325450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76.12 亿元  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2025 科技投入</a:t>
            </a:r>
            <a:endParaRPr sz="100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78940" y="3308985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同比 +6.18%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74720" y="325450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440+ 个  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AI 应用场景</a:t>
            </a:r>
            <a:endParaRPr sz="100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63390" y="3308985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上半年累计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325450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1+6  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模型治理组织</a:t>
            </a:r>
            <a:endParaRPr sz="100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84975" y="327787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三道防线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0" y="325450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千卡  </a:t>
            </a:r>
            <a:endParaRPr sz="14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智算基座</a:t>
            </a:r>
            <a:endParaRPr sz="100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45015" y="32867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浦银智启大模型矩阵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2920" y="4050030"/>
            <a:ext cx="7589520" cy="1280160"/>
          </a:xfrm>
          <a:prstGeom prst="rect">
            <a:avLst/>
          </a:prstGeom>
          <a:solidFill>
            <a:srgbClr val="F5F8FC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2318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行内决策系统现状（2026 春季攻坚公开口径）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4415790"/>
            <a:ext cx="7406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风险管理中心已采用统一决策模式，建设智能决策系统，整合规则 / 模型 / 入模变量 / 决策结果，主要支撑信贷申请 · 审批 · 监测；</a:t>
            </a:r>
            <a:endParaRPr sz="9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执行链路以业务数据订阅 + 外采同盾决策引擎为主，配置项含规则 / 函数 / 评分卡 · 围绕监管指标与专家经验计算，输出决策结果。</a:t>
            </a:r>
            <a:endParaRPr sz="9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→ DIP 可在此之上叠加「决策编排 + 治理」层，把点状能力升级为体系化平台。</a:t>
            </a:r>
            <a:endParaRPr sz="9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75320" y="4050030"/>
            <a:ext cx="3703320" cy="1280160"/>
          </a:xfrm>
          <a:prstGeom prst="rect">
            <a:avLst/>
          </a:prstGeom>
          <a:solidFill>
            <a:srgbClr val="002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123182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战略体系</a:t>
            </a:r>
            <a:endParaRPr sz="12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12480" y="441579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1-5-5-5-4-3-N：1 主线 · 5 赛道 · 5 数 · 5 体系 · 4 策略 · 3 保障 · N 配套</a:t>
            </a:r>
            <a:endParaRPr sz="9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12480" y="4891278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二十字方针：战略驱动 · 策略策应 · 技术引领 · 文化保障 · 集团协同</a:t>
            </a:r>
            <a:endParaRPr sz="9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5421630"/>
            <a:ext cx="11475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2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结论：DIP 与数智化主线、大风控、AI 工程化行动计划高度同向  →  战略匹配度 4 分（未达 5 分：未点名 DIP 品类、决策能力点状）。</a:t>
            </a:r>
            <a:endParaRPr sz="102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七、战略定位与匹配度：SWOT 诊断 + 战略映射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440680" cy="1234440"/>
          </a:xfrm>
          <a:prstGeom prst="rect">
            <a:avLst/>
          </a:prstGeom>
          <a:solidFill>
            <a:srgbClr val="F5F8FC"/>
          </a:solidFill>
          <a:ln w="1016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440680" cy="310896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5166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优势 S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数智化战略连续三年加码，承接组织与预算基础扎实（科技投入 76.12 亿）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模型治理：1+6 组织 + 三道防线 + 上千模型全生命周期线上化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AI 落地 440+ 场景 + 「天眼」「大卫星 + 小雷达」与 DIP 决策闭环衔接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AI 工程化行动计划 + 科技金融第一赛道提供战略抓手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80760" y="1188720"/>
            <a:ext cx="5440680" cy="1234440"/>
          </a:xfrm>
          <a:prstGeom prst="rect">
            <a:avLst/>
          </a:prstGeom>
          <a:solidFill>
            <a:srgbClr val="F5F8FC"/>
          </a:solidFill>
          <a:ln w="10160">
            <a:solidFill>
              <a:srgbClr val="555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188720"/>
            <a:ext cx="5440680" cy="310896"/>
          </a:xfrm>
          <a:prstGeom prst="rect">
            <a:avLst/>
          </a:prstGeom>
          <a:solidFill>
            <a:srgbClr val="555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07008"/>
            <a:ext cx="5166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劣势 W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现有决策类系统呈点状分布，整合为端到端平台存在改造成本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需与「浦银智启」大模型矩阵、5A4S 架构深度融合，存在适配成本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公开信息中未见 DIP 品类整体规划与专项预算，立项路径尚不明确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复合型决策科学人才（因果 + 业务 + 合规）公开证据不足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5440680" cy="1234440"/>
          </a:xfrm>
          <a:prstGeom prst="rect">
            <a:avLst/>
          </a:prstGeom>
          <a:solidFill>
            <a:srgbClr val="F5F8FC"/>
          </a:solidFill>
          <a:ln w="1016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5440680" cy="310896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5166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机会 O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「全员 / 全息 / 全链条」AI 渗透 + AI 工程化行动计划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科技金融「战略第一赛道」需要因果推断与情景推演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监管可解释性要求提升，与 DIP 治理框架同向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80760" y="2423160"/>
            <a:ext cx="5440680" cy="1234440"/>
          </a:xfrm>
          <a:prstGeom prst="rect">
            <a:avLst/>
          </a:prstGeom>
          <a:solidFill>
            <a:srgbClr val="F5F8FC"/>
          </a:solidFill>
          <a:ln w="1016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2423160"/>
            <a:ext cx="5440680" cy="310896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441448"/>
            <a:ext cx="5166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威胁 T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0" y="278892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「自建决策中台」替代路线分流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外部厂商集成锁定 / 迁移成本较高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71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6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Agentic AI 可能改变 DIP 品类形态</a:t>
            </a:r>
            <a:endParaRPr sz="86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749039"/>
            <a:ext cx="11475720" cy="2743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战略 → DIP 能力映射（7.3 节摘 · 5 行）</a:t>
            </a:r>
            <a:endParaRPr sz="11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4096511"/>
            <a:ext cx="11475720" cy="256032"/>
          </a:xfrm>
          <a:prstGeom prst="rect">
            <a:avLst/>
          </a:prstGeom>
          <a:solidFill>
            <a:srgbClr val="002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14799"/>
            <a:ext cx="472379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我行战略</a:t>
            </a:r>
            <a:endParaRPr sz="10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5310" y="4114799"/>
            <a:ext cx="44988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DIP 对应能力</a:t>
            </a:r>
            <a:endParaRPr sz="10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99878" y="4114799"/>
            <a:ext cx="202448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匹配判断</a:t>
            </a:r>
            <a:endParaRPr sz="10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4352544"/>
            <a:ext cx="11475720" cy="256032"/>
          </a:xfrm>
          <a:prstGeom prst="rect">
            <a:avLst/>
          </a:prstGeom>
          <a:solidFill>
            <a:srgbClr val="E8F0FA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370831"/>
            <a:ext cx="472379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数智化主线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55310" y="4370831"/>
            <a:ext cx="44988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端到端闭环编排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99878" y="4370831"/>
            <a:ext cx="202448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9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高度契合</a:t>
            </a:r>
            <a:endParaRPr sz="9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4608576"/>
            <a:ext cx="11475720" cy="256032"/>
          </a:xfrm>
          <a:prstGeom prst="rect">
            <a:avLst/>
          </a:prstGeom>
          <a:solidFill>
            <a:srgbClr val="F5F8FC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26864"/>
            <a:ext cx="472379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数字风控 / 大风控体系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55310" y="4626864"/>
            <a:ext cx="44988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因果 · 实时 · 策略 · 反馈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999878" y="4626864"/>
            <a:ext cx="202448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9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高度契合</a:t>
            </a:r>
            <a:endParaRPr sz="9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4864608"/>
            <a:ext cx="11475720" cy="256032"/>
          </a:xfrm>
          <a:prstGeom prst="rect">
            <a:avLst/>
          </a:prstGeom>
          <a:solidFill>
            <a:srgbClr val="E8F0FA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882896"/>
            <a:ext cx="472379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AI 全员 / 全息 / 全链条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55310" y="4882896"/>
            <a:ext cx="44988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智能体编排 · 决策服务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99878" y="4882896"/>
            <a:ext cx="202448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9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高度契合</a:t>
            </a:r>
            <a:endParaRPr sz="9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2920" y="5120640"/>
            <a:ext cx="11475720" cy="256032"/>
          </a:xfrm>
          <a:prstGeom prst="rect">
            <a:avLst/>
          </a:prstGeom>
          <a:solidFill>
            <a:srgbClr val="F5F8FC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138927"/>
            <a:ext cx="472379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科技金融第一赛道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55310" y="5138927"/>
            <a:ext cx="44988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因果推断 · 情景推演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999878" y="5138927"/>
            <a:ext cx="202448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9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契合</a:t>
            </a:r>
            <a:endParaRPr sz="9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920" y="5376672"/>
            <a:ext cx="11475720" cy="256032"/>
          </a:xfrm>
          <a:prstGeom prst="rect">
            <a:avLst/>
          </a:prstGeom>
          <a:solidFill>
            <a:srgbClr val="E8F0FA"/>
          </a:solidFill>
          <a:ln w="3810">
            <a:solidFill>
              <a:srgbClr val="C3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394959"/>
            <a:ext cx="472379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可解释 / 可追溯治理原则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55310" y="5394959"/>
            <a:ext cx="44988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决策流可视化 · 决策日志</a:t>
            </a:r>
            <a:endParaRPr sz="90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999878" y="5394959"/>
            <a:ext cx="202448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9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高度契合</a:t>
            </a:r>
            <a:endParaRPr sz="9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02920" y="5705856"/>
            <a:ext cx="11475720" cy="292608"/>
          </a:xfrm>
          <a:prstGeom prst="rect">
            <a:avLst/>
          </a:prstGeom>
          <a:solidFill>
            <a:srgbClr val="E8F0FA"/>
          </a:solidFill>
          <a:ln w="762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742432"/>
            <a:ext cx="11247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画像：底盘厚（战略 × 治理 × 场景）× 品类新（未点名）  →  以 AI 工程化行动为抓手、现有风控与营销场景为切入点、平台化整合替代点状建设。</a:t>
            </a:r>
            <a:endParaRPr sz="9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八、综合评估结论：六维评级 · 处置档位 · 红线核查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6492240" cy="329184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六维评分（满分 5） · 评级依据</a:t>
            </a:r>
            <a:endParaRPr sz="11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1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技术成熟度</a:t>
            </a:r>
            <a:endParaRPr sz="11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1783080" y="1618488"/>
            <a:ext cx="3200400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1783080" y="1618488"/>
            <a:ext cx="2560320" cy="2743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5029200" y="157276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 分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5486400" y="1609344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8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Gartner 2025 定位「转型型」；TRL 7 多行业生产案例</a:t>
            </a:r>
            <a:endParaRPr sz="8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1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战略匹配度</a:t>
            </a:r>
            <a:endParaRPr sz="11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1783080" y="2185415"/>
            <a:ext cx="3200400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1783080" y="2185415"/>
            <a:ext cx="2560320" cy="2743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029200" y="213969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 分</a:t>
            </a:r>
            <a:endParaRPr sz="12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5486400" y="2176272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8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同向数智化主线 / 大风控 / AI 工程化；未点名 DIP 品类</a:t>
            </a:r>
            <a:endParaRPr sz="8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270662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1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价值贡献度</a:t>
            </a:r>
            <a:endParaRPr sz="11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9"/>
            </p:custDataLst>
          </p:nvPr>
        </p:nvSpPr>
        <p:spPr>
          <a:xfrm>
            <a:off x="1783080" y="2752344"/>
            <a:ext cx="3200400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1783080" y="2752344"/>
            <a:ext cx="3200400" cy="27432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5029200" y="270662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5 分</a:t>
            </a:r>
            <a:endParaRPr sz="120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5486400" y="274320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8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效率 · 风控 · 体验 · 新业务四维度量化实证</a:t>
            </a:r>
            <a:endParaRPr sz="8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327355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1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引入可行度</a:t>
            </a:r>
            <a:endParaRPr sz="11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13"/>
            </p:custDataLst>
          </p:nvPr>
        </p:nvSpPr>
        <p:spPr>
          <a:xfrm>
            <a:off x="1783080" y="3319272"/>
            <a:ext cx="3200400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1783080" y="3319272"/>
            <a:ext cx="1920240" cy="2743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5029200" y="327355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 分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5486400" y="3310128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8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短板原则：架构 3 / 合规 3 / 安全 4 / 人才 3</a:t>
            </a:r>
            <a:endParaRPr sz="8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38404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1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战略紧迫度</a:t>
            </a:r>
            <a:endParaRPr sz="11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>
            <p:custDataLst>
              <p:tags r:id="rId17"/>
            </p:custDataLst>
          </p:nvPr>
        </p:nvSpPr>
        <p:spPr>
          <a:xfrm>
            <a:off x="1783080" y="3886200"/>
            <a:ext cx="3200400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18"/>
            </p:custDataLst>
          </p:nvPr>
        </p:nvSpPr>
        <p:spPr>
          <a:xfrm>
            <a:off x="1783080" y="3886200"/>
            <a:ext cx="1920240" cy="2743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5029200" y="38404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 分</a:t>
            </a:r>
            <a:endParaRPr sz="120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5486400" y="3877056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8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同业已规模化落地；2-5 年渗透 5%-20%</a:t>
            </a:r>
            <a:endParaRPr sz="8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440740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100" b="1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生态开放度</a:t>
            </a:r>
            <a:endParaRPr sz="1100" b="1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>
            <p:custDataLst>
              <p:tags r:id="rId21"/>
            </p:custDataLst>
          </p:nvPr>
        </p:nvSpPr>
        <p:spPr>
          <a:xfrm>
            <a:off x="1783080" y="4453128"/>
            <a:ext cx="3200400" cy="274320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>
            <p:custDataLst>
              <p:tags r:id="rId22"/>
            </p:custDataLst>
          </p:nvPr>
        </p:nvSpPr>
        <p:spPr>
          <a:xfrm>
            <a:off x="1783080" y="4453128"/>
            <a:ext cx="1920240" cy="2743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23"/>
            </p:custDataLst>
          </p:nvPr>
        </p:nvSpPr>
        <p:spPr>
          <a:xfrm>
            <a:off x="5029200" y="440740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 分</a:t>
            </a:r>
            <a:endParaRPr sz="12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24"/>
            </p:custDataLst>
          </p:nvPr>
        </p:nvSpPr>
        <p:spPr>
          <a:xfrm>
            <a:off x="5486400" y="4443984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8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开源组件 + 专有核心并存；信创推进中</a:t>
            </a:r>
            <a:endParaRPr sz="8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2920" y="5074920"/>
            <a:ext cx="6492240" cy="5029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29783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处置定位 · 系统论证层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5367528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未触否决 / 预警线 · 节奏：先 POC 实证，后规模化</a:t>
            </a:r>
            <a:endParaRPr sz="10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Picture 36" descr="radar_v1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60920" y="1170432"/>
            <a:ext cx="4617720" cy="42519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60920" y="5440680"/>
            <a:ext cx="4617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90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图源：本报告八章综合评估 · 六维评分</a:t>
            </a:r>
            <a:endParaRPr sz="9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" y="5669280"/>
            <a:ext cx="11475720" cy="514350"/>
          </a:xfrm>
          <a:prstGeom prst="rect">
            <a:avLst/>
          </a:prstGeom>
          <a:solidFill>
            <a:srgbClr val="FBEAEA"/>
          </a:solidFill>
          <a:ln w="7620">
            <a:solidFill>
              <a:srgbClr val="8F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06110"/>
            <a:ext cx="11247120" cy="412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900" b="1">
                <a:solidFill>
                  <a:srgbClr val="8F122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判据核查：① 战略匹配 4 + 价值贡献 5 ≥ 4（前置成立）  ② 成熟度 4 属论证层区间（4-5）  ③ 可行 3 &gt; 否决阈值 2（未触发）  ④ 生态 3 &gt; 预警阈值 2（未触发）  ⑤ 红线（境内个人金融信息不出境）：按约束部署则不触发。</a:t>
            </a:r>
            <a:endParaRPr sz="900" b="1">
              <a:solidFill>
                <a:srgbClr val="8F122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九、实施建议：分阶段路径 · 前置条件 · 采购策略</a:t>
            </a:r>
            <a:endParaRPr sz="200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</a:pPr>
            <a:endParaRPr sz="110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3825240" cy="502920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16152"/>
            <a:ext cx="3642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阶段一  0–6 月</a:t>
            </a:r>
            <a:endParaRPr sz="13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3642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关键任务：架构适配 + 合规预审 + 试点选型 + 数据治理</a:t>
            </a:r>
            <a:endParaRPr sz="9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28160" y="1170432"/>
            <a:ext cx="3825240" cy="502920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9600" y="1216152"/>
            <a:ext cx="3642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阶段二  6–12 月</a:t>
            </a:r>
            <a:endParaRPr sz="13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19600" y="1444752"/>
            <a:ext cx="3642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关键任务：试点验证 + 模型调优 + 人才培训</a:t>
            </a:r>
            <a:endParaRPr sz="9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53400" y="1170432"/>
            <a:ext cx="3825240" cy="502920"/>
          </a:xfrm>
          <a:prstGeom prst="rect">
            <a:avLst/>
          </a:prstGeom>
          <a:solidFill>
            <a:srgbClr val="C6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4840" y="1216152"/>
            <a:ext cx="3642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阶段三  12–24 月</a:t>
            </a:r>
            <a:endParaRPr sz="13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44840" y="1444752"/>
            <a:ext cx="3642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关键任务：规模化推广 + 全行级平台 + 持续优化</a:t>
            </a:r>
            <a:endParaRPr sz="9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" y="1764792"/>
            <a:ext cx="3642360" cy="658368"/>
          </a:xfrm>
          <a:prstGeom prst="rect">
            <a:avLst/>
          </a:prstGeom>
          <a:solidFill>
            <a:srgbClr val="F5F8FC"/>
          </a:solidFill>
          <a:ln w="635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10512"/>
            <a:ext cx="345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试点方案 + 合规评估报告</a:t>
            </a:r>
            <a:endParaRPr sz="10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2093976"/>
            <a:ext cx="345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▣ 数据治理门禁 + 合规预审通过</a:t>
            </a:r>
            <a:endParaRPr sz="95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19600" y="1764792"/>
            <a:ext cx="3642360" cy="658368"/>
          </a:xfrm>
          <a:prstGeom prst="rect">
            <a:avLst/>
          </a:prstGeom>
          <a:solidFill>
            <a:srgbClr val="F5F8FC"/>
          </a:solidFill>
          <a:ln w="635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1810512"/>
            <a:ext cx="345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POC 验证报告 + 人才能力评估</a:t>
            </a:r>
            <a:endParaRPr sz="10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11040" y="2093976"/>
            <a:ext cx="345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▣ 模型可解释 + 决策日志合规验证</a:t>
            </a:r>
            <a:endParaRPr sz="95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44840" y="1764792"/>
            <a:ext cx="3642360" cy="658368"/>
          </a:xfrm>
          <a:prstGeom prst="rect">
            <a:avLst/>
          </a:prstGeom>
          <a:solidFill>
            <a:srgbClr val="F5F8FC"/>
          </a:solidFill>
          <a:ln w="635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6280" y="1810512"/>
            <a:ext cx="345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全行级 DIP 平台 + 效果评估报告</a:t>
            </a:r>
            <a:endParaRPr sz="10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36280" y="2093976"/>
            <a:ext cx="3459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55575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▣ ROI 与可归因证据支撑规模化</a:t>
            </a:r>
            <a:endParaRPr sz="950" b="0">
              <a:solidFill>
                <a:srgbClr val="55575E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2542032"/>
            <a:ext cx="11475720" cy="292608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9.3 前置条件（数据 / 对象 / 组织 / 合规 / 技术政策）</a:t>
            </a:r>
            <a:endParaRPr sz="11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2907792"/>
            <a:ext cx="2221992" cy="566928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85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数据基础：标签 / 特征 / 历史结果已治理；统一数据底座 + 数据字典</a:t>
            </a:r>
            <a:endParaRPr sz="85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816352" y="2907792"/>
            <a:ext cx="2221992" cy="566928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85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决策对象清晰：边界 / 优化目标 / 评判口径事先明确</a:t>
            </a:r>
            <a:endParaRPr sz="85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29784" y="2907792"/>
            <a:ext cx="2221992" cy="566928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85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组织与治理：归口与评审机制；上线审批；算法备案 + 模型治理</a:t>
            </a:r>
            <a:endParaRPr sz="85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43216" y="2907792"/>
            <a:ext cx="2221992" cy="566928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85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合规前提：告知与拒绝权 + 监管报送可解释可审计</a:t>
            </a:r>
            <a:endParaRPr sz="85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756648" y="2907792"/>
            <a:ext cx="2221992" cy="566928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003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850" b="0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技术政策：与信创 / 安全基线 / 外包政策兼容；评估供应链安全</a:t>
            </a:r>
            <a:endParaRPr sz="850" b="0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3547872"/>
            <a:ext cx="11475720" cy="292608"/>
          </a:xfrm>
          <a:prstGeom prst="rect">
            <a:avLst/>
          </a:prstGeom>
          <a:solidFill>
            <a:srgbClr val="003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  9.4 Build vs Buy  ·  9.1 三跨一统</a:t>
            </a:r>
            <a:endParaRPr sz="11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3895344"/>
            <a:ext cx="5577840" cy="960120"/>
          </a:xfrm>
          <a:prstGeom prst="rect">
            <a:avLst/>
          </a:prstGeom>
          <a:solidFill>
            <a:srgbClr val="F5F8FC"/>
          </a:solidFill>
          <a:ln w="1016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1F63B0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Build  自研 / 国产（优先项）</a:t>
            </a:r>
            <a:endParaRPr sz="1250" b="1">
              <a:solidFill>
                <a:srgbClr val="1F63B0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418795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9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贴合本行架构 · 数据不出行 · 沉淀自主能力（短板：周期较长 / 需复合型决策工程师队伍）</a:t>
            </a:r>
            <a:endParaRPr sz="9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4480560"/>
            <a:ext cx="5394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9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九大决策点：① 存量复用率 ② 信创路径 ③ 治理闸门 ④ POC 选型 ⑤ 责任边界 ⑥ 审计 ⑦ 退出 ⑧ 升级 ⑨ SLA</a:t>
            </a:r>
            <a:endParaRPr sz="9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63640" y="3895344"/>
            <a:ext cx="5715000" cy="960120"/>
          </a:xfrm>
          <a:prstGeom prst="rect">
            <a:avLst/>
          </a:prstGeom>
          <a:solidFill>
            <a:srgbClr val="F5F8FC"/>
          </a:solidFill>
          <a:ln w="10160">
            <a:solidFill>
              <a:srgbClr val="C61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3931920"/>
            <a:ext cx="5532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C61E2C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Buy  成熟商业 DIP · 9 个月 POC 验证</a:t>
            </a:r>
            <a:endParaRPr sz="1250" b="1">
              <a:solidFill>
                <a:srgbClr val="C61E2C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55079" y="4187952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950" b="0">
                <a:solidFill>
                  <a:srgbClr val="13161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上手快 · 功能完整 · 治理成熟（短板：许可成本高 · 深度定制依赖商业厂商）</a:t>
            </a:r>
            <a:endParaRPr sz="950" b="0">
              <a:solidFill>
                <a:srgbClr val="13161B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55079" y="4480560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9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建议路径：信创允许时商采 → 9 个月 POC 抢行业先机 → 决策资产沉淀到自有平台，逐步降依赖</a:t>
            </a:r>
            <a:endParaRPr sz="9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5669280"/>
            <a:ext cx="11475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50" b="1">
                <a:solidFill>
                  <a:srgbClr val="0030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◆  每阶段末评审四项要素：数据质量门禁 / 人才到位率 / 模型可解释与决策日志 / 试点 ROI 与可归因证据 —— 四项齐备方可进入下一阶段。</a:t>
            </a:r>
            <a:endParaRPr sz="950" b="1">
              <a:solidFill>
                <a:srgbClr val="00307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36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endParaRPr sz="14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2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3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4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5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6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7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8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9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0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1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2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3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4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5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6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7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8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19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20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21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22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23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ags/tag24.xml><?xml version="1.0" encoding="utf-8"?>
<p:tagLst xmlns:p="http://schemas.openxmlformats.org/presentationml/2006/main">
  <p:tag name="KSO_WM_DIAGRAM_VIRTUALLY_FRAME" val="{&quot;height&quot;:258.47999999999996,&quot;left&quot;:140.4,&quot;top&quot;:123.84,&quot;width&quot;:410.4}"/>
</p:tagLst>
</file>

<file path=ppt/theme/theme1.xml><?xml version="1.0" encoding="utf-8"?>
<a:theme xmlns:a="http://schemas.openxmlformats.org/drawingml/2006/main" name="SPD_PPT">
  <a:themeElements>
    <a:clrScheme name="MT_Colors 1">
      <a:dk1>
        <a:srgbClr val="000000"/>
      </a:dk1>
      <a:lt1>
        <a:sysClr val="window" lastClr="FFFFFF"/>
      </a:lt1>
      <a:dk2>
        <a:srgbClr val="404040"/>
      </a:dk2>
      <a:lt2>
        <a:srgbClr val="6E6464"/>
      </a:lt2>
      <a:accent1>
        <a:srgbClr val="5AAA28"/>
      </a:accent1>
      <a:accent2>
        <a:srgbClr val="328200"/>
      </a:accent2>
      <a:accent3>
        <a:srgbClr val="002D50"/>
      </a:accent3>
      <a:accent4>
        <a:srgbClr val="0064A0"/>
      </a:accent4>
      <a:accent5>
        <a:srgbClr val="FF6400"/>
      </a:accent5>
      <a:accent6>
        <a:srgbClr val="5A145A"/>
      </a:accent6>
      <a:hlink>
        <a:srgbClr val="BEB4B4"/>
      </a:hlink>
      <a:folHlink>
        <a:srgbClr val="BEB4B4"/>
      </a:folHlink>
    </a:clrScheme>
    <a:fontScheme name="爆光">
      <a:majorFont>
        <a:latin typeface="Helvetica"/>
        <a:ea typeface=""/>
        <a:cs typeface=""/>
        <a:font script="Jpan" typeface="ＭＳ ゴシック"/>
        <a:font script="Hans" typeface="宋体"/>
        <a:font script="Hant" typeface="宋体"/>
      </a:majorFont>
      <a:minorFont>
        <a:latin typeface="Helvetica"/>
        <a:ea typeface=""/>
        <a:cs typeface=""/>
        <a:font script="Jpan" typeface="ＭＳ ゴシック"/>
        <a:font script="Hans" typeface="宋体"/>
        <a:font script="Hant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90000"/>
            <a:lumOff val="10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kumimoji="1" sz="1600" b="1" i="0" dirty="0">
            <a:solidFill>
              <a:schemeClr val="tx1">
                <a:lumMod val="75000"/>
                <a:lumOff val="25000"/>
              </a:schemeClr>
            </a:solidFill>
            <a:ea typeface="宋体" panose="02010600030101010101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SPD_PPT.thmx</Template>
  <TotalTime>0</TotalTime>
  <Words>8185</Words>
  <Application>WPS 演示</Application>
  <PresentationFormat>宽屏</PresentationFormat>
  <Paragraphs>1036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Helvetica</vt:lpstr>
      <vt:lpstr>微软雅黑</vt:lpstr>
      <vt:lpstr>Helvetica</vt:lpstr>
      <vt:lpstr>PMingLiU</vt:lpstr>
      <vt:lpstr>Arial</vt:lpstr>
      <vt:lpstr>STIXSizeTwoSym-Regular</vt:lpstr>
      <vt:lpstr>Segoe Print</vt:lpstr>
      <vt:lpstr>Arial Unicode MS</vt:lpstr>
      <vt:lpstr>KSOFB4AB0A6B</vt:lpstr>
      <vt:lpstr>KSOF7FC4CF2A</vt:lpstr>
      <vt:lpstr>Calibri</vt:lpstr>
      <vt:lpstr>SPD_PPT</vt:lpstr>
      <vt:lpstr>2026 年 08 月 · 总行科技发展部-科技规划处</vt:lpstr>
      <vt:lpstr>围绕 DIP 六维评估展开 · 正文 9 章 · 全文共 19 页</vt:lpstr>
      <vt:lpstr>满分 5 分 · 处置档位：系统论证层 · 评分 4·4·5·3·3·3</vt:lpstr>
      <vt:lpstr>决策复杂度 · AI 能力 · 监管三股力量叠加，把「决策智能化」推向必答题</vt:lpstr>
      <vt:lpstr>DIP 不替代，而是「分层协同」：填补从分析到决策执行的空白</vt:lpstr>
      <vt:lpstr>Capture → Interpret → Model → Resolve → Execute（含客户A提额示例）</vt:lpstr>
      <vt:lpstr>60 年决策科学渐进演化 · Gartner 2025 转型型 · TRL 7</vt:lpstr>
      <vt:lpstr>决策质量主线（风险·营销）+ 决策效率主线（运营·合规）· 切入顺序矩阵</vt:lpstr>
      <vt:lpstr>3 个实名公开案例 · 价值贡献度 5 分的实证底座（HSBC / 渣打 / SAS）</vt:lpstr>
      <vt:lpstr>三档成效带 · 差异来自数据基础 / 实施深度 / 组织适配三项因素</vt:lpstr>
      <vt:lpstr>5 项主要风险 · 引入可行度 3 分（短板原则）</vt:lpstr>
      <vt:lpstr>Gartner 2026.1 首版 DIP 魔力象限（17 家）· 国产替代路径与选型启示</vt:lpstr>
      <vt:lpstr>SNS Insider / Fortune BI 双机构口径 · BFSI 24% / 北美 46.2%</vt:lpstr>
      <vt:lpstr>数智化主线连续三年加码 · 战略匹配度 4 分</vt:lpstr>
      <vt:lpstr>底盘厚、品类新  →  方向契合下的能力升级</vt:lpstr>
      <vt:lpstr>价值贡献 5 / 匹配 4 / 成熟 4 / 可行 3 / 紧迫 3 / 生态 3</vt:lpstr>
      <vt:lpstr>先补短板（治理闸门）→ 系统论证（POC 实证）→ 平台化整合（资产沉淀）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浦发银行PPT模板及使用规范</dc:title>
  <dc:creator>caijw</dc:creator>
  <cp:lastModifiedBy>jay</cp:lastModifiedBy>
  <cp:revision>125</cp:revision>
  <cp:lastPrinted>2015-05-13T08:03:00Z</cp:lastPrinted>
  <dcterms:created xsi:type="dcterms:W3CDTF">2015-05-02T13:09:00Z</dcterms:created>
  <dcterms:modified xsi:type="dcterms:W3CDTF">2026-09-09T09:48:50Z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171EC57EF8DB4B9882557252508C6088_13</vt:lpwstr>
  </property>
</Properties>
</file>