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</p:sldMasterIdLst>
  <p:notesMasterIdLst>
    <p:notesMasterId r:id="rId9"/>
  </p:notesMasterIdLst>
  <p:handoutMasterIdLst>
    <p:handoutMasterId r:id="rId10"/>
  </p:handoutMasterIdLst>
  <p:sldIdLst>
    <p:sldId id="256" r:id="rId8"/>
    <p:sldId id="257" r:id="rId7"/>
    <p:sldId id="258" r:id="rId6"/>
    <p:sldId id="259" r:id="rId5"/>
    <p:sldId id="260" r:id="rId4"/>
    <p:sldId id="261" r:id="rId3"/>
    <p:sldId id="262" r:id="rId2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/>
  <p:notesSz cx="6797675" cy="9874250"/>
  <p:defaultTextStyle>
    <a:defPPr>
      <a:defRPr lang="zh-TW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377D"/>
    <a:srgbClr val="E60000"/>
    <a:srgbClr val="414141"/>
    <a:srgbClr val="0A1950"/>
    <a:srgbClr val="0F6EF0"/>
    <a:srgbClr val="F05A22"/>
    <a:srgbClr val="6E6464"/>
    <a:srgbClr val="BEB4B4"/>
    <a:srgbClr val="AA051E"/>
    <a:srgbClr val="C8DC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43"/>
    <p:restoredTop sz="90822" autoAdjust="0"/>
  </p:normalViewPr>
  <p:slideViewPr>
    <p:cSldViewPr snapToGrid="0" snapToObjects="1">
      <p:cViewPr varScale="1">
        <p:scale>
          <a:sx n="159" d="100"/>
          <a:sy n="159" d="100"/>
        </p:scale>
        <p:origin x="2340" y="1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-2472" y="-112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2DD206-2CEE-7A48-8986-7CB1B3D61DC8}" type="datetimeFigureOut">
              <a:rPr kumimoji="1" lang="zh-CN" altLang="en-US" smtClean="0"/>
              <a:t>2026/6/22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767BE-ACFC-BE45-AB90-F0D153D14BB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41239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D6EC14-67A4-CE4F-824E-260CC5583C42}" type="datetimeFigureOut">
              <a:rPr kumimoji="1" lang="zh-CN" altLang="en-US" smtClean="0"/>
              <a:t>2026/6/22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78471F-2E82-9D43-8F51-EC51DE8AD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7830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圖片版面配置區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a typeface="宋体"/>
              </a:defRPr>
            </a:lvl1pPr>
          </a:lstStyle>
          <a:p>
            <a:pPr lvl="0"/>
            <a:r>
              <a:rPr lang="zh-TW" altLang="en-US" noProof="0"/>
              <a:t>将图片拖动到占位符，或单击添加图标</a:t>
            </a:r>
            <a:endParaRPr lang="zh-TW" altLang="en-US" noProof="0" dirty="0"/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86DD0BA-98A2-BB4B-AD49-BF6B8655A9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61313517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单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34434" y="1120775"/>
            <a:ext cx="11523132" cy="5005388"/>
          </a:xfrm>
          <a:prstGeom prst="rect">
            <a:avLst/>
          </a:prstGeom>
        </p:spPr>
        <p:txBody>
          <a:bodyPr/>
          <a:lstStyle>
            <a:lvl1pPr marL="185738" indent="-185738">
              <a:spcBef>
                <a:spcPts val="388"/>
              </a:spcBef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•"/>
              <a:defRPr sz="2000" b="1" baseline="0">
                <a:solidFill>
                  <a:srgbClr val="06397F"/>
                </a:solidFill>
                <a:latin typeface="微软雅黑"/>
                <a:ea typeface="微软雅黑"/>
                <a:cs typeface="微软雅黑"/>
              </a:defRPr>
            </a:lvl1pPr>
            <a:lvl2pPr marL="711200" indent="-271463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defRPr sz="1800" b="0" baseline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2pPr>
            <a:lvl3pPr marL="896938" indent="-185738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defRPr sz="1800" b="0" baseline="0">
                <a:solidFill>
                  <a:srgbClr val="7F7F7F"/>
                </a:solidFill>
                <a:latin typeface="微软雅黑"/>
                <a:ea typeface="微软雅黑"/>
                <a:cs typeface="微软雅黑"/>
              </a:defRPr>
            </a:lvl3pPr>
            <a:lvl4pPr marL="72000" indent="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buNone/>
              <a:defRPr sz="1800" b="0" baseline="0">
                <a:solidFill>
                  <a:srgbClr val="7F7F7F"/>
                </a:solidFill>
                <a:latin typeface="微软雅黑"/>
                <a:ea typeface="微软雅黑"/>
                <a:cs typeface="微软雅黑"/>
              </a:defRPr>
            </a:lvl4pPr>
            <a:lvl5pPr marL="541337" indent="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buNone/>
              <a:defRPr sz="1800" b="0" baseline="0">
                <a:solidFill>
                  <a:srgbClr val="7F7F7F"/>
                </a:solidFill>
                <a:latin typeface="微软雅黑"/>
                <a:ea typeface="微软雅黑"/>
                <a:cs typeface="微软雅黑"/>
              </a:defRPr>
            </a:lvl5pPr>
            <a:lvl6pPr marL="2628900" marR="0" indent="-342900" algn="l" defTabSz="457200" rtl="0" eaLnBrk="1" fontAlgn="auto" latinLnBrk="0" hangingPunct="1">
              <a:lnSpc>
                <a:spcPct val="100000"/>
              </a:lnSpc>
              <a:spcBef>
                <a:spcPts val="388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/>
              <a:buChar char="•"/>
              <a:tabLst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spcBef>
                <a:spcPts val="388"/>
              </a:spcBef>
              <a:buClr>
                <a:schemeClr val="tx1">
                  <a:lumMod val="75000"/>
                  <a:lumOff val="25000"/>
                </a:schemeClr>
              </a:buCl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086100" marR="0" indent="0" algn="l" defTabSz="457200" rtl="0" eaLnBrk="1" fontAlgn="auto" latinLnBrk="0" hangingPunct="1">
              <a:lnSpc>
                <a:spcPct val="100000"/>
              </a:lnSpc>
              <a:spcBef>
                <a:spcPts val="388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/>
              <a:buNone/>
              <a:tabLst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spcBef>
                <a:spcPts val="388"/>
              </a:spcBef>
              <a:buClr>
                <a:schemeClr val="tx1">
                  <a:lumMod val="75000"/>
                  <a:lumOff val="25000"/>
                </a:schemeClr>
              </a:buCl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单击此处编辑母版文本样式</a:t>
            </a:r>
          </a:p>
          <a:p>
            <a:pPr lvl="1"/>
            <a:r>
              <a:rPr lang="zh-TW" altLang="en-US" dirty="0"/>
              <a:t>二级</a:t>
            </a:r>
            <a:endParaRPr lang="en-US" altLang="zh-TW" dirty="0"/>
          </a:p>
          <a:p>
            <a:pPr lvl="2"/>
            <a:endParaRPr lang="zh-TW" altLang="en-US" dirty="0"/>
          </a:p>
        </p:txBody>
      </p:sp>
      <p:sp>
        <p:nvSpPr>
          <p:cNvPr id="5" name="標題版面配置區 1"/>
          <p:cNvSpPr>
            <a:spLocks noGrp="1"/>
          </p:cNvSpPr>
          <p:nvPr>
            <p:ph type="title"/>
          </p:nvPr>
        </p:nvSpPr>
        <p:spPr bwMode="auto">
          <a:xfrm>
            <a:off x="334434" y="260350"/>
            <a:ext cx="11523133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lvl="0"/>
            <a:r>
              <a:rPr lang="zh-TW" altLang="en-US" dirty="0"/>
              <a:t>单击此处编辑母版标题样式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fld id="{586DD0BA-98A2-BB4B-AD49-BF6B8655A9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568392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34434" y="1120775"/>
            <a:ext cx="5665556" cy="50053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88"/>
              </a:spcBef>
              <a:buClr>
                <a:schemeClr val="tx1">
                  <a:lumMod val="75000"/>
                  <a:lumOff val="25000"/>
                </a:schemeClr>
              </a:buClr>
              <a:buNone/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72000" indent="16920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2pPr>
            <a:lvl3pPr marL="72000" indent="16920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3pPr>
            <a:lvl4pPr marL="72000" indent="16920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4pPr>
            <a:lvl5pPr marL="72000" indent="16920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5pPr>
            <a:lvl6pPr marL="2628900" marR="0" indent="-342900" algn="l" defTabSz="457200" rtl="0" eaLnBrk="1" fontAlgn="auto" latinLnBrk="0" hangingPunct="1">
              <a:lnSpc>
                <a:spcPct val="100000"/>
              </a:lnSpc>
              <a:spcBef>
                <a:spcPts val="388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/>
              <a:buChar char="•"/>
              <a:tabLst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spcBef>
                <a:spcPts val="388"/>
              </a:spcBef>
              <a:buClr>
                <a:schemeClr val="tx1">
                  <a:lumMod val="75000"/>
                  <a:lumOff val="25000"/>
                </a:schemeClr>
              </a:buCl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086100" marR="0" indent="0" algn="l" defTabSz="457200" rtl="0" eaLnBrk="1" fontAlgn="auto" latinLnBrk="0" hangingPunct="1">
              <a:lnSpc>
                <a:spcPct val="100000"/>
              </a:lnSpc>
              <a:spcBef>
                <a:spcPts val="388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/>
              <a:buNone/>
              <a:tabLst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spcBef>
                <a:spcPts val="388"/>
              </a:spcBef>
              <a:buClr>
                <a:schemeClr val="tx1">
                  <a:lumMod val="75000"/>
                  <a:lumOff val="25000"/>
                </a:schemeClr>
              </a:buCl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单击此处编辑母版文本样式</a:t>
            </a:r>
          </a:p>
          <a:p>
            <a:pPr lvl="1"/>
            <a:r>
              <a:rPr lang="zh-TW" altLang="en-US" dirty="0"/>
              <a:t>二级</a:t>
            </a:r>
          </a:p>
          <a:p>
            <a:pPr lvl="2"/>
            <a:r>
              <a:rPr lang="zh-TW" altLang="en-US" dirty="0"/>
              <a:t>三级</a:t>
            </a:r>
          </a:p>
          <a:p>
            <a:pPr lvl="3"/>
            <a:r>
              <a:rPr lang="zh-TW" altLang="en-US" dirty="0"/>
              <a:t>四级</a:t>
            </a:r>
          </a:p>
          <a:p>
            <a:pPr lvl="4"/>
            <a:r>
              <a:rPr lang="zh-TW" altLang="en-US" dirty="0"/>
              <a:t>五级</a:t>
            </a:r>
            <a:endParaRPr lang="en-US" altLang="zh-TW" dirty="0"/>
          </a:p>
        </p:txBody>
      </p:sp>
      <p:sp>
        <p:nvSpPr>
          <p:cNvPr id="5" name="內容版面配置區 2"/>
          <p:cNvSpPr>
            <a:spLocks noGrp="1"/>
          </p:cNvSpPr>
          <p:nvPr>
            <p:ph idx="11"/>
          </p:nvPr>
        </p:nvSpPr>
        <p:spPr>
          <a:xfrm>
            <a:off x="6192011" y="1120775"/>
            <a:ext cx="5665556" cy="50053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88"/>
              </a:spcBef>
              <a:buClr>
                <a:schemeClr val="tx1">
                  <a:lumMod val="75000"/>
                  <a:lumOff val="25000"/>
                </a:schemeClr>
              </a:buClr>
              <a:buNone/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72000" indent="16920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2pPr>
            <a:lvl3pPr marL="72000" indent="16920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3pPr>
            <a:lvl4pPr marL="72000" indent="16920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4pPr>
            <a:lvl5pPr marL="72000" indent="16920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5pPr>
            <a:lvl6pPr marL="2628900" marR="0" indent="-342900" algn="l" defTabSz="457200" rtl="0" eaLnBrk="1" fontAlgn="auto" latinLnBrk="0" hangingPunct="1">
              <a:lnSpc>
                <a:spcPct val="100000"/>
              </a:lnSpc>
              <a:spcBef>
                <a:spcPts val="388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/>
              <a:buChar char="•"/>
              <a:tabLst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spcBef>
                <a:spcPts val="388"/>
              </a:spcBef>
              <a:buClr>
                <a:schemeClr val="tx1">
                  <a:lumMod val="75000"/>
                  <a:lumOff val="25000"/>
                </a:schemeClr>
              </a:buCl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086100" marR="0" indent="0" algn="l" defTabSz="457200" rtl="0" eaLnBrk="1" fontAlgn="auto" latinLnBrk="0" hangingPunct="1">
              <a:lnSpc>
                <a:spcPct val="100000"/>
              </a:lnSpc>
              <a:spcBef>
                <a:spcPts val="388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/>
              <a:buNone/>
              <a:tabLst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spcBef>
                <a:spcPts val="388"/>
              </a:spcBef>
              <a:buClr>
                <a:schemeClr val="tx1">
                  <a:lumMod val="75000"/>
                  <a:lumOff val="25000"/>
                </a:schemeClr>
              </a:buCl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单击此处编辑母版文本样式</a:t>
            </a:r>
          </a:p>
          <a:p>
            <a:pPr lvl="1"/>
            <a:r>
              <a:rPr lang="zh-TW" altLang="en-US" dirty="0"/>
              <a:t>二级</a:t>
            </a:r>
          </a:p>
          <a:p>
            <a:pPr lvl="2"/>
            <a:r>
              <a:rPr lang="zh-TW" altLang="en-US" dirty="0"/>
              <a:t>三级</a:t>
            </a:r>
          </a:p>
          <a:p>
            <a:pPr lvl="3"/>
            <a:r>
              <a:rPr lang="zh-TW" altLang="en-US" dirty="0"/>
              <a:t>四级</a:t>
            </a:r>
          </a:p>
          <a:p>
            <a:pPr lvl="4"/>
            <a:r>
              <a:rPr lang="zh-TW" altLang="en-US" dirty="0"/>
              <a:t>五级</a:t>
            </a:r>
            <a:endParaRPr lang="en-US" altLang="zh-TW" dirty="0"/>
          </a:p>
        </p:txBody>
      </p:sp>
      <p:sp>
        <p:nvSpPr>
          <p:cNvPr id="9" name="標題版面配置區 1"/>
          <p:cNvSpPr>
            <a:spLocks noGrp="1"/>
          </p:cNvSpPr>
          <p:nvPr>
            <p:ph type="title"/>
          </p:nvPr>
        </p:nvSpPr>
        <p:spPr bwMode="auto">
          <a:xfrm>
            <a:off x="334434" y="260350"/>
            <a:ext cx="11523133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lvl="0"/>
            <a:r>
              <a:rPr lang="zh-TW" altLang="en-US" dirty="0"/>
              <a:t>单击此处编辑母版标题样式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fld id="{586DD0BA-98A2-BB4B-AD49-BF6B8655A9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00654662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版面配置區 1"/>
          <p:cNvSpPr>
            <a:spLocks noGrp="1"/>
          </p:cNvSpPr>
          <p:nvPr>
            <p:ph type="title"/>
          </p:nvPr>
        </p:nvSpPr>
        <p:spPr bwMode="auto">
          <a:xfrm>
            <a:off x="334434" y="260350"/>
            <a:ext cx="11523133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b="0">
                <a:solidFill>
                  <a:srgbClr val="E6000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lvl="0"/>
            <a:r>
              <a:rPr lang="zh-TW" altLang="en-US" dirty="0"/>
              <a:t>单击此处编辑母版标题样式</a:t>
            </a:r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86DD0BA-98A2-BB4B-AD49-BF6B8655A9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88781177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86DD0BA-98A2-BB4B-AD49-BF6B8655A9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8611620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 黑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版面配置區 1"/>
          <p:cNvSpPr>
            <a:spLocks noGrp="1"/>
          </p:cNvSpPr>
          <p:nvPr>
            <p:ph type="title"/>
          </p:nvPr>
        </p:nvSpPr>
        <p:spPr bwMode="auto">
          <a:xfrm>
            <a:off x="334434" y="260350"/>
            <a:ext cx="11523133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b="0">
                <a:solidFill>
                  <a:srgbClr val="FF000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lvl="0"/>
            <a:r>
              <a:rPr lang="zh-TW" altLang="en-US" dirty="0"/>
              <a:t>单击此处编辑母版标题样式</a:t>
            </a:r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86DD0BA-98A2-BB4B-AD49-BF6B8655A9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27778429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 黑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86DD0BA-98A2-BB4B-AD49-BF6B8655A9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38482070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未命名-3-06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507059" y="646091"/>
            <a:ext cx="9525047" cy="1064176"/>
          </a:xfrm>
        </p:spPr>
        <p:txBody>
          <a:bodyPr anchor="b"/>
          <a:lstStyle>
            <a:lvl1pPr>
              <a:defRPr sz="3200" b="0">
                <a:solidFill>
                  <a:srgbClr val="0A195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r>
              <a:rPr lang="zh-TW" altLang="en-US" dirty="0"/>
              <a:t>单击此处编辑母版标题样式</a:t>
            </a:r>
          </a:p>
        </p:txBody>
      </p:sp>
      <p:sp>
        <p:nvSpPr>
          <p:cNvPr id="8" name="文字版面配置區 11"/>
          <p:cNvSpPr>
            <a:spLocks noGrp="1"/>
          </p:cNvSpPr>
          <p:nvPr>
            <p:ph type="body" sz="quarter" idx="12"/>
          </p:nvPr>
        </p:nvSpPr>
        <p:spPr>
          <a:xfrm>
            <a:off x="506658" y="1916833"/>
            <a:ext cx="9525401" cy="40950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4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257300" indent="-342900"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单击此处编辑母版文本样式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94758"/>
            <a:ext cx="12192000" cy="56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40073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未命名-3-05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" name="直線接點 4"/>
          <p:cNvCxnSpPr/>
          <p:nvPr/>
        </p:nvCxnSpPr>
        <p:spPr>
          <a:xfrm>
            <a:off x="334433" y="1092200"/>
            <a:ext cx="11542184" cy="0"/>
          </a:xfrm>
          <a:prstGeom prst="line">
            <a:avLst/>
          </a:prstGeom>
          <a:ln w="6350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標題 1"/>
          <p:cNvSpPr>
            <a:spLocks noGrp="1"/>
          </p:cNvSpPr>
          <p:nvPr>
            <p:ph type="title"/>
          </p:nvPr>
        </p:nvSpPr>
        <p:spPr>
          <a:xfrm>
            <a:off x="334434" y="1188368"/>
            <a:ext cx="11523133" cy="5021932"/>
          </a:xfrm>
        </p:spPr>
        <p:txBody>
          <a:bodyPr/>
          <a:lstStyle>
            <a:lvl1pPr>
              <a:defRPr sz="3200" b="0" i="0">
                <a:solidFill>
                  <a:srgbClr val="FFFFFF"/>
                </a:solidFill>
                <a:latin typeface="STIXSizeTwoSym-Regular"/>
                <a:ea typeface="微软雅黑"/>
                <a:cs typeface="STIXSizeTwoSym-Regular"/>
              </a:defRPr>
            </a:lvl1pPr>
          </a:lstStyle>
          <a:p>
            <a:r>
              <a:rPr lang="zh-TW" altLang="en-US" dirty="0"/>
              <a:t>单击此处编辑母版标题样式</a:t>
            </a:r>
          </a:p>
        </p:txBody>
      </p:sp>
      <p:sp>
        <p:nvSpPr>
          <p:cNvPr id="17" name="文字版面配置區 18"/>
          <p:cNvSpPr>
            <a:spLocks noGrp="1"/>
          </p:cNvSpPr>
          <p:nvPr>
            <p:ph type="body" sz="quarter" idx="13"/>
          </p:nvPr>
        </p:nvSpPr>
        <p:spPr>
          <a:xfrm>
            <a:off x="334433" y="165100"/>
            <a:ext cx="11542184" cy="83820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>
                <a:solidFill>
                  <a:srgbClr val="E6000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lvl="0"/>
            <a:r>
              <a:rPr lang="zh-TW" altLang="en-US" dirty="0"/>
              <a:t>单击此处编辑母版文本样式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94758"/>
            <a:ext cx="12192000" cy="56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821280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简易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1800"/>
          </a:p>
        </p:txBody>
      </p:sp>
      <p:sp>
        <p:nvSpPr>
          <p:cNvPr id="10" name="標題版面配置區 1"/>
          <p:cNvSpPr>
            <a:spLocks noGrp="1"/>
          </p:cNvSpPr>
          <p:nvPr>
            <p:ph type="title"/>
          </p:nvPr>
        </p:nvSpPr>
        <p:spPr>
          <a:xfrm>
            <a:off x="956235" y="2002118"/>
            <a:ext cx="9064315" cy="1764226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2800" b="0" baseline="0">
                <a:solidFill>
                  <a:srgbClr val="0A195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r>
              <a:rPr lang="zh-TW" altLang="en-US" dirty="0"/>
              <a:t>单击此处编辑母版标题样式</a:t>
            </a:r>
          </a:p>
        </p:txBody>
      </p:sp>
      <p:sp>
        <p:nvSpPr>
          <p:cNvPr id="11" name="文字版面配置區 13"/>
          <p:cNvSpPr>
            <a:spLocks noGrp="1"/>
          </p:cNvSpPr>
          <p:nvPr>
            <p:ph idx="1"/>
          </p:nvPr>
        </p:nvSpPr>
        <p:spPr>
          <a:xfrm>
            <a:off x="956235" y="4004235"/>
            <a:ext cx="9064315" cy="986118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 sz="1800" b="1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lvl="0"/>
            <a:r>
              <a:rPr lang="zh-TW" altLang="en-US" noProof="0" dirty="0"/>
              <a:t>单击此处编辑母版文本样式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554527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未命名-3-03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文字版面配置區 11"/>
          <p:cNvSpPr>
            <a:spLocks noGrp="1"/>
          </p:cNvSpPr>
          <p:nvPr>
            <p:ph type="body" sz="quarter" idx="12"/>
          </p:nvPr>
        </p:nvSpPr>
        <p:spPr>
          <a:xfrm>
            <a:off x="334434" y="2536022"/>
            <a:ext cx="8696677" cy="131656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20000"/>
              </a:lnSpc>
              <a:buNone/>
              <a:defRPr sz="4800" b="0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257300" indent="-342900"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/>
            <a:endParaRPr lang="zh-TW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94758"/>
            <a:ext cx="12192000" cy="56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755620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43"/>
            <a:ext cx="12192000" cy="6857657"/>
          </a:xfrm>
          <a:prstGeom prst="rect">
            <a:avLst/>
          </a:prstGeom>
        </p:spPr>
      </p:pic>
      <p:sp>
        <p:nvSpPr>
          <p:cNvPr id="1027" name="標題版面配置區 1"/>
          <p:cNvSpPr>
            <a:spLocks noGrp="1"/>
          </p:cNvSpPr>
          <p:nvPr>
            <p:ph type="title"/>
          </p:nvPr>
        </p:nvSpPr>
        <p:spPr bwMode="auto">
          <a:xfrm>
            <a:off x="334434" y="260350"/>
            <a:ext cx="11523133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cxnSp>
        <p:nvCxnSpPr>
          <p:cNvPr id="8" name="直线连接符 9"/>
          <p:cNvCxnSpPr/>
          <p:nvPr/>
        </p:nvCxnSpPr>
        <p:spPr>
          <a:xfrm>
            <a:off x="-994833" y="260350"/>
            <a:ext cx="797983" cy="0"/>
          </a:xfrm>
          <a:prstGeom prst="line">
            <a:avLst/>
          </a:prstGeom>
          <a:ln w="31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18"/>
          <p:cNvCxnSpPr/>
          <p:nvPr/>
        </p:nvCxnSpPr>
        <p:spPr>
          <a:xfrm>
            <a:off x="-994833" y="6397625"/>
            <a:ext cx="797983" cy="0"/>
          </a:xfrm>
          <a:prstGeom prst="line">
            <a:avLst/>
          </a:prstGeom>
          <a:ln w="31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9"/>
          <p:cNvCxnSpPr/>
          <p:nvPr/>
        </p:nvCxnSpPr>
        <p:spPr>
          <a:xfrm>
            <a:off x="6096000" y="-674688"/>
            <a:ext cx="0" cy="503238"/>
          </a:xfrm>
          <a:prstGeom prst="line">
            <a:avLst/>
          </a:prstGeom>
          <a:ln w="31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22"/>
          <p:cNvCxnSpPr/>
          <p:nvPr/>
        </p:nvCxnSpPr>
        <p:spPr>
          <a:xfrm>
            <a:off x="6096000" y="7029450"/>
            <a:ext cx="0" cy="503238"/>
          </a:xfrm>
          <a:prstGeom prst="line">
            <a:avLst/>
          </a:prstGeom>
          <a:ln w="31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23"/>
          <p:cNvCxnSpPr/>
          <p:nvPr/>
        </p:nvCxnSpPr>
        <p:spPr>
          <a:xfrm>
            <a:off x="11876617" y="7029450"/>
            <a:ext cx="0" cy="503238"/>
          </a:xfrm>
          <a:prstGeom prst="line">
            <a:avLst/>
          </a:prstGeom>
          <a:ln w="31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8"/>
          <p:cNvCxnSpPr/>
          <p:nvPr/>
        </p:nvCxnSpPr>
        <p:spPr>
          <a:xfrm>
            <a:off x="311151" y="-674688"/>
            <a:ext cx="0" cy="503238"/>
          </a:xfrm>
          <a:prstGeom prst="line">
            <a:avLst/>
          </a:prstGeom>
          <a:ln w="31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21"/>
          <p:cNvCxnSpPr/>
          <p:nvPr/>
        </p:nvCxnSpPr>
        <p:spPr>
          <a:xfrm>
            <a:off x="311151" y="7029450"/>
            <a:ext cx="0" cy="503238"/>
          </a:xfrm>
          <a:prstGeom prst="line">
            <a:avLst/>
          </a:prstGeom>
          <a:ln w="31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012767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="1">
                <a:solidFill>
                  <a:schemeClr val="bg1"/>
                </a:solidFill>
                <a:latin typeface="+mn-lt"/>
                <a:ea typeface="宋体" charset="0"/>
                <a:cs typeface="宋体" charset="0"/>
              </a:defRPr>
            </a:lvl1pPr>
          </a:lstStyle>
          <a:p>
            <a:fld id="{586DD0BA-98A2-BB4B-AD49-BF6B8655A976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  <p:grpSp>
        <p:nvGrpSpPr>
          <p:cNvPr id="2" name="组 1"/>
          <p:cNvGrpSpPr/>
          <p:nvPr userDrawn="1"/>
        </p:nvGrpSpPr>
        <p:grpSpPr>
          <a:xfrm>
            <a:off x="12256675" y="-606956"/>
            <a:ext cx="659924" cy="6963306"/>
            <a:chOff x="9192506" y="-606956"/>
            <a:chExt cx="494943" cy="6963306"/>
          </a:xfrm>
        </p:grpSpPr>
        <p:cxnSp>
          <p:nvCxnSpPr>
            <p:cNvPr id="15" name="直线连接符 18"/>
            <p:cNvCxnSpPr/>
            <p:nvPr/>
          </p:nvCxnSpPr>
          <p:spPr>
            <a:xfrm>
              <a:off x="9195324" y="-606956"/>
              <a:ext cx="0" cy="503238"/>
            </a:xfrm>
            <a:prstGeom prst="line">
              <a:avLst/>
            </a:prstGeom>
            <a:ln w="3175" cmpd="sng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组 35"/>
            <p:cNvGrpSpPr/>
            <p:nvPr userDrawn="1"/>
          </p:nvGrpSpPr>
          <p:grpSpPr>
            <a:xfrm>
              <a:off x="9195324" y="4660988"/>
              <a:ext cx="492125" cy="1695362"/>
              <a:chOff x="9210675" y="7083548"/>
              <a:chExt cx="492125" cy="2146300"/>
            </a:xfrm>
          </p:grpSpPr>
          <p:sp>
            <p:nvSpPr>
              <p:cNvPr id="37" name="矩形 36"/>
              <p:cNvSpPr/>
              <p:nvPr/>
            </p:nvSpPr>
            <p:spPr bwMode="auto">
              <a:xfrm>
                <a:off x="9210675" y="7083548"/>
                <a:ext cx="492125" cy="698500"/>
              </a:xfrm>
              <a:prstGeom prst="rect">
                <a:avLst/>
              </a:prstGeom>
              <a:solidFill>
                <a:srgbClr val="BEB4B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CN" sz="900" dirty="0">
                    <a:solidFill>
                      <a:schemeClr val="bg2"/>
                    </a:solidFill>
                    <a:latin typeface="Helvetica"/>
                    <a:ea typeface="宋体"/>
                    <a:cs typeface="Helvetica"/>
                  </a:rPr>
                  <a:t>R190 G180 B180</a:t>
                </a:r>
                <a:endParaRPr kumimoji="0" lang="zh-CN" altLang="en-US" sz="900" dirty="0">
                  <a:solidFill>
                    <a:schemeClr val="bg2"/>
                  </a:solidFill>
                  <a:latin typeface="Helvetica"/>
                  <a:ea typeface="宋体"/>
                  <a:cs typeface="Helvetica"/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 bwMode="auto">
              <a:xfrm>
                <a:off x="9210675" y="7782048"/>
                <a:ext cx="492125" cy="723899"/>
              </a:xfrm>
              <a:prstGeom prst="rect">
                <a:avLst/>
              </a:prstGeom>
              <a:solidFill>
                <a:srgbClr val="6E646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CN" sz="900" dirty="0">
                    <a:solidFill>
                      <a:srgbClr val="FFFFFF"/>
                    </a:solidFill>
                    <a:latin typeface="Helvetica"/>
                    <a:ea typeface="宋体"/>
                    <a:cs typeface="Helvetica"/>
                  </a:rPr>
                  <a:t>R110 G100 B100</a:t>
                </a:r>
                <a:endParaRPr kumimoji="0" lang="zh-CN" altLang="en-US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endParaRPr>
              </a:p>
            </p:txBody>
          </p:sp>
          <p:sp>
            <p:nvSpPr>
              <p:cNvPr id="39" name="矩形 38"/>
              <p:cNvSpPr/>
              <p:nvPr/>
            </p:nvSpPr>
            <p:spPr bwMode="auto">
              <a:xfrm>
                <a:off x="9210675" y="8505949"/>
                <a:ext cx="492125" cy="723899"/>
              </a:xfrm>
              <a:prstGeom prst="rect">
                <a:avLst/>
              </a:prstGeom>
              <a:solidFill>
                <a:srgbClr val="4141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CN" sz="900" dirty="0">
                    <a:solidFill>
                      <a:schemeClr val="bg1"/>
                    </a:solidFill>
                    <a:latin typeface="Helvetica"/>
                    <a:ea typeface="宋体"/>
                    <a:cs typeface="Helvetica"/>
                  </a:rPr>
                  <a:t>R65 G65 B65</a:t>
                </a:r>
                <a:endParaRPr kumimoji="0" lang="zh-CN" altLang="en-US" sz="900" dirty="0">
                  <a:solidFill>
                    <a:schemeClr val="bg1"/>
                  </a:solidFill>
                  <a:latin typeface="Helvetica"/>
                  <a:ea typeface="宋体"/>
                  <a:cs typeface="Helvetica"/>
                </a:endParaRPr>
              </a:p>
            </p:txBody>
          </p:sp>
        </p:grpSp>
        <p:sp>
          <p:nvSpPr>
            <p:cNvPr id="41" name="矩形 40"/>
            <p:cNvSpPr/>
            <p:nvPr/>
          </p:nvSpPr>
          <p:spPr bwMode="auto">
            <a:xfrm>
              <a:off x="9195324" y="0"/>
              <a:ext cx="492125" cy="584377"/>
            </a:xfrm>
            <a:prstGeom prst="rect">
              <a:avLst/>
            </a:prstGeom>
            <a:solidFill>
              <a:srgbClr val="0A19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latin typeface="Helvetica"/>
                  <a:ea typeface="宋体"/>
                  <a:cs typeface="Helvetica"/>
                </a:rPr>
                <a:t>R10 G25 B80</a:t>
              </a:r>
              <a:endParaRPr kumimoji="0" lang="zh-CN" altLang="en-US" sz="900" dirty="0">
                <a:latin typeface="Helvetica"/>
                <a:ea typeface="宋体"/>
                <a:cs typeface="Helvetica"/>
              </a:endParaRPr>
            </a:p>
          </p:txBody>
        </p:sp>
        <p:sp>
          <p:nvSpPr>
            <p:cNvPr id="42" name="矩形 41"/>
            <p:cNvSpPr/>
            <p:nvPr/>
          </p:nvSpPr>
          <p:spPr bwMode="auto">
            <a:xfrm>
              <a:off x="9195324" y="584377"/>
              <a:ext cx="492125" cy="583052"/>
            </a:xfrm>
            <a:prstGeom prst="rect">
              <a:avLst/>
            </a:prstGeom>
            <a:solidFill>
              <a:srgbClr val="0537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rPr>
                <a:t>R5 G55 B125</a:t>
              </a:r>
              <a:endParaRPr kumimoji="0" lang="zh-CN" altLang="en-US" sz="900" dirty="0">
                <a:solidFill>
                  <a:srgbClr val="FFFFFF"/>
                </a:solidFill>
                <a:latin typeface="Helvetica"/>
                <a:ea typeface="宋体"/>
                <a:cs typeface="Helvetica"/>
              </a:endParaRPr>
            </a:p>
          </p:txBody>
        </p:sp>
        <p:sp>
          <p:nvSpPr>
            <p:cNvPr id="43" name="矩形 42"/>
            <p:cNvSpPr/>
            <p:nvPr/>
          </p:nvSpPr>
          <p:spPr bwMode="auto">
            <a:xfrm>
              <a:off x="9195323" y="1167429"/>
              <a:ext cx="492125" cy="584376"/>
            </a:xfrm>
            <a:prstGeom prst="rect">
              <a:avLst/>
            </a:prstGeom>
            <a:solidFill>
              <a:srgbClr val="0850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+mn-lt"/>
                  <a:ea typeface="+mn-ea"/>
                  <a:cs typeface="Helvetica"/>
                </a:rPr>
                <a:t>R8 G80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+mn-lt"/>
                  <a:ea typeface="+mn-ea"/>
                  <a:cs typeface="Helvetica"/>
                </a:rPr>
                <a:t>B180</a:t>
              </a:r>
              <a:endParaRPr kumimoji="0" lang="zh-CN" altLang="en-US" sz="900" dirty="0">
                <a:solidFill>
                  <a:srgbClr val="FFFFFF"/>
                </a:solidFill>
                <a:latin typeface="+mn-lt"/>
                <a:ea typeface="+mn-ea"/>
                <a:cs typeface="Helvetica"/>
              </a:endParaRPr>
            </a:p>
          </p:txBody>
        </p:sp>
        <p:sp>
          <p:nvSpPr>
            <p:cNvPr id="44" name="矩形 43"/>
            <p:cNvSpPr/>
            <p:nvPr/>
          </p:nvSpPr>
          <p:spPr bwMode="auto">
            <a:xfrm>
              <a:off x="9195324" y="3492236"/>
              <a:ext cx="492125" cy="584377"/>
            </a:xfrm>
            <a:prstGeom prst="rect">
              <a:avLst/>
            </a:prstGeom>
            <a:solidFill>
              <a:srgbClr val="AB05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rPr>
                <a:t>R170 G5 B30</a:t>
              </a:r>
              <a:endParaRPr kumimoji="0" lang="zh-CN" altLang="en-US" sz="900" dirty="0">
                <a:solidFill>
                  <a:srgbClr val="FFFFFF"/>
                </a:solidFill>
                <a:latin typeface="Helvetica"/>
                <a:ea typeface="宋体"/>
                <a:cs typeface="Helvetica"/>
              </a:endParaRPr>
            </a:p>
          </p:txBody>
        </p:sp>
        <p:sp>
          <p:nvSpPr>
            <p:cNvPr id="45" name="矩形 44"/>
            <p:cNvSpPr/>
            <p:nvPr/>
          </p:nvSpPr>
          <p:spPr bwMode="auto">
            <a:xfrm>
              <a:off x="9195324" y="4076613"/>
              <a:ext cx="492125" cy="584376"/>
            </a:xfrm>
            <a:prstGeom prst="rect">
              <a:avLst/>
            </a:prstGeom>
            <a:solidFill>
              <a:srgbClr val="E6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rPr>
                <a:t>R230 </a:t>
              </a:r>
              <a:r>
                <a:rPr kumimoji="0" lang="en-US" altLang="zh-CN" sz="900" dirty="0">
                  <a:cs typeface="Helvetica"/>
                </a:rPr>
                <a:t>G0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rPr>
                <a:t>B0</a:t>
              </a:r>
              <a:endParaRPr kumimoji="0" lang="zh-CN" altLang="en-US" sz="900" dirty="0">
                <a:solidFill>
                  <a:srgbClr val="FFFFFF"/>
                </a:solidFill>
                <a:latin typeface="Helvetica"/>
                <a:ea typeface="宋体"/>
                <a:cs typeface="Helvetica"/>
              </a:endParaRPr>
            </a:p>
          </p:txBody>
        </p:sp>
        <p:sp>
          <p:nvSpPr>
            <p:cNvPr id="46" name="矩形 45"/>
            <p:cNvSpPr/>
            <p:nvPr userDrawn="1"/>
          </p:nvSpPr>
          <p:spPr bwMode="auto">
            <a:xfrm>
              <a:off x="9195322" y="1751805"/>
              <a:ext cx="492125" cy="584376"/>
            </a:xfrm>
            <a:prstGeom prst="rect">
              <a:avLst/>
            </a:prstGeom>
            <a:solidFill>
              <a:srgbClr val="0F6E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rPr>
                <a:t>R15 </a:t>
              </a:r>
              <a:r>
                <a:rPr kumimoji="0" lang="en-US" altLang="zh-CN" sz="900" dirty="0">
                  <a:cs typeface="Helvetica"/>
                </a:rPr>
                <a:t>G110</a:t>
              </a: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rPr>
                <a:t>B240</a:t>
              </a:r>
              <a:endParaRPr kumimoji="0" lang="zh-CN" altLang="en-US" sz="900" dirty="0">
                <a:solidFill>
                  <a:srgbClr val="FFFFFF"/>
                </a:solidFill>
                <a:latin typeface="Helvetica"/>
                <a:ea typeface="宋体"/>
                <a:cs typeface="Helvetica"/>
              </a:endParaRPr>
            </a:p>
          </p:txBody>
        </p:sp>
        <p:sp>
          <p:nvSpPr>
            <p:cNvPr id="47" name="矩形 46"/>
            <p:cNvSpPr/>
            <p:nvPr userDrawn="1"/>
          </p:nvSpPr>
          <p:spPr bwMode="auto">
            <a:xfrm>
              <a:off x="9195321" y="2336181"/>
              <a:ext cx="492125" cy="584376"/>
            </a:xfrm>
            <a:prstGeom prst="rect">
              <a:avLst/>
            </a:prstGeom>
            <a:solidFill>
              <a:srgbClr val="78AA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rPr>
                <a:t>R120 </a:t>
              </a:r>
              <a:r>
                <a:rPr kumimoji="0" lang="en-US" altLang="zh-CN" sz="900" dirty="0">
                  <a:cs typeface="Helvetica"/>
                </a:rPr>
                <a:t>G170</a:t>
              </a: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rPr>
                <a:t>B245</a:t>
              </a:r>
              <a:endParaRPr kumimoji="0" lang="zh-CN" altLang="en-US" sz="900" dirty="0">
                <a:solidFill>
                  <a:srgbClr val="FFFFFF"/>
                </a:solidFill>
                <a:latin typeface="Helvetica"/>
                <a:ea typeface="宋体"/>
                <a:cs typeface="Helvetica"/>
              </a:endParaRPr>
            </a:p>
          </p:txBody>
        </p:sp>
        <p:sp>
          <p:nvSpPr>
            <p:cNvPr id="48" name="矩形 47"/>
            <p:cNvSpPr/>
            <p:nvPr userDrawn="1"/>
          </p:nvSpPr>
          <p:spPr bwMode="auto">
            <a:xfrm>
              <a:off x="9192506" y="2920557"/>
              <a:ext cx="492125" cy="584376"/>
            </a:xfrm>
            <a:prstGeom prst="rect">
              <a:avLst/>
            </a:prstGeom>
            <a:solidFill>
              <a:srgbClr val="C8DC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rPr>
                <a:t>R200 </a:t>
              </a:r>
              <a:r>
                <a:rPr kumimoji="0" lang="en-US" altLang="zh-CN" sz="900" dirty="0">
                  <a:cs typeface="Helvetica"/>
                </a:rPr>
                <a:t>G220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rPr>
                <a:t>B250</a:t>
              </a:r>
              <a:endParaRPr kumimoji="0" lang="zh-CN" altLang="en-US" sz="900" dirty="0">
                <a:solidFill>
                  <a:srgbClr val="FFFFFF"/>
                </a:solidFill>
                <a:latin typeface="Helvetica"/>
                <a:ea typeface="宋体"/>
                <a:cs typeface="Helvetica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5" r:id="rId9"/>
    <p:sldLayoutId id="2147483686" r:id="rId10"/>
    <p:sldLayoutId id="2147483688" r:id="rId11"/>
  </p:sldLayoutIdLst>
  <p:transition spd="med">
    <p:fade/>
  </p:transition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0" kern="1200">
          <a:solidFill>
            <a:srgbClr val="E60000"/>
          </a:solidFill>
          <a:latin typeface="微软雅黑"/>
          <a:ea typeface="微软雅黑"/>
          <a:cs typeface="微软雅黑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28200"/>
          </a:solidFill>
          <a:latin typeface="Helvetica" charset="0"/>
          <a:ea typeface="宋体" charset="0"/>
          <a:cs typeface="宋体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28200"/>
          </a:solidFill>
          <a:latin typeface="Helvetica" charset="0"/>
          <a:ea typeface="宋体" charset="0"/>
          <a:cs typeface="宋体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28200"/>
          </a:solidFill>
          <a:latin typeface="Helvetica" charset="0"/>
          <a:ea typeface="宋体" charset="0"/>
          <a:cs typeface="宋体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28200"/>
          </a:solidFill>
          <a:latin typeface="Helvetica" charset="0"/>
          <a:ea typeface="宋体" charset="0"/>
          <a:cs typeface="宋体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28200"/>
          </a:solidFill>
          <a:latin typeface="Helvetica" charset="0"/>
          <a:ea typeface="宋体" charset="0"/>
          <a:cs typeface="宋体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28200"/>
          </a:solidFill>
          <a:latin typeface="Helvetica" charset="0"/>
          <a:ea typeface="宋体" charset="0"/>
          <a:cs typeface="宋体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28200"/>
          </a:solidFill>
          <a:latin typeface="Helvetica" charset="0"/>
          <a:ea typeface="宋体" charset="0"/>
          <a:cs typeface="宋体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28200"/>
          </a:solidFill>
          <a:latin typeface="Helvetica" charset="0"/>
          <a:ea typeface="宋体" charset="0"/>
          <a:cs typeface="宋体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新細明體" charset="0"/>
          <a:cs typeface="宋体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宋体" charset="0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宋体" charset="0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宋体" charset="0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宋体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144000" y="0"/>
          </a:xfrm>
        </p:spPr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9144000" y="0"/>
          </a:xfrm>
        </p:spPr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920240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850B4"/>
                </a:solidFill>
                <a:latin typeface="Arial"/>
                <a:ea typeface="微软雅黑"/>
                <a:cs typeface="微软雅黑"/>
              </a:rPr>
              <a:t>前沿技术专题研究报告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6032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客户数字孪生（DToC）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7033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850B4"/>
                </a:solidFill>
                <a:latin typeface="Arial"/>
                <a:ea typeface="微软雅黑"/>
                <a:cs typeface="微软雅黑"/>
              </a:rPr>
              <a:t>技术跟踪与客户行为推演能力切入路径研究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029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编制部门：科技部　｜　报告版本：V2.33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394960"/>
            <a:ext cx="8686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2026年9月　·　内部研究材料（示意数据非收益承诺）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目 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691640"/>
            <a:ext cx="2377440" cy="0"/>
          </a:xfrm>
          <a:prstGeom prst="line">
            <a:avLst/>
          </a:prstGeom>
          <a:ln w="27940">
            <a:solidFill>
              <a:srgbClr val="E6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956816"/>
            <a:ext cx="914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C8DCFA"/>
                </a:solidFill>
                <a:latin typeface="Arial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4752" y="2011680"/>
            <a:ext cx="4297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执行摘要与核心结论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2414016"/>
            <a:ext cx="4297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464"/>
                </a:solidFill>
                <a:latin typeface="Arial"/>
                <a:ea typeface="微软雅黑"/>
                <a:cs typeface="微软雅黑"/>
              </a:rPr>
              <a:t>六维评估 · 处置档位 · 关键判断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54096"/>
            <a:ext cx="914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C8DCFA"/>
                </a:solidFill>
                <a:latin typeface="Arial"/>
                <a:ea typeface="微软雅黑"/>
                <a:cs typeface="微软雅黑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3108960"/>
            <a:ext cx="4297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背景与现状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3511296"/>
            <a:ext cx="4297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464"/>
                </a:solidFill>
                <a:latin typeface="Arial"/>
                <a:ea typeface="微软雅黑"/>
                <a:cs typeface="微软雅黑"/>
              </a:rPr>
              <a:t>三阶段演进 · 失效机制 · 画像痛点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51376"/>
            <a:ext cx="914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C8DCFA"/>
                </a:solidFill>
                <a:latin typeface="Arial"/>
                <a:ea typeface="微软雅黑"/>
                <a:cs typeface="微软雅黑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4206240"/>
            <a:ext cx="4297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技术解析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4608576"/>
            <a:ext cx="4297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464"/>
                </a:solidFill>
                <a:latin typeface="Arial"/>
                <a:ea typeface="微软雅黑"/>
                <a:cs typeface="微软雅黑"/>
              </a:rPr>
              <a:t>定义原理 · 推演闭环 · 四层架构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248656"/>
            <a:ext cx="914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C8DCFA"/>
                </a:solidFill>
                <a:latin typeface="Arial"/>
                <a:ea typeface="微软雅黑"/>
                <a:cs typeface="微软雅黑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5303520"/>
            <a:ext cx="4297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应用场景与价值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5705856"/>
            <a:ext cx="4297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464"/>
                </a:solidFill>
                <a:latin typeface="Arial"/>
                <a:ea typeface="微软雅黑"/>
                <a:cs typeface="微软雅黑"/>
              </a:rPr>
              <a:t>五大场景 · POC首选 · 效益区间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956816"/>
            <a:ext cx="914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C8DCFA"/>
                </a:solidFill>
                <a:latin typeface="Arial"/>
                <a:ea typeface="微软雅黑"/>
                <a:cs typeface="微软雅黑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5472" y="2011680"/>
            <a:ext cx="4297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风险与合规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5472" y="2414016"/>
            <a:ext cx="4297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464"/>
                </a:solidFill>
                <a:latin typeface="Arial"/>
                <a:ea typeface="微软雅黑"/>
                <a:cs typeface="微软雅黑"/>
              </a:rPr>
              <a:t>合规边界 · 三能做三不能碰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054096"/>
            <a:ext cx="914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C8DCFA"/>
                </a:solidFill>
                <a:latin typeface="Arial"/>
                <a:ea typeface="微软雅黑"/>
                <a:cs typeface="微软雅黑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3108960"/>
            <a:ext cx="4297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市场格局与战略匹配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5472" y="3511296"/>
            <a:ext cx="4297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464"/>
                </a:solidFill>
                <a:latin typeface="Arial"/>
                <a:ea typeface="微软雅黑"/>
                <a:cs typeface="微软雅黑"/>
              </a:rPr>
              <a:t>五力分析 · 战略命中 · 综合评估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151376"/>
            <a:ext cx="914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C8DCFA"/>
                </a:solidFill>
                <a:latin typeface="Arial"/>
                <a:ea typeface="微软雅黑"/>
                <a:cs typeface="微软雅黑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4206240"/>
            <a:ext cx="4297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实施建议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4608576"/>
            <a:ext cx="4297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464"/>
                </a:solidFill>
                <a:latin typeface="Arial"/>
                <a:ea typeface="微软雅黑"/>
                <a:cs typeface="微软雅黑"/>
              </a:rPr>
              <a:t>五路能力 · 三阶段路径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9235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执行摘要：深入研究（研究层）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13264" y="310896"/>
            <a:ext cx="1536192" cy="402336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01 执行摘要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50976"/>
            <a:ext cx="11094415" cy="0"/>
          </a:xfrm>
          <a:prstGeom prst="line">
            <a:avLst/>
          </a:prstGeom>
          <a:ln w="15240">
            <a:solidFill>
              <a:srgbClr val="C8DC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115568"/>
            <a:ext cx="11094415" cy="932688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37160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C8DCFA"/>
                </a:solidFill>
                <a:latin typeface="Arial"/>
                <a:ea typeface="微软雅黑"/>
                <a:cs typeface="微软雅黑"/>
              </a:rPr>
              <a:t>综合结论：</a:t>
            </a: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深入研究（研究层）</a:t>
            </a: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　｜　紧迫度 3 分，层内排期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8E4F5"/>
                </a:solidFill>
                <a:latin typeface="Arial"/>
                <a:ea typeface="微软雅黑"/>
                <a:cs typeface="微软雅黑"/>
              </a:rPr>
              <a:t>方向值得跟踪，当下不宜建平台——六维评估指向研究层，紧迫度 3 分、层内排期；按"五路能力"分步积累，用 6 个月 POC 验证理财续投场景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31136"/>
            <a:ext cx="4114800" cy="3749039"/>
          </a:xfrm>
          <a:prstGeom prst="rect">
            <a:avLst/>
          </a:prstGeom>
          <a:solidFill>
            <a:srgbClr val="F2F6FC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六维评估（1–5 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38988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技术成熟度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2176272" y="2798064"/>
            <a:ext cx="1691640" cy="164592"/>
          </a:xfrm>
          <a:prstGeom prst="rect">
            <a:avLst/>
          </a:prstGeom>
          <a:solidFill>
            <a:srgbClr val="E1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76272" y="2798064"/>
            <a:ext cx="676656" cy="164592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743200"/>
            <a:ext cx="6217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2 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138988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战略匹配度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6272" y="3255264"/>
            <a:ext cx="1691640" cy="164592"/>
          </a:xfrm>
          <a:prstGeom prst="rect">
            <a:avLst/>
          </a:prstGeom>
          <a:solidFill>
            <a:srgbClr val="E1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6272" y="3255264"/>
            <a:ext cx="1014984" cy="164592"/>
          </a:xfrm>
          <a:prstGeom prst="rect">
            <a:avLst/>
          </a:prstGeom>
          <a:solidFill>
            <a:srgbClr val="085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3200400"/>
            <a:ext cx="6217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850B4"/>
                </a:solidFill>
                <a:latin typeface="Arial"/>
                <a:ea typeface="微软雅黑"/>
                <a:cs typeface="微软雅黑"/>
              </a:rPr>
              <a:t>3 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38988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价值贡献度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76272" y="3712464"/>
            <a:ext cx="1691640" cy="164592"/>
          </a:xfrm>
          <a:prstGeom prst="rect">
            <a:avLst/>
          </a:prstGeom>
          <a:solidFill>
            <a:srgbClr val="E1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6272" y="3712464"/>
            <a:ext cx="1014984" cy="164592"/>
          </a:xfrm>
          <a:prstGeom prst="rect">
            <a:avLst/>
          </a:prstGeom>
          <a:solidFill>
            <a:srgbClr val="085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3657600"/>
            <a:ext cx="6217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850B4"/>
                </a:solidFill>
                <a:latin typeface="Arial"/>
                <a:ea typeface="微软雅黑"/>
                <a:cs typeface="微软雅黑"/>
              </a:rPr>
              <a:t>3 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138988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引入可行度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76272" y="4169664"/>
            <a:ext cx="1691640" cy="164592"/>
          </a:xfrm>
          <a:prstGeom prst="rect">
            <a:avLst/>
          </a:prstGeom>
          <a:solidFill>
            <a:srgbClr val="E1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76272" y="4169664"/>
            <a:ext cx="676656" cy="164592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4114800"/>
            <a:ext cx="6217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2 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72000"/>
            <a:ext cx="138988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战略紧迫度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76272" y="4626864"/>
            <a:ext cx="1691640" cy="164592"/>
          </a:xfrm>
          <a:prstGeom prst="rect">
            <a:avLst/>
          </a:prstGeom>
          <a:solidFill>
            <a:srgbClr val="E1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76272" y="4626864"/>
            <a:ext cx="1014984" cy="164592"/>
          </a:xfrm>
          <a:prstGeom prst="rect">
            <a:avLst/>
          </a:prstGeom>
          <a:solidFill>
            <a:srgbClr val="085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0" y="4572000"/>
            <a:ext cx="6217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850B4"/>
                </a:solidFill>
                <a:latin typeface="Arial"/>
                <a:ea typeface="微软雅黑"/>
                <a:cs typeface="微软雅黑"/>
              </a:rPr>
              <a:t>3 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29200"/>
            <a:ext cx="138988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生态开放度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76272" y="5084064"/>
            <a:ext cx="1691640" cy="164592"/>
          </a:xfrm>
          <a:prstGeom prst="rect">
            <a:avLst/>
          </a:prstGeom>
          <a:solidFill>
            <a:srgbClr val="E1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76272" y="5084064"/>
            <a:ext cx="1014984" cy="164592"/>
          </a:xfrm>
          <a:prstGeom prst="rect">
            <a:avLst/>
          </a:prstGeom>
          <a:solidFill>
            <a:srgbClr val="085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0" y="5029200"/>
            <a:ext cx="6217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850B4"/>
                </a:solidFill>
                <a:latin typeface="Arial"/>
                <a:ea typeface="微软雅黑"/>
                <a:cs typeface="微软雅黑"/>
              </a:rPr>
              <a:t>3 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559552"/>
            <a:ext cx="3703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E6464"/>
                </a:solidFill>
                <a:latin typeface="Arial"/>
                <a:ea typeface="微软雅黑"/>
                <a:cs typeface="微软雅黑"/>
              </a:rPr>
              <a:t>分值不加权，按组合判据推导档位；组合指向研究层，3–5 年窗口内跟踪推进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2231136"/>
            <a:ext cx="681228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6320" y="2231136"/>
            <a:ext cx="54864" cy="859536"/>
          </a:xfrm>
          <a:prstGeom prst="rect">
            <a:avLst/>
          </a:prstGeom>
          <a:solidFill>
            <a:srgbClr val="085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0912" y="2478024"/>
            <a:ext cx="365760" cy="365760"/>
          </a:xfrm>
          <a:prstGeom prst="ellipse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04688" y="2295144"/>
            <a:ext cx="6035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为什么值得跟踪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04688" y="2633472"/>
            <a:ext cx="6053328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对准长期算不清的账："因为银行的干预，客户多做了多少"。落脚点是算清真实增量，把损耗从事后追认变成事前测算。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3191256"/>
            <a:ext cx="681228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846320" y="3191256"/>
            <a:ext cx="54864" cy="859536"/>
          </a:xfrm>
          <a:prstGeom prst="rect">
            <a:avLst/>
          </a:prstGeom>
          <a:solidFill>
            <a:srgbClr val="085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010912" y="3438144"/>
            <a:ext cx="365760" cy="365760"/>
          </a:xfrm>
          <a:prstGeom prst="ellipse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04688" y="3255264"/>
            <a:ext cx="6035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增量在哪里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04688" y="3593592"/>
            <a:ext cx="6053328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不是数据更全，而是模型驱动的因果推演闭环；稀缺输入是干预事件数据，记录"做了什么、客户反应如何"；多数核心场景 T+1 即可。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0" y="4151376"/>
            <a:ext cx="681228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846320" y="4151376"/>
            <a:ext cx="54864" cy="859536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010912" y="4398264"/>
            <a:ext cx="365760" cy="365760"/>
          </a:xfrm>
          <a:prstGeom prst="ellipse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04688" y="4215384"/>
            <a:ext cx="6035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效益口径（坦白交代）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04688" y="4553712"/>
            <a:ext cx="6053328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流失率降 5%–25%、转化率升 10%–40%、回收期 18–48 个月：均为示意区间、非收益承诺，须 POC 实测复评；目前无独立公开效益数据。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46320" y="5111496"/>
            <a:ext cx="681228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46320" y="5111496"/>
            <a:ext cx="54864" cy="859536"/>
          </a:xfrm>
          <a:prstGeom prst="rect">
            <a:avLst/>
          </a:prstGeom>
          <a:solidFill>
            <a:srgbClr val="085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010912" y="5358383"/>
            <a:ext cx="365760" cy="365760"/>
          </a:xfrm>
          <a:prstGeom prst="ellipse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04688" y="5175504"/>
            <a:ext cx="6035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边界与风险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04688" y="5513832"/>
            <a:ext cx="6053328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"三块能做、三条不能碰"：风控类、群体级、辅助决策型可做；自动化决策、大数据杀熟、敏感个人信息训练生成式 AI 不可碰；前置管控均可行，不触发一票否决。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9235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客户智能三阶段演进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13264" y="310896"/>
            <a:ext cx="1536192" cy="402336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02 背景现状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50976"/>
            <a:ext cx="11094415" cy="0"/>
          </a:xfrm>
          <a:prstGeom prst="line">
            <a:avLst/>
          </a:prstGeom>
          <a:ln w="15240">
            <a:solidFill>
              <a:srgbClr val="C8DC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08956"/>
            <a:ext cx="6766560" cy="4714406"/>
          </a:xfrm>
          <a:prstGeom prst="rect">
            <a:avLst/>
          </a:prstGeom>
          <a:ln w="9525">
            <a:solidFill>
              <a:srgbClr val="C8DCFA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7635240" y="1188720"/>
            <a:ext cx="4005072" cy="2834640"/>
          </a:xfrm>
          <a:prstGeom prst="rect">
            <a:avLst/>
          </a:prstGeom>
          <a:solidFill>
            <a:srgbClr val="F2F6FC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18872" tIns="128016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关键跳跃：二阶段 → 三阶段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▪ 二阶段只能回答：</a:t>
            </a:r>
            <a:r>
              <a:rPr sz="120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客户会不会做 X？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▪ 算不出：</a:t>
            </a:r>
            <a:r>
              <a:rPr sz="120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因为干预，客户才多做了多少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▪ 三阶段补上因果推演：</a:t>
            </a:r>
            <a:r>
              <a:rPr sz="120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"若做 X 会怎样"变成可模拟、可优化</a:t>
            </a:r>
          </a:p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▪ 银行现状：</a:t>
            </a:r>
            <a:r>
              <a:rPr sz="120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描述性已普及、预测性已规模、推演性几乎空白——DToC 即补此空白。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635240" y="4169663"/>
            <a:ext cx="400507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18872" tIns="11887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行业现状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0850B4"/>
                </a:solidFill>
                <a:latin typeface="Arial"/>
                <a:ea typeface="微软雅黑"/>
                <a:cs typeface="微软雅黑"/>
              </a:rPr>
              <a:t>描述性：</a:t>
            </a: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已全面普及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0850B4"/>
                </a:solidFill>
                <a:latin typeface="Arial"/>
                <a:ea typeface="微软雅黑"/>
                <a:cs typeface="微软雅黑"/>
              </a:rPr>
              <a:t>预测性：</a:t>
            </a: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已规模应用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推演性：</a:t>
            </a:r>
            <a:r>
              <a:rPr sz="1250" b="1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几乎空白——DToC 所在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DToC 不是替代前两个阶段，而是在描述与预测之上叠加因果推演层。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9235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传统方式的四类失效机制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13264" y="310896"/>
            <a:ext cx="1536192" cy="402336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02 背景现状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50976"/>
            <a:ext cx="11094415" cy="0"/>
          </a:xfrm>
          <a:prstGeom prst="line">
            <a:avLst/>
          </a:prstGeom>
          <a:ln w="15240">
            <a:solidFill>
              <a:srgbClr val="C8DC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170432"/>
            <a:ext cx="5330952" cy="13167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64008" cy="1316736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1335024"/>
            <a:ext cx="384048" cy="384048"/>
          </a:xfrm>
          <a:prstGeom prst="ellipse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16736"/>
            <a:ext cx="4434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营销预算浪费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00784"/>
            <a:ext cx="4434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预算耗在"自然转化"与"被打扰反而流失"的客户身上；按响应概率选 Top N，①② 一起投、③ 识别不了。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70432"/>
            <a:ext cx="5330952" cy="13167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70432"/>
            <a:ext cx="64008" cy="1316736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10528" y="1335024"/>
            <a:ext cx="384048" cy="384048"/>
          </a:xfrm>
          <a:prstGeom prst="ellipse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316736"/>
            <a:ext cx="4434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人生事件预判失效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700784"/>
            <a:ext cx="4434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购房、生育、退休等人生事件是金融需求爆发点，传统画像基于历史分类，往往事后才获知。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70048"/>
            <a:ext cx="5330952" cy="13167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70048"/>
            <a:ext cx="64008" cy="1316736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2834640"/>
            <a:ext cx="384048" cy="384048"/>
          </a:xfrm>
          <a:prstGeom prst="ellipse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816352"/>
            <a:ext cx="4434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流失干预不精准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200400"/>
            <a:ext cx="4434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"会留/给优惠才留/留不住"混在一起统一发优惠，真正该干预的"给优惠才留"人群被淹没。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670048"/>
            <a:ext cx="5330952" cy="13167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670048"/>
            <a:ext cx="64008" cy="1316736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10528" y="2834640"/>
            <a:ext cx="384048" cy="384048"/>
          </a:xfrm>
          <a:prstGeom prst="ellipse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816352"/>
            <a:ext cx="4434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新品测试成本高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200400"/>
            <a:ext cx="4434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调研→试点周期漫长、代表性有限，发行失败形成沉没成本；推演能力可在虚拟环境中前置测算。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169663"/>
            <a:ext cx="11094415" cy="1783080"/>
          </a:xfrm>
          <a:prstGeom prst="rect">
            <a:avLst/>
          </a:prstGeom>
          <a:solidFill>
            <a:srgbClr val="F2F6FC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297680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Uplift 四类人群：</a:t>
            </a:r>
            <a:r>
              <a:rPr sz="135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传统模型按"响应概率"选人，四类全部认不出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681728"/>
            <a:ext cx="2587752" cy="896112"/>
          </a:xfrm>
          <a:prstGeom prst="rect">
            <a:avLst/>
          </a:prstGeom>
          <a:solidFill>
            <a:srgbClr val="E1EAF6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00" b="1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① 肯定买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优惠白给（浪费）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38144" y="4681728"/>
            <a:ext cx="2587752" cy="896112"/>
          </a:xfrm>
          <a:prstGeom prst="rect">
            <a:avLst/>
          </a:prstGeom>
          <a:solidFill>
            <a:srgbClr val="C8DCFA"/>
          </a:solidFill>
          <a:ln w="17780">
            <a:solidFill>
              <a:srgbClr val="085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00" b="1" i="0">
                <a:solidFill>
                  <a:srgbClr val="05377D"/>
                </a:solidFill>
                <a:latin typeface="Arial"/>
                <a:ea typeface="微软雅黑"/>
                <a:cs typeface="微软雅黑"/>
              </a:rPr>
              <a:t>② 给优惠才买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真正的增量人群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44768" y="4681728"/>
            <a:ext cx="2587752" cy="896112"/>
          </a:xfrm>
          <a:prstGeom prst="rect">
            <a:avLst/>
          </a:prstGeom>
          <a:solidFill>
            <a:srgbClr val="FBE3E3"/>
          </a:solidFill>
          <a:ln w="17780">
            <a:solidFill>
              <a:srgbClr val="E6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00" b="1" i="0">
                <a:solidFill>
                  <a:srgbClr val="AA051E"/>
                </a:solidFill>
                <a:latin typeface="Arial"/>
                <a:ea typeface="微软雅黑"/>
                <a:cs typeface="微软雅黑"/>
              </a:rPr>
              <a:t>③ 给优惠反而不买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反效果，应避开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51392" y="4681728"/>
            <a:ext cx="2587752" cy="896112"/>
          </a:xfrm>
          <a:prstGeom prst="rect">
            <a:avLst/>
          </a:prstGeom>
          <a:solidFill>
            <a:srgbClr val="E1EAF6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00" b="1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④ 怎么都不买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怎么投都不响应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669280"/>
            <a:ext cx="10607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6464"/>
                </a:solidFill>
                <a:latin typeface="Arial"/>
                <a:ea typeface="微软雅黑"/>
                <a:cs typeface="微软雅黑"/>
              </a:rPr>
              <a:t>示意口径：每千次投放增量留存 35 → 58 人（+66%），演示量级用，非收益承诺。Uplift 价值即识别第②类人、避开第③类人。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9235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客户画像六类痛点 = DToC 的针对对象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13264" y="310896"/>
            <a:ext cx="1536192" cy="402336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02 背景现状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50976"/>
            <a:ext cx="11094415" cy="0"/>
          </a:xfrm>
          <a:prstGeom prst="line">
            <a:avLst/>
          </a:prstGeom>
          <a:ln w="15240">
            <a:solidFill>
              <a:srgbClr val="C8DC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70432"/>
          <a:ext cx="11155680" cy="3858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/>
                <a:gridCol w="6400800"/>
              </a:tblGrid>
              <a:tr h="457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痛点</a:t>
                      </a:r>
                    </a:p>
                  </a:txBody>
                  <a:tcPr anchor="ctr" marL="91440" marR="73152" marT="27432" marB="27432">
                    <a:solidFill>
                      <a:srgbClr val="0A19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对 DToC 能力的要求</a:t>
                      </a:r>
                    </a:p>
                  </a:txBody>
                  <a:tcPr anchor="ctr" marL="91440" marR="73152" marT="27432" marB="27432">
                    <a:solidFill>
                      <a:srgbClr val="0A195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① 标签庞杂、使用率低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先做标签治理，精简高频核心标签集，建立标签质量与使用追踪机制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② 模型分散、重复建设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统一建模引擎与特征仓库，避免各部门重复造轮子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③ 只会预测、不会归因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补齐干预事件数据＋Uplift 建模，回答因干预带来的真实增量（核心增量）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④ 决策靠经验、产品靠试错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引入 What-if 场景推演，把产品发行从经验试错变成事前测算（核心增量）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⑤ 数据与决策两张皮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统一决策服务层＋闭环反馈，让模型输出真正进入业务执行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⑥ 合规靠人工、不透明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自动化脱敏＋数据血缘追踪＋分级授权，满足可解释与可审计要求（共性要求）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029200"/>
            <a:ext cx="11094415" cy="1005840"/>
          </a:xfrm>
          <a:prstGeom prst="rect">
            <a:avLst/>
          </a:prstGeom>
          <a:solidFill>
            <a:srgbClr val="F2F6FC"/>
          </a:solidFill>
          <a:ln w="12700">
            <a:solidFill>
              <a:srgbClr val="085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/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关键判断：</a:t>
            </a:r>
            <a:r>
              <a:rPr sz="130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①② 是基础能力短板，即使不做 DToC 也应补齐；③–⑤ 才是 DToC 核心增量；⑥ 为共性要求。DToC 不是另起炉灶，而是在解决痛点中逐步积累通往远景的能力。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9235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DToC 是什么：动态镜像＋推演闭环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13264" y="310896"/>
            <a:ext cx="1536192" cy="402336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03 技术解析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50976"/>
            <a:ext cx="11094415" cy="0"/>
          </a:xfrm>
          <a:prstGeom prst="line">
            <a:avLst/>
          </a:prstGeom>
          <a:ln w="15240">
            <a:solidFill>
              <a:srgbClr val="C8DC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152144"/>
            <a:ext cx="5349240" cy="1481328"/>
          </a:xfrm>
          <a:prstGeom prst="rect">
            <a:avLst/>
          </a:prstGeom>
          <a:solidFill>
            <a:srgbClr val="F2F6FC"/>
          </a:solidFill>
          <a:ln w="12700">
            <a:solidFill>
              <a:srgbClr val="085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定义</a:t>
            </a:r>
          </a:p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用 AI/ML、行为建模与因果推断，为客户建立持续同步的动态虚拟镜像，用于行为模拟、趋势预测与情景推演。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79776"/>
            <a:ext cx="5349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与相近概念的关系（不能划等号）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163824"/>
            <a:ext cx="1417320" cy="402336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CDP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21408" y="3200400"/>
            <a:ext cx="374903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是它的数据基础，提供统一客户视图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57600"/>
            <a:ext cx="1417320" cy="402336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静态画像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3694176"/>
            <a:ext cx="374903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只是输入之一，不能模拟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151376"/>
            <a:ext cx="1417320" cy="402336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客户分群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4187952"/>
            <a:ext cx="374903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只是建模粒度，不到个体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645152"/>
            <a:ext cx="1417320" cy="402336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推荐系统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1408" y="4681728"/>
            <a:ext cx="374903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只是输出形式之一，不做反事实推演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38928"/>
            <a:ext cx="1417320" cy="402336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合成客户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5175504"/>
            <a:ext cx="374903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方向相反：用模型生成假客户而非镜像真客户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152144"/>
            <a:ext cx="53766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推演闭环：缺了这层就只是"高级 CDP"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554480"/>
            <a:ext cx="537667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085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正向　</a:t>
            </a:r>
            <a:r>
              <a:rPr sz="130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客户行为 → 更新镜像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766559" y="2048256"/>
            <a:ext cx="201168" cy="137160"/>
          </a:xfrm>
          <a:prstGeom prst="downArrow">
            <a:avLst/>
          </a:prstGeom>
          <a:solidFill>
            <a:srgbClr val="78A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185415"/>
            <a:ext cx="537667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085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反向　</a:t>
            </a:r>
            <a:r>
              <a:rPr sz="130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因果模型模拟反应 → 指导决策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6766559" y="2679191"/>
            <a:ext cx="201168" cy="137160"/>
          </a:xfrm>
          <a:prstGeom prst="downArrow">
            <a:avLst/>
          </a:prstGeom>
          <a:solidFill>
            <a:srgbClr val="78A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816351"/>
            <a:ext cx="537667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085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反馈　</a:t>
            </a:r>
            <a:r>
              <a:rPr sz="130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执行结果 → 回流校准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474720"/>
            <a:ext cx="2606040" cy="1133856"/>
          </a:xfrm>
          <a:prstGeom prst="rect">
            <a:avLst/>
          </a:prstGeom>
          <a:solidFill>
            <a:srgbClr val="F2F6FC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tIns="91440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CDP：规则闭环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"满足 X 就推 Y"，能激活但答不了"若做 X 会怎样"；回流是规则驱动，不是模型驱动。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3474720"/>
            <a:ext cx="2633472" cy="1133856"/>
          </a:xfrm>
          <a:prstGeom prst="rect">
            <a:avLst/>
          </a:prstGeom>
          <a:solidFill>
            <a:srgbClr val="FDF0F0"/>
          </a:solidFill>
          <a:ln w="12700">
            <a:solidFill>
              <a:srgbClr val="E6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tIns="91440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DToC：模型闭环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7A1F1F"/>
                </a:solidFill>
                <a:latin typeface="Arial"/>
                <a:ea typeface="微软雅黑"/>
                <a:cs typeface="微软雅黑"/>
              </a:rPr>
              <a:t>算出各路径增量与成本，回答"做什么最值得"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754880"/>
            <a:ext cx="537667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91440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类比（导航）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预测：</a:t>
            </a:r>
            <a:r>
              <a:rPr sz="120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"前方 1 公里拥堵。"</a:t>
            </a:r>
          </a:p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推演：</a:t>
            </a:r>
            <a:r>
              <a:rPr sz="120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"A 线 25 分钟·10 元；B 线 30 分钟·5 元，建议 A。"缺了这层就只是高级 CDP。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9235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两个关键澄清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13264" y="310896"/>
            <a:ext cx="1536192" cy="402336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03 技术解析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50976"/>
            <a:ext cx="11094415" cy="0"/>
          </a:xfrm>
          <a:prstGeom prst="line">
            <a:avLst/>
          </a:prstGeom>
          <a:ln w="15240">
            <a:solidFill>
              <a:srgbClr val="C8DC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152144"/>
            <a:ext cx="534924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52144"/>
            <a:ext cx="5349240" cy="475488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216152"/>
            <a:ext cx="5029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"动态"不等于"实时"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810512"/>
          <a:ext cx="4983480" cy="20299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/>
                <a:gridCol w="2697480"/>
                <a:gridCol w="105156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数据频率</a:t>
                      </a:r>
                    </a:p>
                  </a:txBody>
                  <a:tcPr anchor="ctr" marL="91440" marR="73152" marT="27432" marB="27432">
                    <a:solidFill>
                      <a:srgbClr val="0A19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可支持场景</a:t>
                      </a:r>
                    </a:p>
                  </a:txBody>
                  <a:tcPr anchor="ctr" marL="91440" marR="73152" marT="27432" marB="27432">
                    <a:solidFill>
                      <a:srgbClr val="0A19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占比</a:t>
                      </a:r>
                    </a:p>
                  </a:txBody>
                  <a:tcPr anchor="ctr" marL="91440" marR="73152" marT="27432" marB="27432">
                    <a:solidFill>
                      <a:srgbClr val="0A195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T+1 日级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流失干预/新品/预算/旅程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80%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准实时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＋实时触点优化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95%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实时秒级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＋实时推荐（非 DToC 价值）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100%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4261104"/>
            <a:ext cx="50292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0850B4"/>
                </a:solidFill>
                <a:latin typeface="Arial"/>
                <a:ea typeface="微软雅黑"/>
                <a:cs typeface="微软雅黑"/>
              </a:rPr>
              <a:t>结论：</a:t>
            </a:r>
            <a:r>
              <a:rPr sz="130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多数核心场景 T+1 即可，实时并非必要前提；"实时推荐"更接近实时营销系统，不是 DToC 主价值。</a:t>
            </a:r>
          </a:p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若启动建设：</a:t>
            </a:r>
            <a:r>
              <a:rPr sz="130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先补干预事件数据与因果推断；历史上若无随机对照组，POC 首月须做小规模 holdout 实验。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152144"/>
            <a:ext cx="5376672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152144"/>
            <a:ext cx="5376672" cy="475488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216152"/>
            <a:ext cx="5029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必要条件与核心难题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28232" y="1810512"/>
            <a:ext cx="5029200" cy="1316736"/>
          </a:xfrm>
          <a:prstGeom prst="rect">
            <a:avLst/>
          </a:prstGeom>
          <a:solidFill>
            <a:srgbClr val="F2F6FC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91440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干预事件数据（必要条件）</a:t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记录"做了什么干预、何时、何渠道、什么内容、客户反应如何"的数据就是干预事件数据，是 Uplift 等因果推断模型的训练基础。多数银行尚未系统化记录。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28232" y="3255264"/>
            <a:ext cx="5029200" cy="1371600"/>
          </a:xfrm>
          <a:prstGeom prst="rect">
            <a:avLst/>
          </a:prstGeom>
          <a:solidFill>
            <a:srgbClr val="FDF0F0"/>
          </a:solidFill>
          <a:ln w="9525">
            <a:solidFill>
              <a:srgbClr val="E3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91440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1" i="0">
                <a:solidFill>
                  <a:srgbClr val="AA051E"/>
                </a:solidFill>
                <a:latin typeface="Arial"/>
                <a:ea typeface="微软雅黑"/>
                <a:cs typeface="微软雅黑"/>
              </a:rPr>
              <a:t>选择偏差（核心难题）</a:t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B2C2C"/>
                </a:solidFill>
                <a:latin typeface="Arial"/>
                <a:ea typeface="微软雅黑"/>
                <a:cs typeface="微软雅黑"/>
              </a:rPr>
              <a:t>直接比较"打/没打过电话"客户：打过的通常是资产高、关系好的客户，两组本就不可比，直接比会高估效果。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28232" y="4754880"/>
            <a:ext cx="5029200" cy="1060704"/>
          </a:xfrm>
          <a:prstGeom prst="rect">
            <a:avLst/>
          </a:prstGeom>
          <a:solidFill>
            <a:srgbClr val="F2F6FC"/>
          </a:solidFill>
          <a:ln w="9525">
            <a:solidFill>
              <a:srgbClr val="085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91440"/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0850B4"/>
                </a:solidFill>
                <a:latin typeface="Arial"/>
                <a:ea typeface="微软雅黑"/>
                <a:cs typeface="微软雅黑"/>
              </a:rPr>
              <a:t>解法：</a:t>
            </a:r>
            <a:r>
              <a:rPr sz="11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用 Uplift 等因果推断剔除偏差；若历史投放无对照组，POC 首月先做小规模随机对照实验。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9235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参考架构：孪生引擎层是真增量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13264" y="310896"/>
            <a:ext cx="1536192" cy="402336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03 技术解析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50976"/>
            <a:ext cx="11094415" cy="0"/>
          </a:xfrm>
          <a:prstGeom prst="line">
            <a:avLst/>
          </a:prstGeom>
          <a:ln w="15240">
            <a:solidFill>
              <a:srgbClr val="C8DC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352" y="1152144"/>
            <a:ext cx="5825374" cy="4846320"/>
          </a:xfrm>
          <a:prstGeom prst="rect">
            <a:avLst/>
          </a:prstGeom>
          <a:ln w="9525">
            <a:solidFill>
              <a:srgbClr val="C8DCFA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7223760" y="1152144"/>
            <a:ext cx="4425696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第一层｜数据采集与统一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多源采集、流处理、CDP/数据湖、身份解析；对应数据底座能力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2157984"/>
            <a:ext cx="4425696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第二层｜身份与建模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统一标识与伪匿名化、特征仓库、ML 模型群、图计算；对应行为建模能力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3163824"/>
            <a:ext cx="4425696" cy="877824"/>
          </a:xfrm>
          <a:prstGeom prst="rect">
            <a:avLst/>
          </a:prstGeom>
          <a:solidFill>
            <a:srgbClr val="FDF0F0"/>
          </a:solidFill>
          <a:ln w="15240">
            <a:solidFill>
              <a:srgbClr val="E6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第三层｜孪生引擎（核心增量）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动态行为镜像、What-if 情景模拟、基线与异常检测；对应场景推演能力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4169664"/>
            <a:ext cx="4425696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第四层｜应用与决策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个性化营销、流失干预、欺诈检测、智能客服、新产品模拟；对应决策集成能力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5193792"/>
            <a:ext cx="4425696" cy="841248"/>
          </a:xfrm>
          <a:prstGeom prst="rect">
            <a:avLst/>
          </a:prstGeom>
          <a:solidFill>
            <a:srgbClr val="F2F6FC"/>
          </a:solidFill>
          <a:ln w="9525">
            <a:solidFill>
              <a:srgbClr val="085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91440"/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贯穿：</a:t>
            </a:r>
            <a:r>
              <a:rPr sz="11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合规与可解释性贯穿四层；前四层依次对应数据底座/行为建模/场景推演/决策集成，第五路为横切保障。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35040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6464"/>
                </a:solidFill>
                <a:latin typeface="Arial"/>
                <a:ea typeface="微软雅黑"/>
                <a:cs typeface="微软雅黑"/>
              </a:rPr>
              <a:t>注：基于行业实践与 Gartner 定义归纳，非强制标准（报告图 2）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9235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Gartner 定位：创新触发期，成熟度 2 分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13264" y="310896"/>
            <a:ext cx="1536192" cy="402336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03 技术解析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50976"/>
            <a:ext cx="11094415" cy="0"/>
          </a:xfrm>
          <a:prstGeom prst="line">
            <a:avLst/>
          </a:prstGeom>
          <a:ln w="15240">
            <a:solidFill>
              <a:srgbClr val="C8DC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400" y="1783080"/>
            <a:ext cx="10332720" cy="0"/>
          </a:xfrm>
          <a:prstGeom prst="line">
            <a:avLst/>
          </a:prstGeom>
          <a:ln w="19050">
            <a:solidFill>
              <a:srgbClr val="C8DC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331720" y="1719072"/>
            <a:ext cx="128016" cy="128016"/>
          </a:xfrm>
          <a:prstGeom prst="ellipse">
            <a:avLst/>
          </a:prstGeom>
          <a:solidFill>
            <a:srgbClr val="085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1179576"/>
            <a:ext cx="2377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0850B4"/>
                </a:solidFill>
                <a:latin typeface="Arial"/>
                <a:ea typeface="微软雅黑"/>
                <a:cs typeface="微软雅黑"/>
              </a:rPr>
              <a:t>2002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2002536"/>
            <a:ext cx="2377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850B4"/>
                </a:solidFill>
                <a:latin typeface="Arial"/>
                <a:ea typeface="微软雅黑"/>
                <a:cs typeface="微软雅黑"/>
              </a:rPr>
              <a:t>概念起源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350008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Grieves 提出数字孪生（制造业）</a:t>
            </a:r>
          </a:p>
        </p:txBody>
      </p:sp>
      <p:sp>
        <p:nvSpPr>
          <p:cNvPr id="10" name="Oval 9"/>
          <p:cNvSpPr/>
          <p:nvPr/>
        </p:nvSpPr>
        <p:spPr>
          <a:xfrm>
            <a:off x="4791456" y="1719072"/>
            <a:ext cx="128016" cy="128016"/>
          </a:xfrm>
          <a:prstGeom prst="ellipse">
            <a:avLst/>
          </a:prstGeom>
          <a:solidFill>
            <a:srgbClr val="085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1179576"/>
            <a:ext cx="2377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0850B4"/>
                </a:solidFill>
                <a:latin typeface="Arial"/>
                <a:ea typeface="微软雅黑"/>
                <a:cs typeface="微软雅黑"/>
              </a:rPr>
              <a:t>2010s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6744" y="2002536"/>
            <a:ext cx="2377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850B4"/>
                </a:solidFill>
                <a:latin typeface="Arial"/>
                <a:ea typeface="微软雅黑"/>
                <a:cs typeface="微软雅黑"/>
              </a:rPr>
              <a:t>领域扩展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2350008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城市/医疗/金融等复杂系统</a:t>
            </a:r>
          </a:p>
        </p:txBody>
      </p:sp>
      <p:sp>
        <p:nvSpPr>
          <p:cNvPr id="14" name="Oval 13"/>
          <p:cNvSpPr/>
          <p:nvPr/>
        </p:nvSpPr>
        <p:spPr>
          <a:xfrm>
            <a:off x="7251192" y="1719072"/>
            <a:ext cx="128016" cy="128016"/>
          </a:xfrm>
          <a:prstGeom prst="ellipse">
            <a:avLst/>
          </a:prstGeom>
          <a:solidFill>
            <a:srgbClr val="085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179576"/>
            <a:ext cx="2377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0850B4"/>
                </a:solidFill>
                <a:latin typeface="Arial"/>
                <a:ea typeface="微软雅黑"/>
                <a:cs typeface="微软雅黑"/>
              </a:rPr>
              <a:t>2020 前后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002536"/>
            <a:ext cx="2377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850B4"/>
                </a:solidFill>
                <a:latin typeface="Arial"/>
                <a:ea typeface="微软雅黑"/>
                <a:cs typeface="微软雅黑"/>
              </a:rPr>
              <a:t>客户域提出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350008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对象从"物"转向"人"</a:t>
            </a:r>
          </a:p>
        </p:txBody>
      </p:sp>
      <p:sp>
        <p:nvSpPr>
          <p:cNvPr id="18" name="Oval 17"/>
          <p:cNvSpPr/>
          <p:nvPr/>
        </p:nvSpPr>
        <p:spPr>
          <a:xfrm>
            <a:off x="9683496" y="1691639"/>
            <a:ext cx="182880" cy="182880"/>
          </a:xfrm>
          <a:prstGeom prst="ellipse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86216" y="1179576"/>
            <a:ext cx="2377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2025.10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86216" y="2002536"/>
            <a:ext cx="2377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权威定位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86216" y="2350008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Gartner：创新触发期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01568"/>
            <a:ext cx="53492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585216"/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信号不一致：</a:t>
            </a: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Gartner "创新触发期"对应撰写规范 1 分档；TRL 3–4 级、已有个别实验性验证对应 2 分档。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审慎取 2 分：</a:t>
            </a: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若就低评 1 分亦不改变研究层结论。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产品形态：</a:t>
            </a: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尚无成熟商用产品，多为定制化方案；预计 5–10 年进入生产成熟期。</a:t>
            </a:r>
          </a:p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相邻概念：</a:t>
            </a: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联合利华/可口可乐＝产品孪生；Sprinklr＝品牌代理；Accenture＝系统仿真——均非 DToC。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401568"/>
            <a:ext cx="5349240" cy="475488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465576"/>
            <a:ext cx="5029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成熟度评级：2 分（审慎口径）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401568"/>
            <a:ext cx="5376672" cy="2606040"/>
          </a:xfrm>
          <a:prstGeom prst="rect">
            <a:avLst/>
          </a:prstGeom>
          <a:solidFill>
            <a:srgbClr val="F2F6FC"/>
          </a:solidFill>
          <a:ln w="9525">
            <a:solidFill>
              <a:srgbClr val="085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5852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▪ 销售技术曲线：</a:t>
            </a: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创新触发期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▪ CRM 曲线：</a:t>
            </a: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"On the Rise"，渗透率 1%–5%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▪ 影响预期：</a:t>
            </a: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5–10 年变革性影响</a:t>
            </a:r>
          </a:p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AA051E"/>
                </a:solidFill>
                <a:latin typeface="Arial"/>
                <a:ea typeface="微软雅黑"/>
                <a:cs typeface="微软雅黑"/>
              </a:rPr>
              <a:t>边界：</a:t>
            </a:r>
            <a:r>
              <a:rPr sz="1250" b="0" i="0">
                <a:solidFill>
                  <a:srgbClr val="6B2C2C"/>
                </a:solidFill>
                <a:latin typeface="Arial"/>
                <a:ea typeface="微软雅黑"/>
                <a:cs typeface="微软雅黑"/>
              </a:rPr>
              <a:t>严格意义上的个体级客户行为镜像＋场景模拟＋实时决策的完整 DToC 体系，在银行业仍处于探索阶段。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401568"/>
            <a:ext cx="5376672" cy="475488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2" y="3465576"/>
            <a:ext cx="5029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Gartner 口径与概念边界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9235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五大场景，约 4/5 用 T+1 即可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13264" y="310896"/>
            <a:ext cx="1536192" cy="402336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04 场景价值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50976"/>
            <a:ext cx="11094415" cy="0"/>
          </a:xfrm>
          <a:prstGeom prst="line">
            <a:avLst/>
          </a:prstGeom>
          <a:ln w="15240">
            <a:solidFill>
              <a:srgbClr val="C8DC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152144"/>
            <a:ext cx="3593592" cy="1133856"/>
          </a:xfrm>
          <a:prstGeom prst="rect">
            <a:avLst/>
          </a:prstGeom>
          <a:solidFill>
            <a:srgbClr val="F2F6FC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tIns="82296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减少两类浪费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预算不再覆盖"自然转化"与"被打扰反而流失"人群；新品发行从经验试错变事前测算，降低沉没成本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1152144"/>
            <a:ext cx="3593592" cy="1133856"/>
          </a:xfrm>
          <a:prstGeom prst="rect">
            <a:avLst/>
          </a:prstGeom>
          <a:solidFill>
            <a:srgbClr val="F2F6FC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tIns="82296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聚焦真实增量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干预只投"因干预才变"的人群、渠道和时机，边际收益可计量、可优化、年年复用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152144"/>
            <a:ext cx="3593592" cy="1133856"/>
          </a:xfrm>
          <a:prstGeom prst="rect">
            <a:avLst/>
          </a:prstGeom>
          <a:solidFill>
            <a:srgbClr val="F2F6FC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tIns="82296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沉淀数据资产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干预事件数据记录"银行做了什么、客户如何反应"，外部买不到，越积累越准，形成组织自有资产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542032"/>
          <a:ext cx="11155680" cy="29077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/>
                <a:gridCol w="1371600"/>
                <a:gridCol w="1188720"/>
                <a:gridCol w="4023360"/>
              </a:tblGrid>
              <a:tr h="4389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场景</a:t>
                      </a:r>
                    </a:p>
                  </a:txBody>
                  <a:tcPr anchor="ctr" marL="91440" marR="73152" marT="27432" marB="27432">
                    <a:solidFill>
                      <a:srgbClr val="0A19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频率</a:t>
                      </a:r>
                    </a:p>
                  </a:txBody>
                  <a:tcPr anchor="ctr" marL="91440" marR="73152" marT="27432" marB="27432">
                    <a:solidFill>
                      <a:srgbClr val="0A19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POC</a:t>
                      </a:r>
                    </a:p>
                  </a:txBody>
                  <a:tcPr anchor="ctr" marL="91440" marR="73152" marT="27432" marB="27432">
                    <a:solidFill>
                      <a:srgbClr val="0A19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核心价值</a:t>
                      </a:r>
                    </a:p>
                  </a:txBody>
                  <a:tcPr anchor="ctr" marL="91440" marR="73152" marT="27432" marB="27432">
                    <a:solidFill>
                      <a:srgbClr val="0A1950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1. 理财到期续投干预 ★核心域</a:t>
                      </a:r>
                    </a:p>
                  </a:txBody>
                  <a:tcPr anchor="ctr" marL="91440" marR="73152" marT="27432" marB="27432">
                    <a:solidFill>
                      <a:srgbClr val="C8DC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T+1</a:t>
                      </a:r>
                    </a:p>
                  </a:txBody>
                  <a:tcPr anchor="ctr" marL="91440" marR="73152" marT="27432" marB="27432">
                    <a:solidFill>
                      <a:srgbClr val="C8DC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首选</a:t>
                      </a:r>
                    </a:p>
                  </a:txBody>
                  <a:tcPr anchor="ctr" marL="91440" marR="73152" marT="27432" marB="27432">
                    <a:solidFill>
                      <a:srgbClr val="C8DC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增量续投金额，业务价值明确、最易验证</a:t>
                      </a:r>
                    </a:p>
                  </a:txBody>
                  <a:tcPr anchor="ctr" marL="91440" marR="73152" marT="27432" marB="27432">
                    <a:solidFill>
                      <a:srgbClr val="C8DCFA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2. 新品发行前模拟 ｟扩展域｠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T+1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第二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避免失败、算清增量资金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3. 营销预算分配优化 ★核心域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T+1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第二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同样预算带来增量 AUM 提升与费效比优化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4. 客户旅程优化 ★核心域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T+1 为主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第三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转化升＋投诉降；实时触发部分为准实时增强能力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5. 产品设计需求模拟 ｟扩展域｠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T+1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后续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减少同质化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486400"/>
            <a:ext cx="11094415" cy="566928"/>
          </a:xfrm>
          <a:prstGeom prst="rect">
            <a:avLst/>
          </a:prstGeom>
          <a:solidFill>
            <a:srgbClr val="F2F6FC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说明：</a:t>
            </a:r>
            <a:r>
              <a:rPr sz="11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场景数字均为示意性测算、非收益承诺，实测以 POC 为准；场景 1/3/4 为核心域，2/5 为扩展域。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9235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POC 首选：理财续投干预推演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13264" y="310896"/>
            <a:ext cx="1536192" cy="402336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04 场景价值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50976"/>
            <a:ext cx="11094415" cy="0"/>
          </a:xfrm>
          <a:prstGeom prst="line">
            <a:avLst/>
          </a:prstGeom>
          <a:ln w="15240">
            <a:solidFill>
              <a:srgbClr val="C8DC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170432"/>
            <a:ext cx="5303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085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6656" y="1408176"/>
            <a:ext cx="365760" cy="365760"/>
          </a:xfrm>
          <a:prstGeom prst="ellipse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1243584"/>
            <a:ext cx="4526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到期名单生成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572768"/>
            <a:ext cx="4553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T+1 特征（年龄/资产/风险等级/历史续投/APP 行为）＋历史干预数据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66543"/>
            <a:ext cx="530352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6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6656" y="2304287"/>
            <a:ext cx="365760" cy="365760"/>
          </a:xfrm>
          <a:prstGeom prst="ellipse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139696"/>
            <a:ext cx="4526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推演引擎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468879"/>
            <a:ext cx="4553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模拟 4 种干预的增量效果，替代"统一发短信"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62656"/>
            <a:ext cx="5303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085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6656" y="3200400"/>
            <a:ext cx="365760" cy="365760"/>
          </a:xfrm>
          <a:prstGeom prst="ellipse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3035808"/>
            <a:ext cx="4526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客户经理复核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3364991"/>
            <a:ext cx="4553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辅助人工决策，优惠差异化只在"给谁"上做、不在"给多少"上做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58768"/>
            <a:ext cx="5303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085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6656" y="4096511"/>
            <a:ext cx="365760" cy="365760"/>
          </a:xfrm>
          <a:prstGeom prst="ellipse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3931920"/>
            <a:ext cx="4526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执行 → 回流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4261104"/>
            <a:ext cx="4553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效果回流校准模型；统一券面、控制外呼频次、拒绝后不再触达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73167"/>
            <a:ext cx="5303520" cy="603504"/>
          </a:xfrm>
          <a:prstGeom prst="rect">
            <a:avLst/>
          </a:prstGeom>
          <a:solidFill>
            <a:srgbClr val="F2F6FC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/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核心 KPI：</a:t>
            </a:r>
            <a:r>
              <a:rPr sz="11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增量续投金额（非总续投率）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170432"/>
            <a:ext cx="5440680" cy="3310128"/>
          </a:xfrm>
          <a:prstGeom prst="rect">
            <a:avLst/>
          </a:prstGeom>
          <a:solidFill>
            <a:srgbClr val="F2F6FC"/>
          </a:solidFill>
          <a:ln w="9525">
            <a:solidFill>
              <a:srgbClr val="085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1280160"/>
            <a:ext cx="5120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示意测算（非实测、非承诺）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82512" y="1682496"/>
            <a:ext cx="960120" cy="384048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盘子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1504" y="1709928"/>
            <a:ext cx="4069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10 万客户到期、总额 30 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82512" y="2249424"/>
            <a:ext cx="960120" cy="384048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传统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2276856"/>
            <a:ext cx="4069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全发短信：总续投 55%＝16.5 亿，增量仅 2.1 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82512" y="2816352"/>
            <a:ext cx="960120" cy="384048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优化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1504" y="2843784"/>
            <a:ext cx="4069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Uplift 识别 2.5 万"给干预才续投"客户；对 1.5 万人打电话、1 万人发短信＋券、其余不干预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82512" y="3383280"/>
            <a:ext cx="960120" cy="384048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结果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1504" y="3410712"/>
            <a:ext cx="4069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总续投 58%＝17.4 亿，增量 3.0 亿；其中需剔除"存量搬家"资金，避免虚增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82512" y="3931920"/>
            <a:ext cx="5102352" cy="420624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增量 +0.9 亿（+43%）　｜　成本 57.7 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626864"/>
            <a:ext cx="54406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91440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 i="0">
                <a:solidFill>
                  <a:srgbClr val="1E7A1E"/>
                </a:solidFill>
                <a:latin typeface="Arial"/>
                <a:ea typeface="微软雅黑"/>
                <a:cs typeface="微软雅黑"/>
              </a:rPr>
              <a:t>成功：</a:t>
            </a:r>
            <a:r>
              <a:rPr sz="120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A/B 增量 ≥20%　</a:t>
            </a:r>
            <a:r>
              <a:rPr sz="1200" b="1" i="0">
                <a:solidFill>
                  <a:srgbClr val="B8860B"/>
                </a:solidFill>
                <a:latin typeface="Arial"/>
                <a:ea typeface="微软雅黑"/>
                <a:cs typeface="微软雅黑"/>
              </a:rPr>
              <a:t>复验：</a:t>
            </a:r>
            <a:r>
              <a:rPr sz="120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10%–20%　</a:t>
            </a:r>
            <a:r>
              <a:rPr sz="12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止损：</a:t>
            </a:r>
            <a:r>
              <a:rPr sz="120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&lt;10% 或偏差 &gt;40%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即使不通过，也沉淀干预数据采集规范、标签体系与 Uplift 建模能力——不白费；核心组件建议自研，通用设施复用开源与行内能力。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632704"/>
            <a:ext cx="5440680" cy="457200"/>
          </a:xfrm>
          <a:prstGeom prst="rect">
            <a:avLst/>
          </a:prstGeom>
          <a:solidFill>
            <a:srgbClr val="FDF0F0"/>
          </a:solidFill>
          <a:ln w="9525">
            <a:solidFill>
              <a:srgbClr val="E3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合规：</a:t>
            </a:r>
            <a:r>
              <a:rPr sz="1100" b="0" i="0">
                <a:solidFill>
                  <a:srgbClr val="6B2C2C"/>
                </a:solidFill>
                <a:latin typeface="Arial"/>
                <a:ea typeface="微软雅黑"/>
                <a:cs typeface="微软雅黑"/>
              </a:rPr>
              <a:t>统一券面，只差异"给不给"；拒绝后不再触达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9235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效益区间（示意）与依据成色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13264" y="310896"/>
            <a:ext cx="1536192" cy="402336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04 场景价值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50976"/>
            <a:ext cx="11094415" cy="0"/>
          </a:xfrm>
          <a:prstGeom prst="line">
            <a:avLst/>
          </a:prstGeom>
          <a:ln w="15240">
            <a:solidFill>
              <a:srgbClr val="C8DC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6766560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097280"/>
                <a:gridCol w="1097280"/>
                <a:gridCol w="1097280"/>
                <a:gridCol w="1188720"/>
              </a:tblGrid>
              <a:tr h="4389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效益维度</a:t>
                      </a:r>
                    </a:p>
                  </a:txBody>
                  <a:tcPr anchor="ctr" marL="91440" marR="73152" marT="27432" marB="27432">
                    <a:solidFill>
                      <a:srgbClr val="0A19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保守</a:t>
                      </a:r>
                    </a:p>
                  </a:txBody>
                  <a:tcPr anchor="ctr" marL="91440" marR="73152" marT="27432" marB="27432">
                    <a:solidFill>
                      <a:srgbClr val="0A19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中性</a:t>
                      </a:r>
                    </a:p>
                  </a:txBody>
                  <a:tcPr anchor="ctr" marL="91440" marR="73152" marT="27432" marB="27432">
                    <a:solidFill>
                      <a:srgbClr val="0A19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乐观</a:t>
                      </a:r>
                    </a:p>
                  </a:txBody>
                  <a:tcPr anchor="ctr" marL="91440" marR="73152" marT="27432" marB="27432">
                    <a:solidFill>
                      <a:srgbClr val="0A19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依据</a:t>
                      </a:r>
                    </a:p>
                  </a:txBody>
                  <a:tcPr anchor="ctr" marL="91440" marR="73152" marT="27432" marB="27432">
                    <a:solidFill>
                      <a:srgbClr val="0A1950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客户流失率降低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5%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15%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25%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行业经验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营销转化率提升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10%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25%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40%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厂商口径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欺诈误报率降低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20%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40%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60%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理论推算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新品上市周期缩短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15%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30%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50%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理论推算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客户满意度提升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5%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15%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25%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厂商口径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投资回收期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36–48月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24–36月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18–24月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参考估算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700016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6464"/>
                </a:solidFill>
                <a:latin typeface="Arial"/>
                <a:ea typeface="微软雅黑"/>
                <a:cs typeface="微软雅黑"/>
              </a:rPr>
              <a:t>注：参考估算、非实测；流失率与回收期两行无公开来源支撑，不确定性最高。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452360" y="1188720"/>
            <a:ext cx="4206240" cy="2331720"/>
          </a:xfrm>
          <a:prstGeom prst="rect">
            <a:avLst/>
          </a:prstGeom>
          <a:solidFill>
            <a:srgbClr val="FDF0F0"/>
          </a:solidFill>
          <a:ln w="15240">
            <a:solidFill>
              <a:srgbClr val="E6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18872" tIns="109728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依据成色（先讲清）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6B4220"/>
                </a:solidFill>
                <a:latin typeface="Arial"/>
                <a:ea typeface="微软雅黑"/>
                <a:cs typeface="微软雅黑"/>
              </a:rPr>
              <a:t>▪ 尚无独立公开效益数据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6B4220"/>
                </a:solidFill>
                <a:latin typeface="Arial"/>
                <a:ea typeface="微软雅黑"/>
                <a:cs typeface="微软雅黑"/>
              </a:rPr>
              <a:t>▪ 数字来自厂商口径（LatentView/Delve AI/Genesys）＋通用基准（McKinsey）＋理论推算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6B4220"/>
                </a:solidFill>
                <a:latin typeface="Arial"/>
                <a:ea typeface="微软雅黑"/>
                <a:cs typeface="微软雅黑"/>
              </a:rPr>
              <a:t>▪ 同业案例只能证明推演能力可落地，未披露本表具体百分比</a:t>
            </a:r>
          </a:p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AA051E"/>
                </a:solidFill>
                <a:latin typeface="Arial"/>
                <a:ea typeface="微软雅黑"/>
                <a:cs typeface="微软雅黑"/>
              </a:rPr>
              <a:t>示意区间、非收益承诺，须 POC 复评</a:t>
            </a:r>
          </a:p>
        </p:txBody>
      </p:sp>
      <p:sp>
        <p:nvSpPr>
          <p:cNvPr id="8" name="Rectangle 7"/>
          <p:cNvSpPr/>
          <p:nvPr/>
        </p:nvSpPr>
        <p:spPr>
          <a:xfrm>
            <a:off x="7452360" y="3657600"/>
            <a:ext cx="42062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18872" tIns="109728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同业与跨行业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▪ 招行/工行：</a:t>
            </a:r>
            <a:r>
              <a:rPr sz="120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风控、金库等局部应用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▪ Uber：</a:t>
            </a:r>
            <a:r>
              <a:rPr sz="120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司机收入 +0.52%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▪ Netflix：</a:t>
            </a:r>
            <a:r>
              <a:rPr sz="120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贡献约 80% 观看时长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▪ 哈啰：</a:t>
            </a:r>
            <a:r>
              <a:rPr sz="120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Tree-based Uplift 补贴聚焦"给券才买"人群</a:t>
            </a:r>
          </a:p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▪ Capital One：</a:t>
            </a:r>
            <a:r>
              <a:rPr sz="120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"测试并学习"的实验文化被视为分析型竞争者代表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6400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价值 3 分（审慎）、紧迫度 3 分：</a:t>
            </a: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依据为示意测算而非实测，3–5 年窗口、先行信号明确、无监管强制倒逼。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9235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合规可行域：三能做、三不能碰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13264" y="310896"/>
            <a:ext cx="1536192" cy="402336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05 风险合规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50976"/>
            <a:ext cx="11094415" cy="0"/>
          </a:xfrm>
          <a:prstGeom prst="line">
            <a:avLst/>
          </a:prstGeom>
          <a:ln w="15240">
            <a:solidFill>
              <a:srgbClr val="C8DC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170432"/>
            <a:ext cx="5303520" cy="2103120"/>
          </a:xfrm>
          <a:prstGeom prst="rect">
            <a:avLst/>
          </a:prstGeom>
          <a:solidFill>
            <a:srgbClr val="F0F7F0"/>
          </a:solidFill>
          <a:ln w="9525">
            <a:solidFill>
              <a:srgbClr val="9CC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18872" tIns="118872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0" b="1" i="0">
                <a:solidFill>
                  <a:srgbClr val="1E7A1E"/>
                </a:solidFill>
                <a:latin typeface="Arial"/>
                <a:ea typeface="微软雅黑"/>
                <a:cs typeface="微软雅黑"/>
              </a:rPr>
              <a:t>✓ 三块能做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① 风控类：</a:t>
            </a:r>
            <a:r>
              <a:rPr sz="120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欺诈/反洗钱/信用预警，空间最大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② 群体级：</a:t>
            </a:r>
            <a:r>
              <a:rPr sz="120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客群模拟/Uplift/预算优化，不涉个人</a:t>
            </a:r>
          </a:p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③ 辅助决策型：</a:t>
            </a:r>
            <a:r>
              <a:rPr sz="120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预警/推荐，辅助人工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19856"/>
            <a:ext cx="5303520" cy="1737360"/>
          </a:xfrm>
          <a:prstGeom prst="rect">
            <a:avLst/>
          </a:prstGeom>
          <a:solidFill>
            <a:srgbClr val="FDF0F0"/>
          </a:solidFill>
          <a:ln w="9525">
            <a:solidFill>
              <a:srgbClr val="E3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18872" tIns="118872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✕ 三条不能碰（红线）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① 无人工复核的自动化决策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② 大数据杀熟与价格歧视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③ 四类个人信息训练生成式 AI（传统 ML 不受限）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72200" y="1170432"/>
          <a:ext cx="617220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1143000"/>
                <a:gridCol w="3474720"/>
              </a:tblGrid>
              <a:tr h="4389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主要风险</a:t>
                      </a:r>
                    </a:p>
                  </a:txBody>
                  <a:tcPr anchor="ctr" marL="91440" marR="73152" marT="27432" marB="27432">
                    <a:solidFill>
                      <a:srgbClr val="0A19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概率/影响</a:t>
                      </a:r>
                    </a:p>
                  </a:txBody>
                  <a:tcPr anchor="ctr" marL="91440" marR="73152" marT="27432" marB="27432">
                    <a:solidFill>
                      <a:srgbClr val="0A19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应对</a:t>
                      </a:r>
                    </a:p>
                  </a:txBody>
                  <a:tcPr anchor="ctr" marL="91440" marR="73152" marT="27432" marB="27432">
                    <a:solidFill>
                      <a:srgbClr val="0A195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隐私合规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高/高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最小化＋同意管理＋隐私计算＋人工复核；个保法 §13/24/28 是主要锚点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数据偏差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高/中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数据治理＋公平性评估；历史上人工挑选干预客群会造成选择偏差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可解释性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中/高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SHAP＋决策日志追溯；影响客户权益的决策保留人工复核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人才缺口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高/中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414141"/>
                          </a:solidFill>
                          <a:latin typeface="Arial"/>
                          <a:ea typeface="微软雅黑"/>
                          <a:cs typeface="微软雅黑"/>
                        </a:rPr>
                        <a:t>培养＋合作＋外脑；需同时懂因果推断、银行业务与合规的复合人才</a:t>
                      </a:r>
                    </a:p>
                  </a:txBody>
                  <a:tcPr anchor="ctr" marL="91440" marR="73152" marT="27432" marB="27432"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172200" y="4370832"/>
            <a:ext cx="5486400" cy="859536"/>
          </a:xfrm>
          <a:prstGeom prst="rect">
            <a:avLst/>
          </a:prstGeom>
          <a:solidFill>
            <a:srgbClr val="F2F6FC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91440"/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监管锚点：</a:t>
            </a:r>
            <a:r>
              <a:rPr sz="11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个保法 §13/24/28｜算法推荐规定 §17/§21｜《网络营销办法》2026-09-30 施行｜金发〔2026〕8号；红线为自动化决策、大数据杀熟、敏感个人信息训练生成式 AI。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394960"/>
            <a:ext cx="11094415" cy="621792"/>
          </a:xfrm>
          <a:prstGeom prst="rect">
            <a:avLst/>
          </a:prstGeom>
          <a:solidFill>
            <a:srgbClr val="F2F6FC"/>
          </a:solidFill>
          <a:ln w="9525">
            <a:solidFill>
              <a:srgbClr val="085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综合判断：</a:t>
            </a: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前置管控手段均可行，不触发一票否决；引入可行度 2 分（合规与人才门槛较高）。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9235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市场格局：替代品是主要威胁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13264" y="310896"/>
            <a:ext cx="1536192" cy="402336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06 市场战略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50976"/>
            <a:ext cx="11094415" cy="0"/>
          </a:xfrm>
          <a:prstGeom prst="line">
            <a:avLst/>
          </a:prstGeom>
          <a:ln w="15240">
            <a:solidFill>
              <a:srgbClr val="C8DC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152144"/>
            <a:ext cx="5486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全球数字孪生市场规模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1691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2025 年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850B4"/>
                </a:solidFill>
                <a:latin typeface="Arial"/>
                <a:ea typeface="微软雅黑"/>
                <a:cs typeface="微软雅黑"/>
              </a:rPr>
              <a:t>244.8 亿美元</a:t>
            </a:r>
          </a:p>
        </p:txBody>
      </p:sp>
      <p:sp>
        <p:nvSpPr>
          <p:cNvPr id="7" name="Rectangle 6"/>
          <p:cNvSpPr/>
          <p:nvPr/>
        </p:nvSpPr>
        <p:spPr>
          <a:xfrm>
            <a:off x="2350008" y="1517904"/>
            <a:ext cx="1691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2026 年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850B4"/>
                </a:solidFill>
                <a:latin typeface="Arial"/>
                <a:ea typeface="微软雅黑"/>
                <a:cs typeface="微软雅黑"/>
              </a:rPr>
              <a:t>339.7 亿美元</a:t>
            </a:r>
          </a:p>
        </p:txBody>
      </p:sp>
      <p:sp>
        <p:nvSpPr>
          <p:cNvPr id="8" name="Rectangle 7"/>
          <p:cNvSpPr/>
          <p:nvPr/>
        </p:nvSpPr>
        <p:spPr>
          <a:xfrm>
            <a:off x="4151376" y="1517904"/>
            <a:ext cx="1691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2034E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3847.9 亿（35.4%）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78608"/>
            <a:ext cx="5394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 i="0">
                <a:solidFill>
                  <a:srgbClr val="6E6464"/>
                </a:solidFill>
                <a:latin typeface="Arial"/>
                <a:ea typeface="微软雅黑"/>
                <a:cs typeface="微软雅黑"/>
              </a:rPr>
              <a:t>▪ CleverX 汇总口径，仅作数字孪生整体市场规模参考，DToC 占比很小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 i="0">
                <a:solidFill>
                  <a:srgbClr val="6E6464"/>
                </a:solidFill>
                <a:latin typeface="Arial"/>
                <a:ea typeface="微软雅黑"/>
                <a:cs typeface="微软雅黑"/>
              </a:rPr>
              <a:t>▪ 仅 27% 的首席供应链官认为"重要且颠覆"（对照 DSCT 60%），银行业整体仍处于早期观察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E6464"/>
                </a:solidFill>
                <a:latin typeface="Arial"/>
                <a:ea typeface="微软雅黑"/>
                <a:cs typeface="微软雅黑"/>
              </a:rPr>
              <a:t>▪ 供给端多路并存：CDP/云厂商/咨询公司/AI 厂商均可进入，传统"CDP＋推荐"组合是最现实替代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47872"/>
            <a:ext cx="5394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Porter 五力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31920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替代品威胁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76272" y="3931920"/>
            <a:ext cx="914400" cy="402336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977639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"CDP＋推荐"更成熟便宜——最主要威胁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407408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潜在进入者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76272" y="4407408"/>
            <a:ext cx="914400" cy="402336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36976" y="4453128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CDP/云厂商/咨询多路进入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82896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买方议价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76272" y="4882896"/>
            <a:ext cx="914400" cy="402336"/>
          </a:xfrm>
          <a:prstGeom prst="rect">
            <a:avLst/>
          </a:prstGeom>
          <a:solidFill>
            <a:srgbClr val="AA0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中高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36976" y="4928616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成熟方案少，买方有选择空间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358383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供应商议价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76272" y="5358383"/>
            <a:ext cx="914400" cy="402336"/>
          </a:xfrm>
          <a:prstGeom prst="rect">
            <a:avLst/>
          </a:prstGeom>
          <a:solidFill>
            <a:srgbClr val="085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36976" y="5404103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开源为主、锁定低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833871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行业竞争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76272" y="5833871"/>
            <a:ext cx="914400" cy="402336"/>
          </a:xfrm>
          <a:prstGeom prst="rect">
            <a:avLst/>
          </a:prstGeom>
          <a:solidFill>
            <a:srgbClr val="085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中（趋强）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6976" y="5879591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竞争集中于概念层面</a:t>
            </a:r>
          </a:p>
        </p:txBody>
      </p:sp>
      <p:pic>
        <p:nvPicPr>
          <p:cNvPr id="26" name="Picture 2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261" y="1152144"/>
            <a:ext cx="4974316" cy="352044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537960" y="4773168"/>
            <a:ext cx="5074920" cy="1243584"/>
          </a:xfrm>
          <a:prstGeom prst="rect">
            <a:avLst/>
          </a:prstGeom>
          <a:solidFill>
            <a:srgbClr val="F2F6FC"/>
          </a:solidFill>
          <a:ln w="9525">
            <a:solidFill>
              <a:srgbClr val="085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91440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生态开放度：3 分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核心栈主流开源、无强锁定；多路供给并存；国产化可行；存在中等成本替代路径。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053328"/>
            <a:ext cx="5760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6464"/>
                </a:solidFill>
                <a:latin typeface="Arial"/>
                <a:ea typeface="微软雅黑"/>
                <a:cs typeface="微软雅黑"/>
              </a:rPr>
              <a:t>右图：厂商格局定位（自绘，非 Gartner 魔力象限）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9235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战略匹配与综合评估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13264" y="310896"/>
            <a:ext cx="1536192" cy="402336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06 市场战略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50976"/>
            <a:ext cx="11094415" cy="0"/>
          </a:xfrm>
          <a:prstGeom prst="line">
            <a:avLst/>
          </a:prstGeom>
          <a:ln w="15240">
            <a:solidFill>
              <a:srgbClr val="C8DC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152144"/>
            <a:ext cx="576072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603504"/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▪ 命中"数智化"战略：</a:t>
            </a: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"客户经营"列五大体系之首；落入已规模化的"数智营销"领域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▪ 能力深化非新战线：</a:t>
            </a: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营销 AI 从"预测谁会买"到"算清增量、优化投放"——已做预测层，未做推演层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▪ 非点名旗舰：</a:t>
            </a: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本行 AI 行动计划点名金融垂类大模型与智能体，DToC 未上榜——这是匹配度 3 分而非 4 分的核心依据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▪ 企业架构：</a:t>
            </a: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纳入 5A4S 管控，涉及客户经营中心、数智能力中心，需与现有营销平台协同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▪ SWOT 要点：</a:t>
            </a: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S＝数据资产与数智化基础；W＝技术早期与复合人才缺口；O＝3–5 年先行窗口；T＝替代方案与触达新规</a:t>
            </a:r>
          </a:p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▪ 结论：</a:t>
            </a: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命中但非旗舰，适合研究层推进。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52144"/>
            <a:ext cx="5760720" cy="475488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216152"/>
            <a:ext cx="5394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战略匹配度 3 分：命中但非旗舰</a:t>
            </a:r>
          </a:p>
        </p:txBody>
      </p:sp>
      <p:pic>
        <p:nvPicPr>
          <p:cNvPr id="8" name="Picture 7" descr="radar6_sp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52933"/>
            <a:ext cx="2743200" cy="250621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81160" y="1261872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技术成熟度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54512" y="1225295"/>
            <a:ext cx="694944" cy="347472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2 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1737360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战略匹配度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54512" y="1700784"/>
            <a:ext cx="694944" cy="347472"/>
          </a:xfrm>
          <a:prstGeom prst="rect">
            <a:avLst/>
          </a:prstGeom>
          <a:solidFill>
            <a:srgbClr val="085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3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2212848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价值贡献度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54512" y="2176272"/>
            <a:ext cx="694944" cy="347472"/>
          </a:xfrm>
          <a:prstGeom prst="rect">
            <a:avLst/>
          </a:prstGeom>
          <a:solidFill>
            <a:srgbClr val="085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3 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2688336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引入可行度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54512" y="2651760"/>
            <a:ext cx="694944" cy="347472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2 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3163824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战略紧迫度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54512" y="3127248"/>
            <a:ext cx="694944" cy="347472"/>
          </a:xfrm>
          <a:prstGeom prst="rect">
            <a:avLst/>
          </a:prstGeom>
          <a:solidFill>
            <a:srgbClr val="085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3 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3639312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生态开放度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54512" y="3602736"/>
            <a:ext cx="694944" cy="347472"/>
          </a:xfrm>
          <a:prstGeom prst="rect">
            <a:avLst/>
          </a:prstGeom>
          <a:solidFill>
            <a:srgbClr val="085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3 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224528"/>
            <a:ext cx="5248656" cy="1188720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组合判据 → 深入研究（研究层）</a:t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D8E4F5"/>
                </a:solidFill>
                <a:latin typeface="Arial"/>
                <a:ea typeface="微软雅黑"/>
                <a:cs typeface="微软雅黑"/>
              </a:rPr>
              <a:t>两维 3 分（关键不确定）、两维 2 分；趋势明确但待判明，符合研究层特征。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532120"/>
            <a:ext cx="52486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六顶点顺时针：成熟度/匹配度/贡献度/可行度/紧迫度/开放度；分值不加权。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9235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实施建议：五路能力、三阶段推进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13264" y="310896"/>
            <a:ext cx="1536192" cy="402336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07 实施建议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50976"/>
            <a:ext cx="11094415" cy="0"/>
          </a:xfrm>
          <a:prstGeom prst="line">
            <a:avLst/>
          </a:prstGeom>
          <a:ln w="15240">
            <a:solidFill>
              <a:srgbClr val="C8DC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152144"/>
            <a:ext cx="212140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73152" tIns="73152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一 数据底座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 i="0">
                <a:solidFill>
                  <a:srgbClr val="6E6464"/>
                </a:solidFill>
                <a:latin typeface="Arial"/>
                <a:ea typeface="微软雅黑"/>
                <a:cs typeface="微软雅黑"/>
              </a:rPr>
              <a:t>投入 25%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标签治理·干预事件数据采集·OneID·数据质量</a:t>
            </a:r>
          </a:p>
        </p:txBody>
      </p:sp>
      <p:sp>
        <p:nvSpPr>
          <p:cNvPr id="6" name="Rectangle 5"/>
          <p:cNvSpPr/>
          <p:nvPr/>
        </p:nvSpPr>
        <p:spPr>
          <a:xfrm>
            <a:off x="2814523" y="1152144"/>
            <a:ext cx="212140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73152" tIns="73152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二 行为建模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 i="0">
                <a:solidFill>
                  <a:srgbClr val="6E6464"/>
                </a:solidFill>
                <a:latin typeface="Arial"/>
                <a:ea typeface="微软雅黑"/>
                <a:cs typeface="微软雅黑"/>
              </a:rPr>
              <a:t>投入 25%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Uplift/因果推断算法库·SHAP 可解释·选择偏差治理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406" y="1152144"/>
            <a:ext cx="2121408" cy="1188720"/>
          </a:xfrm>
          <a:prstGeom prst="rect">
            <a:avLst/>
          </a:prstGeom>
          <a:solidFill>
            <a:srgbClr val="FDF0F0"/>
          </a:solidFill>
          <a:ln w="15240">
            <a:solidFill>
              <a:srgbClr val="E6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73152" tIns="73152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三 场景推演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投入 30%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增量归因·What-if 情景模拟·反事实推演·基线异常检测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46289" y="1152144"/>
            <a:ext cx="212140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73152" tIns="73152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四 决策集成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 i="0">
                <a:solidFill>
                  <a:srgbClr val="6E6464"/>
                </a:solidFill>
                <a:latin typeface="Arial"/>
                <a:ea typeface="微软雅黑"/>
                <a:cs typeface="微软雅黑"/>
              </a:rPr>
              <a:t>投入 10%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决策服务层·人工复核节点·闭环反馈·效果回流</a:t>
            </a:r>
          </a:p>
        </p:txBody>
      </p:sp>
      <p:sp>
        <p:nvSpPr>
          <p:cNvPr id="9" name="Rectangle 8"/>
          <p:cNvSpPr/>
          <p:nvPr/>
        </p:nvSpPr>
        <p:spPr>
          <a:xfrm>
            <a:off x="9612172" y="1152144"/>
            <a:ext cx="212140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73152" tIns="73152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五 合规隐私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 i="0">
                <a:solidFill>
                  <a:srgbClr val="6E6464"/>
                </a:solidFill>
                <a:latin typeface="Arial"/>
                <a:ea typeface="微软雅黑"/>
                <a:cs typeface="微软雅黑"/>
              </a:rPr>
              <a:t>投入 10%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自动脱敏·隐私计算·合成数据·数据血缘·分级授权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32304"/>
            <a:ext cx="11094415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464"/>
                </a:solidFill>
                <a:latin typeface="Arial"/>
                <a:ea typeface="微软雅黑"/>
                <a:cs typeface="微软雅黑"/>
              </a:rPr>
              <a:t>每路同步解决一个画像痛点——业务当下受益，能力向 DToC 远景演进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79776"/>
            <a:ext cx="354787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5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779776"/>
            <a:ext cx="3547872" cy="438912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834640"/>
            <a:ext cx="3246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阶段一｜0–3 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3291840"/>
            <a:ext cx="3246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可行性与就绪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639312"/>
            <a:ext cx="3273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摸底标签与干预数据基线；评估数据可用性；输出可研报告与合规白皮书；AI 治理委员会立项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23944" y="3529584"/>
            <a:ext cx="219456" cy="219456"/>
          </a:xfrm>
          <a:prstGeom prst="rightArrow">
            <a:avLst/>
          </a:prstGeom>
          <a:solidFill>
            <a:srgbClr val="78A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0540" y="2779776"/>
            <a:ext cx="354787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5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0540" y="2779776"/>
            <a:ext cx="3547872" cy="438912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6844" y="2834640"/>
            <a:ext cx="3246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阶段二｜3–9 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6844" y="3291840"/>
            <a:ext cx="3246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POC 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6844" y="3639312"/>
            <a:ext cx="3273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补齐干预数据、做标签治理；构建 Uplift＋推演引擎；回溯吻合≥70%、A/B 增量≥20%、偏差≤40%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895844" y="3529584"/>
            <a:ext cx="219456" cy="219456"/>
          </a:xfrm>
          <a:prstGeom prst="rightArrow">
            <a:avLst/>
          </a:prstGeom>
          <a:solidFill>
            <a:srgbClr val="78A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2779776"/>
            <a:ext cx="354787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5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2779776"/>
            <a:ext cx="3547872" cy="438912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38744" y="2834640"/>
            <a:ext cx="3246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阶段三｜9–24 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8744" y="3291840"/>
            <a:ext cx="3246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有限试点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3639312"/>
            <a:ext cx="3273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595959"/>
                </a:solidFill>
                <a:latin typeface="Arial"/>
                <a:ea typeface="微软雅黑"/>
                <a:cs typeface="微软雅黑"/>
              </a:rPr>
              <a:t>五路轻量版上线；1–2 条线试点；≥2 场景规模化运行；建立年度效益复盘机制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681728"/>
            <a:ext cx="5486400" cy="1325880"/>
          </a:xfrm>
          <a:prstGeom prst="rect">
            <a:avLst/>
          </a:prstGeom>
          <a:solidFill>
            <a:srgbClr val="F2F6FC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91440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推演能力四个台阶</a:t>
            </a:r>
          </a:p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A/B 基础 → </a:t>
            </a:r>
            <a:r>
              <a:rPr sz="115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Uplift（POC 切入）</a:t>
            </a:r>
            <a:r>
              <a:rPr sz="11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 → 反事实（12–18 月）→ 市场级模拟（3–5 年，不碰）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681728"/>
            <a:ext cx="5468112" cy="1325880"/>
          </a:xfrm>
          <a:prstGeom prst="rect">
            <a:avLst/>
          </a:prstGeom>
          <a:solidFill>
            <a:srgbClr val="F2F6FC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91440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自建还是外购</a:t>
            </a:r>
          </a:p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核心自研：</a:t>
            </a:r>
            <a:r>
              <a:rPr sz="11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Uplift 引擎、推演引擎；</a:t>
            </a:r>
            <a:r>
              <a:rPr sz="1150" b="1" i="0">
                <a:solidFill>
                  <a:srgbClr val="0850B4"/>
                </a:solidFill>
                <a:latin typeface="Arial"/>
                <a:ea typeface="微软雅黑"/>
                <a:cs typeface="微软雅黑"/>
              </a:rPr>
              <a:t>开源复用：</a:t>
            </a:r>
            <a:r>
              <a:rPr sz="11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底座/Feast；</a:t>
            </a:r>
            <a:r>
              <a:rPr sz="1150" b="1" i="0">
                <a:solidFill>
                  <a:srgbClr val="0850B4"/>
                </a:solidFill>
                <a:latin typeface="Arial"/>
                <a:ea typeface="微软雅黑"/>
                <a:cs typeface="微软雅黑"/>
              </a:rPr>
              <a:t>外采：</a:t>
            </a:r>
            <a:r>
              <a:rPr sz="115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隐私计算。合同须开放 API 防锁定。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9235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60000"/>
                </a:solidFill>
                <a:latin typeface="Arial"/>
                <a:ea typeface="微软雅黑"/>
                <a:cs typeface="微软雅黑"/>
              </a:rPr>
              <a:t>核心结论与下一步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13264" y="310896"/>
            <a:ext cx="1536192" cy="402336"/>
          </a:xfrm>
          <a:prstGeom prst="rect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核心结论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50976"/>
            <a:ext cx="11094415" cy="0"/>
          </a:xfrm>
          <a:prstGeom prst="line">
            <a:avLst/>
          </a:prstGeom>
          <a:ln w="15240">
            <a:solidFill>
              <a:srgbClr val="C8DC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234440"/>
            <a:ext cx="56235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64008" cy="1965960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1463040"/>
            <a:ext cx="384048" cy="384048"/>
          </a:xfrm>
          <a:prstGeom prst="ellipse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44168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不建完整平台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64792"/>
            <a:ext cx="47548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技术成熟度 2 分、无同业规模化落地案例、合规风险前置管控成本高，当前不宜投入完整平台建设；应以 POC 换明确结论。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234440"/>
            <a:ext cx="56235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1234440"/>
            <a:ext cx="64008" cy="1965960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47688" y="1463040"/>
            <a:ext cx="384048" cy="384048"/>
          </a:xfrm>
          <a:prstGeom prst="ellipse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344168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POC 验证理财续投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764792"/>
            <a:ext cx="47548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6 个月 POC，成功=A/B 增量续投≥20%，止损=&lt;10% 或回溯偏差&gt;40%；T+1 数据可支撑、业务价值明确、合规可控。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66160"/>
            <a:ext cx="56235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566160"/>
            <a:ext cx="64008" cy="1965960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3794760"/>
            <a:ext cx="384048" cy="384048"/>
          </a:xfrm>
          <a:prstGeom prst="ellipse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675887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不白费的兜底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096511"/>
            <a:ext cx="47548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即使验证不通过，也将沉淀干预事件数据采集规范、精简标签体系与 Uplift 建模能力，为后续客户经营打基础。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3566160"/>
            <a:ext cx="56235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8D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3566160"/>
            <a:ext cx="64008" cy="1965960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47688" y="3794760"/>
            <a:ext cx="384048" cy="384048"/>
          </a:xfrm>
          <a:prstGeom prst="ellipse">
            <a:avLst/>
          </a:prstGeom>
          <a:solidFill>
            <a:srgbClr val="0A1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675887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1950"/>
                </a:solidFill>
                <a:latin typeface="Arial"/>
                <a:ea typeface="微软雅黑"/>
                <a:cs typeface="微软雅黑"/>
              </a:rPr>
              <a:t>持续跟踪关键信号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096511"/>
            <a:ext cx="47548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14141"/>
                </a:solidFill>
                <a:latin typeface="Arial"/>
                <a:ea typeface="微软雅黑"/>
                <a:cs typeface="微软雅黑"/>
              </a:rPr>
              <a:t>关注 Gartner Hype Cycle 定位更新、《网络营销办法》2026-09-30 施行细则、同业 POC 与监管动态。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70448"/>
            <a:ext cx="11094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E6464"/>
                </a:solidFill>
                <a:latin typeface="Arial"/>
                <a:ea typeface="微软雅黑"/>
                <a:cs typeface="微软雅黑"/>
              </a:rPr>
              <a:t>说明：效益与场景数字均为示意区间、非收益承诺，以 POC 实测为准；研究方法与参考文献见报告附录。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>
          <a:xfrm>
            <a:off x="-9144000" y="0"/>
          </a:xfrm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242316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感谢聆听 · 敬请指正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56616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D8E4F5"/>
                </a:solidFill>
                <a:latin typeface="Arial"/>
                <a:ea typeface="微软雅黑"/>
                <a:cs typeface="微软雅黑"/>
              </a:rPr>
              <a:t>浦发银行科技部　｜　前沿技术专题研究（客户数字孪生 DToC）V2.33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7150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编制部门：科技部 ｜ 报告版本：V2.33 ｜ 2026 年 9 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D_PPT">
  <a:themeElements>
    <a:clrScheme name="MT_Colors 1">
      <a:dk1>
        <a:srgbClr val="000000"/>
      </a:dk1>
      <a:lt1>
        <a:sysClr val="window" lastClr="FFFFFF"/>
      </a:lt1>
      <a:dk2>
        <a:srgbClr val="404040"/>
      </a:dk2>
      <a:lt2>
        <a:srgbClr val="6E6464"/>
      </a:lt2>
      <a:accent1>
        <a:srgbClr val="5AAA28"/>
      </a:accent1>
      <a:accent2>
        <a:srgbClr val="328200"/>
      </a:accent2>
      <a:accent3>
        <a:srgbClr val="002D50"/>
      </a:accent3>
      <a:accent4>
        <a:srgbClr val="0064A0"/>
      </a:accent4>
      <a:accent5>
        <a:srgbClr val="FF6400"/>
      </a:accent5>
      <a:accent6>
        <a:srgbClr val="5A145A"/>
      </a:accent6>
      <a:hlink>
        <a:srgbClr val="BEB4B4"/>
      </a:hlink>
      <a:folHlink>
        <a:srgbClr val="BEB4B4"/>
      </a:folHlink>
    </a:clrScheme>
    <a:fontScheme name="爆光">
      <a:majorFont>
        <a:latin typeface="Helvetica"/>
        <a:ea typeface=""/>
        <a:cs typeface=""/>
        <a:font script="Jpan" typeface="ＭＳ ゴシック"/>
        <a:font script="Hans" typeface="宋体"/>
        <a:font script="Hant" typeface="宋体"/>
      </a:majorFont>
      <a:minorFont>
        <a:latin typeface="Helvetica"/>
        <a:ea typeface=""/>
        <a:cs typeface=""/>
        <a:font script="Jpan" typeface="ＭＳ ゴシック"/>
        <a:font script="Hans" typeface="宋体"/>
        <a:font script="Hant"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90000"/>
            <a:lumOff val="10000"/>
          </a:schemeClr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/>
        </a:defPPr>
      </a:lstStyle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spDef>
    <a:lnDef>
      <a:spPr>
        <a:ln w="12700" cmpd="sng">
          <a:solidFill>
            <a:schemeClr val="bg1">
              <a:lumMod val="50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kumimoji="1" sz="1600" b="1" i="0" dirty="0">
            <a:solidFill>
              <a:schemeClr val="tx1">
                <a:lumMod val="75000"/>
                <a:lumOff val="25000"/>
              </a:schemeClr>
            </a:solidFill>
            <a:ea typeface="宋体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SPD_PPT.thmx</Template>
  <TotalTime>1138</TotalTime>
  <Words>590</Words>
  <Application>Microsoft Office PowerPoint</Application>
  <PresentationFormat>宽屏</PresentationFormat>
  <Paragraphs>93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 Unicode MS</vt:lpstr>
      <vt:lpstr>STIXSizeTwoSym-Regular</vt:lpstr>
      <vt:lpstr>宋体</vt:lpstr>
      <vt:lpstr>微软雅黑</vt:lpstr>
      <vt:lpstr>Arial</vt:lpstr>
      <vt:lpstr>Calibri</vt:lpstr>
      <vt:lpstr>Helvetica</vt:lpstr>
      <vt:lpstr>SPD_PPT</vt:lpstr>
      <vt:lpstr>浦发银行 PPT模版及使用规范     部门名称 20XX年XX月   </vt:lpstr>
      <vt:lpstr>PPT模版使用说明：版式应用</vt:lpstr>
      <vt:lpstr>PPT模版使用说明：色彩应用</vt:lpstr>
      <vt:lpstr>PPT模版使用说明：字体应用</vt:lpstr>
      <vt:lpstr>图表示范页</vt:lpstr>
      <vt:lpstr>逻辑推导页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浦发银行PPT模板及使用规范</dc:title>
  <dc:creator>caijw</dc:creator>
  <cp:lastModifiedBy>捷 徐</cp:lastModifiedBy>
  <cp:revision>105</cp:revision>
  <cp:lastPrinted>2015-05-13T08:03:26Z</cp:lastPrinted>
  <dcterms:created xsi:type="dcterms:W3CDTF">2015-05-02T13:09:37Z</dcterms:created>
  <dcterms:modified xsi:type="dcterms:W3CDTF">2026-06-22T09:31:16Z</dcterms:modified>
</cp:coreProperties>
</file>